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Open Sans" charset="1" panose="00000000000000000000"/>
      <p:regular r:id="rId28"/>
    </p:embeddedFont>
    <p:embeddedFont>
      <p:font typeface="Open Sans Bold" charset="1" panose="000000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theme/theme1.xml" Type="http://schemas.openxmlformats.org/officeDocument/2006/relationships/theme"/><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44" Target="notesSlides/notesSlide16.xml" Type="http://schemas.openxmlformats.org/officeDocument/2006/relationships/notesSlide"/><Relationship Id="rId45" Target="notesSlides/notesSlide17.xml" Type="http://schemas.openxmlformats.org/officeDocument/2006/relationships/notesSlide"/><Relationship Id="rId46" Target="notesSlides/notesSlide18.xml" Type="http://schemas.openxmlformats.org/officeDocument/2006/relationships/notesSlide"/><Relationship Id="rId47" Target="notesSlides/notesSlide19.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Our project compares three clinical measures, maximum heart rate, serum cholesterol and exercise-induced angina, between patients with and without heart disease. For this project, we wanted to know which of these are significantly associated with the disease.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Cardiovascular disease is a leading cause of death worldwide. Accessible clinical markers, such as blood panels and exercise stress tests, can help prioritize patients for further testing. Our project aims to identify which simple measures distinguish patients, support risk stratification, and give patients clear information. In this report, we focus on one goal: determining which measurements are significantly associated with heart disease.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asked three questions. Is there a significant difference in mean maximum heart rate between patients with and without heart disease? In mean cholesterol? And in the proportion of patients experiencing exercise-induced angina? We answered each with a conventional test and a 5,000-resample bootstrap confidence interval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data is a retrospective, observational study using the UCI Heart Disease dataset. It holds records from 920 adult patients evaluated for suspected coronary artery disease between 1981 and 1984 at four hospitals. The patients are a convenience sample. Our predictors are thalch, chol and exang, and our target is diseased, a yes-or-no version of the original diagnosis.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made three changes. Cholesterol and resting blood pressure values of zero are impossible in a living patient, so we set them to missing. We turned the diagnosis, which runs from 0 to 4, into a binary variable, diseased. And we renamed the dataset column to origin, since it shows each patient's hospital.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each question we used a conventional test: a pooled two-sample t-test for the two means, and a two-proportion test for angina. We also built a bootstrap interval by resampling each group 5,000 times, and compared it with the conventional interval. All differences are Diseased minus Not Diseased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violin and box plots show nearly identical spread, with standard deviations of 24.02 and 23.61, a ratio of 1.02, so we used the pooled test. The QQ plots follow the line closely, with minor departures in the tails, and the Not Diseased group shows a mild left skew. Both groups are large, 474 and 391, so the t-test assumptions are reasonably satisfied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Patients with heart disease reached a mean maximum heart rate of about 128.3, compared with 148.8, a difference of minus 20.5 beats per minute. The t statistic is minus 12.61 on 863 degrees of freedom, with p below 2.2e-16, so we reject the null. The 95 percent interval runs from minus 23.7 to minus 17.3, and the bootstrap interval is nearly identical. This fits a diseased heart having a reduced ability to speed up under exertion.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Cholesterol is one of the first things people think of when they hear heart disease. So we asked: do patients with heart disease actually have higher cholesterol? But before we could answer, we hit a problem. Of our 920 patients, 202, about 22%, had no usable cholesterol reading. And the gaps weren't random. All 123 patients from Switzerland were missing, and that hospital also had the highest disease rate, about 93%. So whatever we found, it would only describe the other three hospitals.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With 346 diseased and 372 not diseased patients left, we checked whether our test could be trusted. The spread was similar in both groups, so we used the pooled t-test. But the data were right-skewed, with a few very high readings, the highest being 603. Those outliers could mislead a t-test, which assumes the average behaves in a bell-shaped way. So we used a second method to confirm it. The bootstrap resamples our own data 5,000 times and assumes nothing about the shape. If the two methods disagree, we trust the bootstrap.</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what did we find? Patients with heart disease averaged 254 mg/dl of cholesterol, compared with 240 for patients without, a difference of about 14. The p-value is 0.0015, which is less than our alpha level of 0.05, so we reject the null hypothesis that mean cholesterol is the same in both groups. We are 95% confident that the true difference in mean cholesterol between the diseased and not diseased groups, using the t-based interval, is between 5.3 and 22.4 mg/dl. And here's the check: the bootstrap landed in almost exactly the same place, 5.3 to 22.3. The skew didn't fool us. From these data, patients with heart disease have higher average cholesterol.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cholesterol is higher in diseased patients, and it holds up: the difference points the same way across the 3 hospitals, so no single hospital is driving it. But here's the twist. Compare that gap of about 14 with the spread inside each group, which is 56 to 61. The two groups overlap heavily. If you picked a patient at random and knew only their cholesterol, you'd have a hard time guessing which group they were in. From these data, cholesterol alone is a weak screening marker. It's a real difference, but not a strong one.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Angina is yes or no, so we compare proportions. In the diseased group, 282 of 474 patients, 59.5%, had angina. In the not-diseased group, it was 55 of 391, only 14.1%.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That's a gap of 45.4 percentage points, about four times as often. The chi-square statistic is 185.93, with a p-value essentially zero. The intervals run from about 40 to 51 points, and both methods agree. This is the biggest separation of the three markers.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Putting it together: all three markers differ significantly. Heart rate and angina, the two exercise-test measures, show the largest separation. Cholesterol is statistically different but overlaps heavily. And the bootstrap matched the standard methods every time.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an observational study, so our results show associations, not causation. We did not adjust for factors such as age, sex, fasting blood sugar and the number of major vessels. The data come from four hospitals in the early 1980s, so they may not apply to patients today. We combined all disease severity levels into one group. And we excluded missing and zero values, which could introduce bias if they were not missing at random.</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an observational study, so our results show associations, not causation. We did not adjust for factors such as age, sex, fasting blood sugar and the number of major vessels. The data come from four hospitals in the early 1980s, so they may not apply to patients today. We combined all disease severity levels into one group. And we excluded missing and zero values, which could introduce bias if they were not missing at random.</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Diseased patients averaged a 20.5 beat-per-minute deficit in peak heart rate, and had exercise-induced angina over four times as often. Heavy overlap between the groups limits cholesterol's usefulness as a screening tool on its own. In clinical practice, prioritizing exercise stress tests provides immediate, high-contrast indicators for triaging cardiovascular care.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Thank you, we're happy to take questions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pn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6.png" Type="http://schemas.openxmlformats.org/officeDocument/2006/relationships/image"/><Relationship Id="rId4" Target="../media/image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7.png" Type="http://schemas.openxmlformats.org/officeDocument/2006/relationships/image"/><Relationship Id="rId4" Target="../media/image3.jpe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0.png" Type="http://schemas.openxmlformats.org/officeDocument/2006/relationships/image"/><Relationship Id="rId4" Target="../media/image3.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1.png" Type="http://schemas.openxmlformats.org/officeDocument/2006/relationships/image"/><Relationship Id="rId4" Target="../media/image3.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2.png" Type="http://schemas.openxmlformats.org/officeDocument/2006/relationships/image"/><Relationship Id="rId4" Target="../media/image3.jpeg" Type="http://schemas.openxmlformats.org/officeDocument/2006/relationships/image"/><Relationship Id="rId5"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6001C"/>
        </a:solidFill>
      </p:bgPr>
    </p:bg>
    <p:spTree>
      <p:nvGrpSpPr>
        <p:cNvPr id="1" name=""/>
        <p:cNvGrpSpPr/>
        <p:nvPr/>
      </p:nvGrpSpPr>
      <p:grpSpPr>
        <a:xfrm>
          <a:off x="0" y="0"/>
          <a:ext cx="0" cy="0"/>
          <a:chOff x="0" y="0"/>
          <a:chExt cx="0" cy="0"/>
        </a:xfrm>
      </p:grpSpPr>
      <p:sp>
        <p:nvSpPr>
          <p:cNvPr name="TextBox 2" id="2"/>
          <p:cNvSpPr txBox="true"/>
          <p:nvPr/>
        </p:nvSpPr>
        <p:spPr>
          <a:xfrm rot="0">
            <a:off x="1219200" y="1181100"/>
            <a:ext cx="16325088" cy="502920"/>
          </a:xfrm>
          <a:prstGeom prst="rect">
            <a:avLst/>
          </a:prstGeom>
        </p:spPr>
        <p:txBody>
          <a:bodyPr anchor="t" rtlCol="false" tIns="0" lIns="0" bIns="0" rIns="0">
            <a:spAutoFit/>
          </a:bodyPr>
          <a:lstStyle/>
          <a:p>
            <a:pPr algn="l">
              <a:lnSpc>
                <a:spcPts val="3359"/>
              </a:lnSpc>
            </a:pPr>
            <a:r>
              <a:rPr lang="en-US" sz="2400">
                <a:solidFill>
                  <a:srgbClr val="FFCD00"/>
                </a:solidFill>
                <a:latin typeface="Open Sans"/>
                <a:ea typeface="Open Sans"/>
                <a:cs typeface="Open Sans"/>
                <a:sym typeface="Open Sans"/>
              </a:rPr>
              <a:t>DATA 602 · Statistical Data Analysis · Fall 2026</a:t>
            </a:r>
          </a:p>
        </p:txBody>
      </p:sp>
      <p:sp>
        <p:nvSpPr>
          <p:cNvPr name="TextBox 3" id="3"/>
          <p:cNvSpPr txBox="true"/>
          <p:nvPr/>
        </p:nvSpPr>
        <p:spPr>
          <a:xfrm rot="0">
            <a:off x="1219200" y="2872740"/>
            <a:ext cx="11911489" cy="1108710"/>
          </a:xfrm>
          <a:prstGeom prst="rect">
            <a:avLst/>
          </a:prstGeom>
        </p:spPr>
        <p:txBody>
          <a:bodyPr anchor="t" rtlCol="false" tIns="0" lIns="0" bIns="0" rIns="0">
            <a:spAutoFit/>
          </a:bodyPr>
          <a:lstStyle/>
          <a:p>
            <a:pPr algn="l">
              <a:lnSpc>
                <a:spcPts val="8580"/>
              </a:lnSpc>
            </a:pPr>
            <a:r>
              <a:rPr lang="en-US" sz="7800" b="true">
                <a:solidFill>
                  <a:srgbClr val="FFFFFF"/>
                </a:solidFill>
                <a:latin typeface="Open Sans Bold"/>
                <a:ea typeface="Open Sans Bold"/>
                <a:cs typeface="Open Sans Bold"/>
                <a:sym typeface="Open Sans Bold"/>
              </a:rPr>
              <a:t>Detecting Heart Disease</a:t>
            </a:r>
          </a:p>
        </p:txBody>
      </p:sp>
      <p:sp>
        <p:nvSpPr>
          <p:cNvPr name="TextBox 4" id="4"/>
          <p:cNvSpPr txBox="true"/>
          <p:nvPr/>
        </p:nvSpPr>
        <p:spPr>
          <a:xfrm rot="0">
            <a:off x="1219200" y="4191000"/>
            <a:ext cx="16325088" cy="541020"/>
          </a:xfrm>
          <a:prstGeom prst="rect">
            <a:avLst/>
          </a:prstGeom>
        </p:spPr>
        <p:txBody>
          <a:bodyPr anchor="t" rtlCol="false" tIns="0" lIns="0" bIns="0" rIns="0">
            <a:spAutoFit/>
          </a:bodyPr>
          <a:lstStyle/>
          <a:p>
            <a:pPr algn="l">
              <a:lnSpc>
                <a:spcPts val="3960"/>
              </a:lnSpc>
            </a:pPr>
            <a:r>
              <a:rPr lang="en-US" sz="3300">
                <a:solidFill>
                  <a:srgbClr val="FFFFFF"/>
                </a:solidFill>
                <a:latin typeface="Open Sans"/>
                <a:ea typeface="Open Sans"/>
                <a:cs typeface="Open Sans"/>
                <a:sym typeface="Open Sans"/>
              </a:rPr>
              <a:t>A comparative statistical analysis of clinical markers</a:t>
            </a:r>
          </a:p>
        </p:txBody>
      </p:sp>
      <p:grpSp>
        <p:nvGrpSpPr>
          <p:cNvPr name="Group 5" id="5"/>
          <p:cNvGrpSpPr/>
          <p:nvPr/>
        </p:nvGrpSpPr>
        <p:grpSpPr>
          <a:xfrm rot="0">
            <a:off x="1219200" y="5844540"/>
            <a:ext cx="15849600" cy="1143000"/>
            <a:chOff x="0" y="0"/>
            <a:chExt cx="21132800" cy="1524000"/>
          </a:xfrm>
        </p:grpSpPr>
        <p:sp>
          <p:nvSpPr>
            <p:cNvPr name="Freeform 6" id="6" descr="Heartbeat trace"/>
            <p:cNvSpPr/>
            <p:nvPr/>
          </p:nvSpPr>
          <p:spPr>
            <a:xfrm flipH="false" flipV="false" rot="0">
              <a:off x="0" y="0"/>
              <a:ext cx="21132800" cy="1524000"/>
            </a:xfrm>
            <a:custGeom>
              <a:avLst/>
              <a:gdLst/>
              <a:ahLst/>
              <a:cxnLst/>
              <a:rect r="r" b="b" t="t" l="l"/>
              <a:pathLst>
                <a:path h="1524000" w="21132800">
                  <a:moveTo>
                    <a:pt x="0" y="0"/>
                  </a:moveTo>
                  <a:lnTo>
                    <a:pt x="21132800" y="0"/>
                  </a:lnTo>
                  <a:lnTo>
                    <a:pt x="21132800" y="1524000"/>
                  </a:lnTo>
                  <a:lnTo>
                    <a:pt x="0" y="1524000"/>
                  </a:lnTo>
                  <a:lnTo>
                    <a:pt x="0" y="0"/>
                  </a:lnTo>
                  <a:close/>
                </a:path>
              </a:pathLst>
            </a:custGeom>
            <a:blipFill>
              <a:blip r:embed="rId3"/>
              <a:stretch>
                <a:fillRect l="103" t="0" r="103" b="0"/>
              </a:stretch>
            </a:blipFill>
          </p:spPr>
        </p:sp>
      </p:grpSp>
      <p:sp>
        <p:nvSpPr>
          <p:cNvPr name="TextBox 7" id="7"/>
          <p:cNvSpPr txBox="true"/>
          <p:nvPr/>
        </p:nvSpPr>
        <p:spPr>
          <a:xfrm rot="0">
            <a:off x="1219200" y="8100060"/>
            <a:ext cx="16325088" cy="396240"/>
          </a:xfrm>
          <a:prstGeom prst="rect">
            <a:avLst/>
          </a:prstGeom>
        </p:spPr>
        <p:txBody>
          <a:bodyPr anchor="t" rtlCol="false" tIns="0" lIns="0" bIns="0" rIns="0">
            <a:spAutoFit/>
          </a:bodyPr>
          <a:lstStyle/>
          <a:p>
            <a:pPr algn="l">
              <a:lnSpc>
                <a:spcPts val="3359"/>
              </a:lnSpc>
            </a:pPr>
            <a:r>
              <a:rPr lang="en-US" sz="2400">
                <a:solidFill>
                  <a:srgbClr val="FFFFFF"/>
                </a:solidFill>
                <a:latin typeface="Open Sans"/>
                <a:ea typeface="Open Sans"/>
                <a:cs typeface="Open Sans"/>
                <a:sym typeface="Open Sans"/>
              </a:rPr>
              <a:t>Ahmed Muhammad · Divine Samuel · Joy Umejiego · Sandra Igboanugo</a:t>
            </a:r>
          </a:p>
        </p:txBody>
      </p:sp>
      <p:sp>
        <p:nvSpPr>
          <p:cNvPr name="TextBox 8" id="8"/>
          <p:cNvSpPr txBox="true"/>
          <p:nvPr/>
        </p:nvSpPr>
        <p:spPr>
          <a:xfrm rot="0">
            <a:off x="1219200" y="8602980"/>
            <a:ext cx="16325088" cy="502920"/>
          </a:xfrm>
          <a:prstGeom prst="rect">
            <a:avLst/>
          </a:prstGeom>
        </p:spPr>
        <p:txBody>
          <a:bodyPr anchor="t" rtlCol="false" tIns="0" lIns="0" bIns="0" rIns="0">
            <a:spAutoFit/>
          </a:bodyPr>
          <a:lstStyle/>
          <a:p>
            <a:pPr algn="l">
              <a:lnSpc>
                <a:spcPts val="3359"/>
              </a:lnSpc>
            </a:pPr>
            <a:r>
              <a:rPr lang="en-US" sz="2400">
                <a:solidFill>
                  <a:srgbClr val="FFFFFF"/>
                </a:solidFill>
                <a:latin typeface="Open Sans"/>
                <a:ea typeface="Open Sans"/>
                <a:cs typeface="Open Sans"/>
                <a:sym typeface="Open Sans"/>
              </a:rPr>
              <a:t>University of Calgary</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19200" y="1190625"/>
            <a:ext cx="16325088" cy="386715"/>
          </a:xfrm>
          <a:prstGeom prst="rect">
            <a:avLst/>
          </a:prstGeom>
        </p:spPr>
        <p:txBody>
          <a:bodyPr anchor="t" rtlCol="false" tIns="0" lIns="0" bIns="0" rIns="0">
            <a:spAutoFit/>
          </a:bodyPr>
          <a:lstStyle/>
          <a:p>
            <a:pPr algn="l">
              <a:lnSpc>
                <a:spcPts val="2520"/>
              </a:lnSpc>
            </a:pPr>
            <a:r>
              <a:rPr lang="en-US" b="true" sz="1800" spc="149">
                <a:solidFill>
                  <a:srgbClr val="D6001C"/>
                </a:solidFill>
                <a:latin typeface="Open Sans Bold"/>
                <a:ea typeface="Open Sans Bold"/>
                <a:cs typeface="Open Sans Bold"/>
                <a:sym typeface="Open Sans Bold"/>
              </a:rPr>
              <a:t>BACKGROUND</a:t>
            </a:r>
          </a:p>
        </p:txBody>
      </p:sp>
      <p:sp>
        <p:nvSpPr>
          <p:cNvPr name="TextBox 3" id="3"/>
          <p:cNvSpPr txBox="true"/>
          <p:nvPr/>
        </p:nvSpPr>
        <p:spPr>
          <a:xfrm rot="0">
            <a:off x="1219200" y="1663065"/>
            <a:ext cx="16325088" cy="619125"/>
          </a:xfrm>
          <a:prstGeom prst="rect">
            <a:avLst/>
          </a:prstGeom>
        </p:spPr>
        <p:txBody>
          <a:bodyPr anchor="t" rtlCol="false" tIns="0" lIns="0" bIns="0" rIns="0">
            <a:spAutoFit/>
          </a:bodyPr>
          <a:lstStyle/>
          <a:p>
            <a:pPr algn="l">
              <a:lnSpc>
                <a:spcPts val="4950"/>
              </a:lnSpc>
            </a:pPr>
            <a:r>
              <a:rPr lang="en-US" sz="4500" b="true">
                <a:solidFill>
                  <a:srgbClr val="111111"/>
                </a:solidFill>
                <a:latin typeface="Open Sans Bold"/>
                <a:ea typeface="Open Sans Bold"/>
                <a:cs typeface="Open Sans Bold"/>
                <a:sym typeface="Open Sans Bold"/>
              </a:rPr>
              <a:t>Why early detection matters</a:t>
            </a:r>
          </a:p>
        </p:txBody>
      </p:sp>
      <p:sp>
        <p:nvSpPr>
          <p:cNvPr name="TextBox 4" id="4"/>
          <p:cNvSpPr txBox="true"/>
          <p:nvPr/>
        </p:nvSpPr>
        <p:spPr>
          <a:xfrm rot="0">
            <a:off x="1219200" y="2586990"/>
            <a:ext cx="16325088" cy="541020"/>
          </a:xfrm>
          <a:prstGeom prst="rect">
            <a:avLst/>
          </a:prstGeom>
        </p:spPr>
        <p:txBody>
          <a:bodyPr anchor="t" rtlCol="false" tIns="0" lIns="0" bIns="0" rIns="0">
            <a:spAutoFit/>
          </a:bodyPr>
          <a:lstStyle/>
          <a:p>
            <a:pPr algn="l">
              <a:lnSpc>
                <a:spcPts val="3960"/>
              </a:lnSpc>
            </a:pPr>
            <a:r>
              <a:rPr lang="en-US" sz="3300">
                <a:solidFill>
                  <a:srgbClr val="111111"/>
                </a:solidFill>
                <a:latin typeface="Open Sans"/>
                <a:ea typeface="Open Sans"/>
                <a:cs typeface="Open Sans"/>
                <a:sym typeface="Open Sans"/>
              </a:rPr>
              <a:t>Cardiovascular disease is a leading cause of death worldwide (WHO, 2021).</a:t>
            </a:r>
          </a:p>
        </p:txBody>
      </p:sp>
      <p:grpSp>
        <p:nvGrpSpPr>
          <p:cNvPr name="Group 5" id="5"/>
          <p:cNvGrpSpPr/>
          <p:nvPr/>
        </p:nvGrpSpPr>
        <p:grpSpPr>
          <a:xfrm rot="0">
            <a:off x="1219200" y="3432810"/>
            <a:ext cx="5079921" cy="2727960"/>
            <a:chOff x="0" y="0"/>
            <a:chExt cx="6773228" cy="3637280"/>
          </a:xfrm>
        </p:grpSpPr>
        <p:sp>
          <p:nvSpPr>
            <p:cNvPr name="Freeform 6" id="6"/>
            <p:cNvSpPr/>
            <p:nvPr/>
          </p:nvSpPr>
          <p:spPr>
            <a:xfrm flipH="false" flipV="false" rot="0">
              <a:off x="0" y="0"/>
              <a:ext cx="6773163" cy="3637280"/>
            </a:xfrm>
            <a:custGeom>
              <a:avLst/>
              <a:gdLst/>
              <a:ahLst/>
              <a:cxnLst/>
              <a:rect r="r" b="b" t="t" l="l"/>
              <a:pathLst>
                <a:path h="3637280" w="6773163">
                  <a:moveTo>
                    <a:pt x="0" y="191770"/>
                  </a:moveTo>
                  <a:cubicBezTo>
                    <a:pt x="0" y="85852"/>
                    <a:pt x="85852" y="0"/>
                    <a:pt x="191770" y="0"/>
                  </a:cubicBezTo>
                  <a:lnTo>
                    <a:pt x="6581394" y="0"/>
                  </a:lnTo>
                  <a:cubicBezTo>
                    <a:pt x="6687312" y="0"/>
                    <a:pt x="6773163" y="85852"/>
                    <a:pt x="6773163" y="191770"/>
                  </a:cubicBezTo>
                  <a:lnTo>
                    <a:pt x="6773163" y="3445510"/>
                  </a:lnTo>
                  <a:cubicBezTo>
                    <a:pt x="6773163" y="3551428"/>
                    <a:pt x="6687312" y="3637280"/>
                    <a:pt x="6581394" y="3637280"/>
                  </a:cubicBezTo>
                  <a:lnTo>
                    <a:pt x="191770" y="3637280"/>
                  </a:lnTo>
                  <a:cubicBezTo>
                    <a:pt x="85852" y="3637280"/>
                    <a:pt x="0" y="3551428"/>
                    <a:pt x="0" y="3445510"/>
                  </a:cubicBezTo>
                  <a:close/>
                </a:path>
              </a:pathLst>
            </a:custGeom>
            <a:solidFill>
              <a:srgbClr val="FFFFFF"/>
            </a:solidFill>
            <a:ln w="19050" cap="sq">
              <a:solidFill>
                <a:srgbClr val="CFCFCF"/>
              </a:solidFill>
              <a:prstDash val="solid"/>
              <a:miter/>
            </a:ln>
          </p:spPr>
        </p:sp>
      </p:grpSp>
      <p:sp>
        <p:nvSpPr>
          <p:cNvPr name="TextBox 7" id="7"/>
          <p:cNvSpPr txBox="true"/>
          <p:nvPr/>
        </p:nvSpPr>
        <p:spPr>
          <a:xfrm rot="0">
            <a:off x="1615440" y="3829050"/>
            <a:ext cx="4416066" cy="541020"/>
          </a:xfrm>
          <a:prstGeom prst="rect">
            <a:avLst/>
          </a:prstGeom>
        </p:spPr>
        <p:txBody>
          <a:bodyPr anchor="t" rtlCol="false" tIns="0" lIns="0" bIns="0" rIns="0">
            <a:spAutoFit/>
          </a:bodyPr>
          <a:lstStyle/>
          <a:p>
            <a:pPr algn="l">
              <a:lnSpc>
                <a:spcPts val="3960"/>
              </a:lnSpc>
            </a:pPr>
            <a:r>
              <a:rPr lang="en-US" sz="3300" b="true">
                <a:solidFill>
                  <a:srgbClr val="D6001C"/>
                </a:solidFill>
                <a:latin typeface="Open Sans Bold"/>
                <a:ea typeface="Open Sans Bold"/>
                <a:cs typeface="Open Sans Bold"/>
                <a:sym typeface="Open Sans Bold"/>
              </a:rPr>
              <a:t>Prioritize</a:t>
            </a:r>
          </a:p>
        </p:txBody>
      </p:sp>
      <p:sp>
        <p:nvSpPr>
          <p:cNvPr name="TextBox 8" id="8"/>
          <p:cNvSpPr txBox="true"/>
          <p:nvPr/>
        </p:nvSpPr>
        <p:spPr>
          <a:xfrm rot="0">
            <a:off x="1615440" y="4446270"/>
            <a:ext cx="4416066" cy="135636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Find the simple clinical measures that best flag patients for further testing.</a:t>
            </a:r>
          </a:p>
        </p:txBody>
      </p:sp>
      <p:grpSp>
        <p:nvGrpSpPr>
          <p:cNvPr name="Group 9" id="9"/>
          <p:cNvGrpSpPr/>
          <p:nvPr/>
        </p:nvGrpSpPr>
        <p:grpSpPr>
          <a:xfrm rot="0">
            <a:off x="6603921" y="3432810"/>
            <a:ext cx="5080035" cy="2727960"/>
            <a:chOff x="0" y="0"/>
            <a:chExt cx="6773380" cy="3637280"/>
          </a:xfrm>
        </p:grpSpPr>
        <p:sp>
          <p:nvSpPr>
            <p:cNvPr name="Freeform 10" id="10"/>
            <p:cNvSpPr/>
            <p:nvPr/>
          </p:nvSpPr>
          <p:spPr>
            <a:xfrm flipH="false" flipV="false" rot="0">
              <a:off x="0" y="0"/>
              <a:ext cx="6773290" cy="3637280"/>
            </a:xfrm>
            <a:custGeom>
              <a:avLst/>
              <a:gdLst/>
              <a:ahLst/>
              <a:cxnLst/>
              <a:rect r="r" b="b" t="t" l="l"/>
              <a:pathLst>
                <a:path h="3637280" w="6773290">
                  <a:moveTo>
                    <a:pt x="0" y="191770"/>
                  </a:moveTo>
                  <a:cubicBezTo>
                    <a:pt x="0" y="85852"/>
                    <a:pt x="85852" y="0"/>
                    <a:pt x="191770" y="0"/>
                  </a:cubicBezTo>
                  <a:lnTo>
                    <a:pt x="6581521" y="0"/>
                  </a:lnTo>
                  <a:cubicBezTo>
                    <a:pt x="6687439" y="0"/>
                    <a:pt x="6773290" y="85852"/>
                    <a:pt x="6773290" y="191770"/>
                  </a:cubicBezTo>
                  <a:lnTo>
                    <a:pt x="6773290" y="3445510"/>
                  </a:lnTo>
                  <a:cubicBezTo>
                    <a:pt x="6773290" y="3551428"/>
                    <a:pt x="6687439" y="3637280"/>
                    <a:pt x="6581521" y="3637280"/>
                  </a:cubicBezTo>
                  <a:lnTo>
                    <a:pt x="191770" y="3637280"/>
                  </a:lnTo>
                  <a:cubicBezTo>
                    <a:pt x="85852" y="3637280"/>
                    <a:pt x="0" y="3551428"/>
                    <a:pt x="0" y="3445510"/>
                  </a:cubicBezTo>
                  <a:close/>
                </a:path>
              </a:pathLst>
            </a:custGeom>
            <a:solidFill>
              <a:srgbClr val="FFFFFF"/>
            </a:solidFill>
            <a:ln w="19050" cap="sq">
              <a:solidFill>
                <a:srgbClr val="CFCFCF"/>
              </a:solidFill>
              <a:prstDash val="solid"/>
              <a:miter/>
            </a:ln>
          </p:spPr>
        </p:sp>
      </p:grpSp>
      <p:sp>
        <p:nvSpPr>
          <p:cNvPr name="TextBox 11" id="11"/>
          <p:cNvSpPr txBox="true"/>
          <p:nvPr/>
        </p:nvSpPr>
        <p:spPr>
          <a:xfrm rot="0">
            <a:off x="7000161" y="3829050"/>
            <a:ext cx="4416190" cy="541020"/>
          </a:xfrm>
          <a:prstGeom prst="rect">
            <a:avLst/>
          </a:prstGeom>
        </p:spPr>
        <p:txBody>
          <a:bodyPr anchor="t" rtlCol="false" tIns="0" lIns="0" bIns="0" rIns="0">
            <a:spAutoFit/>
          </a:bodyPr>
          <a:lstStyle/>
          <a:p>
            <a:pPr algn="l">
              <a:lnSpc>
                <a:spcPts val="3960"/>
              </a:lnSpc>
            </a:pPr>
            <a:r>
              <a:rPr lang="en-US" sz="3300" b="true">
                <a:solidFill>
                  <a:srgbClr val="D6001C"/>
                </a:solidFill>
                <a:latin typeface="Open Sans Bold"/>
                <a:ea typeface="Open Sans Bold"/>
                <a:cs typeface="Open Sans Bold"/>
                <a:sym typeface="Open Sans Bold"/>
              </a:rPr>
              <a:t>Predict</a:t>
            </a:r>
          </a:p>
        </p:txBody>
      </p:sp>
      <p:sp>
        <p:nvSpPr>
          <p:cNvPr name="TextBox 12" id="12"/>
          <p:cNvSpPr txBox="true"/>
          <p:nvPr/>
        </p:nvSpPr>
        <p:spPr>
          <a:xfrm rot="0">
            <a:off x="7000161" y="4446270"/>
            <a:ext cx="4416190" cy="81534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Support risk stratification and diagnostic decision-making.</a:t>
            </a:r>
          </a:p>
        </p:txBody>
      </p:sp>
      <p:grpSp>
        <p:nvGrpSpPr>
          <p:cNvPr name="Group 13" id="13"/>
          <p:cNvGrpSpPr/>
          <p:nvPr/>
        </p:nvGrpSpPr>
        <p:grpSpPr>
          <a:xfrm rot="0">
            <a:off x="11988765" y="3432810"/>
            <a:ext cx="5080035" cy="2727960"/>
            <a:chOff x="0" y="0"/>
            <a:chExt cx="6773380" cy="3637280"/>
          </a:xfrm>
        </p:grpSpPr>
        <p:sp>
          <p:nvSpPr>
            <p:cNvPr name="Freeform 14" id="14"/>
            <p:cNvSpPr/>
            <p:nvPr/>
          </p:nvSpPr>
          <p:spPr>
            <a:xfrm flipH="false" flipV="false" rot="0">
              <a:off x="0" y="0"/>
              <a:ext cx="6773290" cy="3637280"/>
            </a:xfrm>
            <a:custGeom>
              <a:avLst/>
              <a:gdLst/>
              <a:ahLst/>
              <a:cxnLst/>
              <a:rect r="r" b="b" t="t" l="l"/>
              <a:pathLst>
                <a:path h="3637280" w="6773290">
                  <a:moveTo>
                    <a:pt x="0" y="191770"/>
                  </a:moveTo>
                  <a:cubicBezTo>
                    <a:pt x="0" y="85852"/>
                    <a:pt x="85852" y="0"/>
                    <a:pt x="191770" y="0"/>
                  </a:cubicBezTo>
                  <a:lnTo>
                    <a:pt x="6581521" y="0"/>
                  </a:lnTo>
                  <a:cubicBezTo>
                    <a:pt x="6687439" y="0"/>
                    <a:pt x="6773290" y="85852"/>
                    <a:pt x="6773290" y="191770"/>
                  </a:cubicBezTo>
                  <a:lnTo>
                    <a:pt x="6773290" y="3445510"/>
                  </a:lnTo>
                  <a:cubicBezTo>
                    <a:pt x="6773290" y="3551428"/>
                    <a:pt x="6687439" y="3637280"/>
                    <a:pt x="6581521" y="3637280"/>
                  </a:cubicBezTo>
                  <a:lnTo>
                    <a:pt x="191770" y="3637280"/>
                  </a:lnTo>
                  <a:cubicBezTo>
                    <a:pt x="85852" y="3637280"/>
                    <a:pt x="0" y="3551428"/>
                    <a:pt x="0" y="3445510"/>
                  </a:cubicBezTo>
                  <a:close/>
                </a:path>
              </a:pathLst>
            </a:custGeom>
            <a:solidFill>
              <a:srgbClr val="FFFFFF"/>
            </a:solidFill>
            <a:ln w="19050" cap="sq">
              <a:solidFill>
                <a:srgbClr val="CFCFCF"/>
              </a:solidFill>
              <a:prstDash val="solid"/>
              <a:miter/>
            </a:ln>
          </p:spPr>
        </p:sp>
      </p:grpSp>
      <p:sp>
        <p:nvSpPr>
          <p:cNvPr name="TextBox 15" id="15"/>
          <p:cNvSpPr txBox="true"/>
          <p:nvPr/>
        </p:nvSpPr>
        <p:spPr>
          <a:xfrm rot="0">
            <a:off x="12385005" y="3829050"/>
            <a:ext cx="4416190" cy="541020"/>
          </a:xfrm>
          <a:prstGeom prst="rect">
            <a:avLst/>
          </a:prstGeom>
        </p:spPr>
        <p:txBody>
          <a:bodyPr anchor="t" rtlCol="false" tIns="0" lIns="0" bIns="0" rIns="0">
            <a:spAutoFit/>
          </a:bodyPr>
          <a:lstStyle/>
          <a:p>
            <a:pPr algn="l">
              <a:lnSpc>
                <a:spcPts val="3960"/>
              </a:lnSpc>
            </a:pPr>
            <a:r>
              <a:rPr lang="en-US" sz="3300" b="true">
                <a:solidFill>
                  <a:srgbClr val="D6001C"/>
                </a:solidFill>
                <a:latin typeface="Open Sans Bold"/>
                <a:ea typeface="Open Sans Bold"/>
                <a:cs typeface="Open Sans Bold"/>
                <a:sym typeface="Open Sans Bold"/>
              </a:rPr>
              <a:t>Inform</a:t>
            </a:r>
          </a:p>
        </p:txBody>
      </p:sp>
      <p:sp>
        <p:nvSpPr>
          <p:cNvPr name="TextBox 16" id="16"/>
          <p:cNvSpPr txBox="true"/>
          <p:nvPr/>
        </p:nvSpPr>
        <p:spPr>
          <a:xfrm rot="0">
            <a:off x="12385005" y="4446270"/>
            <a:ext cx="4416190" cy="92964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Explain to patients which health markers matter most.</a:t>
            </a:r>
          </a:p>
        </p:txBody>
      </p:sp>
      <p:sp>
        <p:nvSpPr>
          <p:cNvPr name="TextBox 17" id="17"/>
          <p:cNvSpPr txBox="true"/>
          <p:nvPr/>
        </p:nvSpPr>
        <p:spPr>
          <a:xfrm rot="0">
            <a:off x="1219200" y="6465570"/>
            <a:ext cx="16325088" cy="502920"/>
          </a:xfrm>
          <a:prstGeom prst="rect">
            <a:avLst/>
          </a:prstGeom>
        </p:spPr>
        <p:txBody>
          <a:bodyPr anchor="t" rtlCol="false" tIns="0" lIns="0" bIns="0" rIns="0">
            <a:spAutoFit/>
          </a:bodyPr>
          <a:lstStyle/>
          <a:p>
            <a:pPr algn="l">
              <a:lnSpc>
                <a:spcPts val="3359"/>
              </a:lnSpc>
            </a:pPr>
            <a:r>
              <a:rPr lang="en-US" sz="2400">
                <a:solidFill>
                  <a:srgbClr val="4D4D4D"/>
                </a:solidFill>
                <a:latin typeface="Open Sans"/>
                <a:ea typeface="Open Sans"/>
                <a:cs typeface="Open Sans"/>
                <a:sym typeface="Open Sans"/>
              </a:rPr>
              <a:t>Today: three comparisons of patients with and without heart disease.</a:t>
            </a:r>
          </a:p>
        </p:txBody>
      </p:sp>
      <p:sp>
        <p:nvSpPr>
          <p:cNvPr name="TextBox 18" id="18"/>
          <p:cNvSpPr txBox="true"/>
          <p:nvPr/>
        </p:nvSpPr>
        <p:spPr>
          <a:xfrm rot="0">
            <a:off x="1219200" y="9328785"/>
            <a:ext cx="11772900" cy="386715"/>
          </a:xfrm>
          <a:prstGeom prst="rect">
            <a:avLst/>
          </a:prstGeom>
        </p:spPr>
        <p:txBody>
          <a:bodyPr anchor="t" rtlCol="false" tIns="0" lIns="0" bIns="0" rIns="0">
            <a:spAutoFit/>
          </a:bodyPr>
          <a:lstStyle/>
          <a:p>
            <a:pPr algn="l">
              <a:lnSpc>
                <a:spcPts val="2520"/>
              </a:lnSpc>
            </a:pPr>
            <a:r>
              <a:rPr lang="en-US" sz="1800">
                <a:solidFill>
                  <a:srgbClr val="4D4D4D"/>
                </a:solidFill>
                <a:latin typeface="Open Sans"/>
                <a:ea typeface="Open Sans"/>
                <a:cs typeface="Open Sans"/>
                <a:sym typeface="Open Sans"/>
              </a:rPr>
              <a:t>DATA 602 · Detecting Heart Disease</a:t>
            </a:r>
          </a:p>
        </p:txBody>
      </p:sp>
      <p:sp>
        <p:nvSpPr>
          <p:cNvPr name="TextBox 19" id="19"/>
          <p:cNvSpPr txBox="true"/>
          <p:nvPr/>
        </p:nvSpPr>
        <p:spPr>
          <a:xfrm rot="0">
            <a:off x="15087600" y="9328785"/>
            <a:ext cx="1981200" cy="386715"/>
          </a:xfrm>
          <a:prstGeom prst="rect">
            <a:avLst/>
          </a:prstGeom>
        </p:spPr>
        <p:txBody>
          <a:bodyPr anchor="t" rtlCol="false" tIns="0" lIns="0" bIns="0" rIns="0">
            <a:spAutoFit/>
          </a:bodyPr>
          <a:lstStyle/>
          <a:p>
            <a:pPr algn="r">
              <a:lnSpc>
                <a:spcPts val="2520"/>
              </a:lnSpc>
            </a:pPr>
            <a:r>
              <a:rPr lang="en-US" sz="1800">
                <a:solidFill>
                  <a:srgbClr val="4D4D4D"/>
                </a:solidFill>
                <a:latin typeface="Open Sans"/>
                <a:ea typeface="Open Sans"/>
                <a:cs typeface="Open Sans"/>
                <a:sym typeface="Open Sans"/>
              </a:rPr>
              <a:t>2</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0F0F0"/>
        </a:solidFill>
      </p:bgPr>
    </p:bg>
    <p:spTree>
      <p:nvGrpSpPr>
        <p:cNvPr id="1" name=""/>
        <p:cNvGrpSpPr/>
        <p:nvPr/>
      </p:nvGrpSpPr>
      <p:grpSpPr>
        <a:xfrm>
          <a:off x="0" y="0"/>
          <a:ext cx="0" cy="0"/>
          <a:chOff x="0" y="0"/>
          <a:chExt cx="0" cy="0"/>
        </a:xfrm>
      </p:grpSpPr>
      <p:sp>
        <p:nvSpPr>
          <p:cNvPr name="TextBox 2" id="2"/>
          <p:cNvSpPr txBox="true"/>
          <p:nvPr/>
        </p:nvSpPr>
        <p:spPr>
          <a:xfrm rot="0">
            <a:off x="1219200" y="1190625"/>
            <a:ext cx="16325088" cy="386715"/>
          </a:xfrm>
          <a:prstGeom prst="rect">
            <a:avLst/>
          </a:prstGeom>
        </p:spPr>
        <p:txBody>
          <a:bodyPr anchor="t" rtlCol="false" tIns="0" lIns="0" bIns="0" rIns="0">
            <a:spAutoFit/>
          </a:bodyPr>
          <a:lstStyle/>
          <a:p>
            <a:pPr algn="l">
              <a:lnSpc>
                <a:spcPts val="2520"/>
              </a:lnSpc>
            </a:pPr>
            <a:r>
              <a:rPr lang="en-US" b="true" sz="1800" spc="149">
                <a:solidFill>
                  <a:srgbClr val="D6001C"/>
                </a:solidFill>
                <a:latin typeface="Open Sans Bold"/>
                <a:ea typeface="Open Sans Bold"/>
                <a:cs typeface="Open Sans Bold"/>
                <a:sym typeface="Open Sans Bold"/>
              </a:rPr>
              <a:t>RESEARCH QUESTIONS</a:t>
            </a:r>
          </a:p>
        </p:txBody>
      </p:sp>
      <p:sp>
        <p:nvSpPr>
          <p:cNvPr name="TextBox 3" id="3"/>
          <p:cNvSpPr txBox="true"/>
          <p:nvPr/>
        </p:nvSpPr>
        <p:spPr>
          <a:xfrm rot="0">
            <a:off x="1219200" y="1663065"/>
            <a:ext cx="16325088" cy="619125"/>
          </a:xfrm>
          <a:prstGeom prst="rect">
            <a:avLst/>
          </a:prstGeom>
        </p:spPr>
        <p:txBody>
          <a:bodyPr anchor="t" rtlCol="false" tIns="0" lIns="0" bIns="0" rIns="0">
            <a:spAutoFit/>
          </a:bodyPr>
          <a:lstStyle/>
          <a:p>
            <a:pPr algn="l">
              <a:lnSpc>
                <a:spcPts val="4950"/>
              </a:lnSpc>
            </a:pPr>
            <a:r>
              <a:rPr lang="en-US" sz="4500" b="true">
                <a:solidFill>
                  <a:srgbClr val="111111"/>
                </a:solidFill>
                <a:latin typeface="Open Sans Bold"/>
                <a:ea typeface="Open Sans Bold"/>
                <a:cs typeface="Open Sans Bold"/>
                <a:sym typeface="Open Sans Bold"/>
              </a:rPr>
              <a:t>Three comparisons, one question each</a:t>
            </a:r>
          </a:p>
        </p:txBody>
      </p:sp>
      <p:grpSp>
        <p:nvGrpSpPr>
          <p:cNvPr name="Group 4" id="4"/>
          <p:cNvGrpSpPr/>
          <p:nvPr/>
        </p:nvGrpSpPr>
        <p:grpSpPr>
          <a:xfrm rot="0">
            <a:off x="1219200" y="2625090"/>
            <a:ext cx="5079921" cy="3741420"/>
            <a:chOff x="0" y="0"/>
            <a:chExt cx="6773228" cy="4988560"/>
          </a:xfrm>
        </p:grpSpPr>
        <p:sp>
          <p:nvSpPr>
            <p:cNvPr name="Freeform 5" id="5"/>
            <p:cNvSpPr/>
            <p:nvPr/>
          </p:nvSpPr>
          <p:spPr>
            <a:xfrm flipH="false" flipV="false" rot="0">
              <a:off x="0" y="0"/>
              <a:ext cx="6773291" cy="4988560"/>
            </a:xfrm>
            <a:custGeom>
              <a:avLst/>
              <a:gdLst/>
              <a:ahLst/>
              <a:cxnLst/>
              <a:rect r="r" b="b" t="t" l="l"/>
              <a:pathLst>
                <a:path h="4988560" w="6773291">
                  <a:moveTo>
                    <a:pt x="0" y="191516"/>
                  </a:moveTo>
                  <a:cubicBezTo>
                    <a:pt x="0" y="85725"/>
                    <a:pt x="85725" y="0"/>
                    <a:pt x="191516" y="0"/>
                  </a:cubicBezTo>
                  <a:lnTo>
                    <a:pt x="6581775" y="0"/>
                  </a:lnTo>
                  <a:cubicBezTo>
                    <a:pt x="6687566" y="0"/>
                    <a:pt x="6773291" y="85725"/>
                    <a:pt x="6773291" y="191516"/>
                  </a:cubicBezTo>
                  <a:lnTo>
                    <a:pt x="6773291" y="4797044"/>
                  </a:lnTo>
                  <a:cubicBezTo>
                    <a:pt x="6773291" y="4902835"/>
                    <a:pt x="6687566" y="4988560"/>
                    <a:pt x="6581775" y="4988560"/>
                  </a:cubicBezTo>
                  <a:lnTo>
                    <a:pt x="191516" y="4988560"/>
                  </a:lnTo>
                  <a:cubicBezTo>
                    <a:pt x="85725" y="4988560"/>
                    <a:pt x="0" y="4902835"/>
                    <a:pt x="0" y="4797044"/>
                  </a:cubicBezTo>
                  <a:close/>
                </a:path>
              </a:pathLst>
            </a:custGeom>
            <a:solidFill>
              <a:srgbClr val="FFFFFF"/>
            </a:solidFill>
            <a:ln w="19050" cap="sq">
              <a:solidFill>
                <a:srgbClr val="CFCFCF"/>
              </a:solidFill>
              <a:prstDash val="solid"/>
              <a:miter/>
            </a:ln>
          </p:spPr>
        </p:sp>
      </p:grpSp>
      <p:grpSp>
        <p:nvGrpSpPr>
          <p:cNvPr name="Group 6" id="6"/>
          <p:cNvGrpSpPr/>
          <p:nvPr/>
        </p:nvGrpSpPr>
        <p:grpSpPr>
          <a:xfrm rot="0">
            <a:off x="1615440" y="3021330"/>
            <a:ext cx="2610202" cy="434340"/>
            <a:chOff x="0" y="0"/>
            <a:chExt cx="3480270" cy="579120"/>
          </a:xfrm>
        </p:grpSpPr>
        <p:sp>
          <p:nvSpPr>
            <p:cNvPr name="Freeform 7" id="7"/>
            <p:cNvSpPr/>
            <p:nvPr/>
          </p:nvSpPr>
          <p:spPr>
            <a:xfrm flipH="false" flipV="false" rot="0">
              <a:off x="0" y="0"/>
              <a:ext cx="3480308" cy="579120"/>
            </a:xfrm>
            <a:custGeom>
              <a:avLst/>
              <a:gdLst/>
              <a:ahLst/>
              <a:cxnLst/>
              <a:rect r="r" b="b" t="t" l="l"/>
              <a:pathLst>
                <a:path h="579120" w="3480308">
                  <a:moveTo>
                    <a:pt x="289560" y="0"/>
                  </a:moveTo>
                  <a:lnTo>
                    <a:pt x="3190748" y="0"/>
                  </a:lnTo>
                  <a:cubicBezTo>
                    <a:pt x="3350641" y="0"/>
                    <a:pt x="3480308" y="129667"/>
                    <a:pt x="3480308" y="289560"/>
                  </a:cubicBezTo>
                  <a:cubicBezTo>
                    <a:pt x="3480308" y="449453"/>
                    <a:pt x="3350641" y="579120"/>
                    <a:pt x="3190748" y="579120"/>
                  </a:cubicBezTo>
                  <a:lnTo>
                    <a:pt x="289560" y="579120"/>
                  </a:lnTo>
                  <a:cubicBezTo>
                    <a:pt x="129667" y="579120"/>
                    <a:pt x="0" y="449453"/>
                    <a:pt x="0" y="289560"/>
                  </a:cubicBezTo>
                  <a:cubicBezTo>
                    <a:pt x="0" y="129667"/>
                    <a:pt x="129667" y="0"/>
                    <a:pt x="289560" y="0"/>
                  </a:cubicBezTo>
                  <a:close/>
                </a:path>
              </a:pathLst>
            </a:custGeom>
            <a:solidFill>
              <a:srgbClr val="D6001C"/>
            </a:solidFill>
          </p:spPr>
        </p:sp>
        <p:sp>
          <p:nvSpPr>
            <p:cNvPr name="TextBox 8" id="8"/>
            <p:cNvSpPr txBox="true"/>
            <p:nvPr/>
          </p:nvSpPr>
          <p:spPr>
            <a:xfrm>
              <a:off x="0" y="-28575"/>
              <a:ext cx="3480270" cy="607695"/>
            </a:xfrm>
            <a:prstGeom prst="rect">
              <a:avLst/>
            </a:prstGeom>
          </p:spPr>
          <p:txBody>
            <a:bodyPr anchor="ctr" rtlCol="false" tIns="50800" lIns="50800" bIns="50800" rIns="50800"/>
            <a:lstStyle/>
            <a:p>
              <a:pPr algn="ctr">
                <a:lnSpc>
                  <a:spcPts val="2520"/>
                </a:lnSpc>
              </a:pPr>
              <a:r>
                <a:rPr lang="en-US" sz="1800" b="true">
                  <a:solidFill>
                    <a:srgbClr val="FFFFFF"/>
                  </a:solidFill>
                  <a:latin typeface="Open Sans Bold"/>
                  <a:ea typeface="Open Sans Bold"/>
                  <a:cs typeface="Open Sans Bold"/>
                  <a:sym typeface="Open Sans Bold"/>
                </a:rPr>
                <a:t>Difference of means</a:t>
              </a:r>
            </a:p>
          </p:txBody>
        </p:sp>
      </p:grpSp>
      <p:sp>
        <p:nvSpPr>
          <p:cNvPr name="TextBox 9" id="9"/>
          <p:cNvSpPr txBox="true"/>
          <p:nvPr/>
        </p:nvSpPr>
        <p:spPr>
          <a:xfrm rot="0">
            <a:off x="1615440" y="3608070"/>
            <a:ext cx="4416066" cy="541020"/>
          </a:xfrm>
          <a:prstGeom prst="rect">
            <a:avLst/>
          </a:prstGeom>
        </p:spPr>
        <p:txBody>
          <a:bodyPr anchor="t" rtlCol="false" tIns="0" lIns="0" bIns="0" rIns="0">
            <a:spAutoFit/>
          </a:bodyPr>
          <a:lstStyle/>
          <a:p>
            <a:pPr algn="l">
              <a:lnSpc>
                <a:spcPts val="3960"/>
              </a:lnSpc>
            </a:pPr>
            <a:r>
              <a:rPr lang="en-US" sz="3300" b="true">
                <a:solidFill>
                  <a:srgbClr val="111111"/>
                </a:solidFill>
                <a:latin typeface="Open Sans Bold"/>
                <a:ea typeface="Open Sans Bold"/>
                <a:cs typeface="Open Sans Bold"/>
                <a:sym typeface="Open Sans Bold"/>
              </a:rPr>
              <a:t>thalch</a:t>
            </a:r>
          </a:p>
        </p:txBody>
      </p:sp>
      <p:sp>
        <p:nvSpPr>
          <p:cNvPr name="TextBox 10" id="10"/>
          <p:cNvSpPr txBox="true"/>
          <p:nvPr/>
        </p:nvSpPr>
        <p:spPr>
          <a:xfrm rot="0">
            <a:off x="1615440" y="4225290"/>
            <a:ext cx="4416066" cy="178308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Is mean maximum heart rate different between patients with and without heart disease?</a:t>
            </a:r>
          </a:p>
        </p:txBody>
      </p:sp>
      <p:grpSp>
        <p:nvGrpSpPr>
          <p:cNvPr name="Group 11" id="11"/>
          <p:cNvGrpSpPr/>
          <p:nvPr/>
        </p:nvGrpSpPr>
        <p:grpSpPr>
          <a:xfrm rot="0">
            <a:off x="6603921" y="2625090"/>
            <a:ext cx="5080035" cy="3741420"/>
            <a:chOff x="0" y="0"/>
            <a:chExt cx="6773380" cy="4988560"/>
          </a:xfrm>
        </p:grpSpPr>
        <p:sp>
          <p:nvSpPr>
            <p:cNvPr name="Freeform 12" id="12"/>
            <p:cNvSpPr/>
            <p:nvPr/>
          </p:nvSpPr>
          <p:spPr>
            <a:xfrm flipH="false" flipV="false" rot="0">
              <a:off x="0" y="0"/>
              <a:ext cx="6773418" cy="4988560"/>
            </a:xfrm>
            <a:custGeom>
              <a:avLst/>
              <a:gdLst/>
              <a:ahLst/>
              <a:cxnLst/>
              <a:rect r="r" b="b" t="t" l="l"/>
              <a:pathLst>
                <a:path h="4988560" w="6773418">
                  <a:moveTo>
                    <a:pt x="0" y="191516"/>
                  </a:moveTo>
                  <a:cubicBezTo>
                    <a:pt x="0" y="85725"/>
                    <a:pt x="85725" y="0"/>
                    <a:pt x="191516" y="0"/>
                  </a:cubicBezTo>
                  <a:lnTo>
                    <a:pt x="6581902" y="0"/>
                  </a:lnTo>
                  <a:cubicBezTo>
                    <a:pt x="6687693" y="0"/>
                    <a:pt x="6773418" y="85725"/>
                    <a:pt x="6773418" y="191516"/>
                  </a:cubicBezTo>
                  <a:lnTo>
                    <a:pt x="6773418" y="4797044"/>
                  </a:lnTo>
                  <a:cubicBezTo>
                    <a:pt x="6773418" y="4902835"/>
                    <a:pt x="6687693" y="4988560"/>
                    <a:pt x="6581902" y="4988560"/>
                  </a:cubicBezTo>
                  <a:lnTo>
                    <a:pt x="191516" y="4988560"/>
                  </a:lnTo>
                  <a:cubicBezTo>
                    <a:pt x="85725" y="4988560"/>
                    <a:pt x="0" y="4902835"/>
                    <a:pt x="0" y="4797044"/>
                  </a:cubicBezTo>
                  <a:close/>
                </a:path>
              </a:pathLst>
            </a:custGeom>
            <a:solidFill>
              <a:srgbClr val="FFFFFF"/>
            </a:solidFill>
            <a:ln w="19050" cap="sq">
              <a:solidFill>
                <a:srgbClr val="CFCFCF"/>
              </a:solidFill>
              <a:prstDash val="solid"/>
              <a:miter/>
            </a:ln>
          </p:spPr>
        </p:sp>
      </p:grpSp>
      <p:grpSp>
        <p:nvGrpSpPr>
          <p:cNvPr name="Group 13" id="13"/>
          <p:cNvGrpSpPr/>
          <p:nvPr/>
        </p:nvGrpSpPr>
        <p:grpSpPr>
          <a:xfrm rot="0">
            <a:off x="7000161" y="3021330"/>
            <a:ext cx="2610202" cy="434340"/>
            <a:chOff x="0" y="0"/>
            <a:chExt cx="3480270" cy="579120"/>
          </a:xfrm>
        </p:grpSpPr>
        <p:sp>
          <p:nvSpPr>
            <p:cNvPr name="Freeform 14" id="14"/>
            <p:cNvSpPr/>
            <p:nvPr/>
          </p:nvSpPr>
          <p:spPr>
            <a:xfrm flipH="false" flipV="false" rot="0">
              <a:off x="0" y="0"/>
              <a:ext cx="3480308" cy="579120"/>
            </a:xfrm>
            <a:custGeom>
              <a:avLst/>
              <a:gdLst/>
              <a:ahLst/>
              <a:cxnLst/>
              <a:rect r="r" b="b" t="t" l="l"/>
              <a:pathLst>
                <a:path h="579120" w="3480308">
                  <a:moveTo>
                    <a:pt x="289560" y="0"/>
                  </a:moveTo>
                  <a:lnTo>
                    <a:pt x="3190748" y="0"/>
                  </a:lnTo>
                  <a:cubicBezTo>
                    <a:pt x="3350641" y="0"/>
                    <a:pt x="3480308" y="129667"/>
                    <a:pt x="3480308" y="289560"/>
                  </a:cubicBezTo>
                  <a:cubicBezTo>
                    <a:pt x="3480308" y="449453"/>
                    <a:pt x="3350641" y="579120"/>
                    <a:pt x="3190748" y="579120"/>
                  </a:cubicBezTo>
                  <a:lnTo>
                    <a:pt x="289560" y="579120"/>
                  </a:lnTo>
                  <a:cubicBezTo>
                    <a:pt x="129667" y="579120"/>
                    <a:pt x="0" y="449453"/>
                    <a:pt x="0" y="289560"/>
                  </a:cubicBezTo>
                  <a:cubicBezTo>
                    <a:pt x="0" y="129667"/>
                    <a:pt x="129667" y="0"/>
                    <a:pt x="289560" y="0"/>
                  </a:cubicBezTo>
                  <a:close/>
                </a:path>
              </a:pathLst>
            </a:custGeom>
            <a:solidFill>
              <a:srgbClr val="D6001C"/>
            </a:solidFill>
          </p:spPr>
        </p:sp>
        <p:sp>
          <p:nvSpPr>
            <p:cNvPr name="TextBox 15" id="15"/>
            <p:cNvSpPr txBox="true"/>
            <p:nvPr/>
          </p:nvSpPr>
          <p:spPr>
            <a:xfrm>
              <a:off x="0" y="-28575"/>
              <a:ext cx="3480270" cy="607695"/>
            </a:xfrm>
            <a:prstGeom prst="rect">
              <a:avLst/>
            </a:prstGeom>
          </p:spPr>
          <p:txBody>
            <a:bodyPr anchor="ctr" rtlCol="false" tIns="50800" lIns="50800" bIns="50800" rIns="50800"/>
            <a:lstStyle/>
            <a:p>
              <a:pPr algn="ctr">
                <a:lnSpc>
                  <a:spcPts val="2520"/>
                </a:lnSpc>
              </a:pPr>
              <a:r>
                <a:rPr lang="en-US" sz="1800" b="true">
                  <a:solidFill>
                    <a:srgbClr val="FFFFFF"/>
                  </a:solidFill>
                  <a:latin typeface="Open Sans Bold"/>
                  <a:ea typeface="Open Sans Bold"/>
                  <a:cs typeface="Open Sans Bold"/>
                  <a:sym typeface="Open Sans Bold"/>
                </a:rPr>
                <a:t>Difference of means</a:t>
              </a:r>
            </a:p>
          </p:txBody>
        </p:sp>
      </p:grpSp>
      <p:sp>
        <p:nvSpPr>
          <p:cNvPr name="TextBox 16" id="16"/>
          <p:cNvSpPr txBox="true"/>
          <p:nvPr/>
        </p:nvSpPr>
        <p:spPr>
          <a:xfrm rot="0">
            <a:off x="7000161" y="3608070"/>
            <a:ext cx="4416190" cy="541020"/>
          </a:xfrm>
          <a:prstGeom prst="rect">
            <a:avLst/>
          </a:prstGeom>
        </p:spPr>
        <p:txBody>
          <a:bodyPr anchor="t" rtlCol="false" tIns="0" lIns="0" bIns="0" rIns="0">
            <a:spAutoFit/>
          </a:bodyPr>
          <a:lstStyle/>
          <a:p>
            <a:pPr algn="l">
              <a:lnSpc>
                <a:spcPts val="3960"/>
              </a:lnSpc>
            </a:pPr>
            <a:r>
              <a:rPr lang="en-US" sz="3300" b="true">
                <a:solidFill>
                  <a:srgbClr val="111111"/>
                </a:solidFill>
                <a:latin typeface="Open Sans Bold"/>
                <a:ea typeface="Open Sans Bold"/>
                <a:cs typeface="Open Sans Bold"/>
                <a:sym typeface="Open Sans Bold"/>
              </a:rPr>
              <a:t>chol</a:t>
            </a:r>
          </a:p>
        </p:txBody>
      </p:sp>
      <p:sp>
        <p:nvSpPr>
          <p:cNvPr name="TextBox 17" id="17"/>
          <p:cNvSpPr txBox="true"/>
          <p:nvPr/>
        </p:nvSpPr>
        <p:spPr>
          <a:xfrm rot="0">
            <a:off x="7000161" y="4225290"/>
            <a:ext cx="4416190" cy="135636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Is mean serum cholesterol different between the two groups?</a:t>
            </a:r>
          </a:p>
        </p:txBody>
      </p:sp>
      <p:grpSp>
        <p:nvGrpSpPr>
          <p:cNvPr name="Group 18" id="18"/>
          <p:cNvGrpSpPr/>
          <p:nvPr/>
        </p:nvGrpSpPr>
        <p:grpSpPr>
          <a:xfrm rot="0">
            <a:off x="11988765" y="2625090"/>
            <a:ext cx="5080035" cy="3741420"/>
            <a:chOff x="0" y="0"/>
            <a:chExt cx="6773380" cy="4988560"/>
          </a:xfrm>
        </p:grpSpPr>
        <p:sp>
          <p:nvSpPr>
            <p:cNvPr name="Freeform 19" id="19"/>
            <p:cNvSpPr/>
            <p:nvPr/>
          </p:nvSpPr>
          <p:spPr>
            <a:xfrm flipH="false" flipV="false" rot="0">
              <a:off x="0" y="0"/>
              <a:ext cx="6773418" cy="4988560"/>
            </a:xfrm>
            <a:custGeom>
              <a:avLst/>
              <a:gdLst/>
              <a:ahLst/>
              <a:cxnLst/>
              <a:rect r="r" b="b" t="t" l="l"/>
              <a:pathLst>
                <a:path h="4988560" w="6773418">
                  <a:moveTo>
                    <a:pt x="0" y="191516"/>
                  </a:moveTo>
                  <a:cubicBezTo>
                    <a:pt x="0" y="85725"/>
                    <a:pt x="85725" y="0"/>
                    <a:pt x="191516" y="0"/>
                  </a:cubicBezTo>
                  <a:lnTo>
                    <a:pt x="6581902" y="0"/>
                  </a:lnTo>
                  <a:cubicBezTo>
                    <a:pt x="6687693" y="0"/>
                    <a:pt x="6773418" y="85725"/>
                    <a:pt x="6773418" y="191516"/>
                  </a:cubicBezTo>
                  <a:lnTo>
                    <a:pt x="6773418" y="4797044"/>
                  </a:lnTo>
                  <a:cubicBezTo>
                    <a:pt x="6773418" y="4902835"/>
                    <a:pt x="6687693" y="4988560"/>
                    <a:pt x="6581902" y="4988560"/>
                  </a:cubicBezTo>
                  <a:lnTo>
                    <a:pt x="191516" y="4988560"/>
                  </a:lnTo>
                  <a:cubicBezTo>
                    <a:pt x="85725" y="4988560"/>
                    <a:pt x="0" y="4902835"/>
                    <a:pt x="0" y="4797044"/>
                  </a:cubicBezTo>
                  <a:close/>
                </a:path>
              </a:pathLst>
            </a:custGeom>
            <a:solidFill>
              <a:srgbClr val="FFFFFF"/>
            </a:solidFill>
            <a:ln w="19050" cap="sq">
              <a:solidFill>
                <a:srgbClr val="CFCFCF"/>
              </a:solidFill>
              <a:prstDash val="solid"/>
              <a:miter/>
            </a:ln>
          </p:spPr>
        </p:sp>
      </p:grpSp>
      <p:grpSp>
        <p:nvGrpSpPr>
          <p:cNvPr name="Group 20" id="20"/>
          <p:cNvGrpSpPr/>
          <p:nvPr/>
        </p:nvGrpSpPr>
        <p:grpSpPr>
          <a:xfrm rot="0">
            <a:off x="12385005" y="3021330"/>
            <a:ext cx="3182541" cy="434340"/>
            <a:chOff x="0" y="0"/>
            <a:chExt cx="4243388" cy="579120"/>
          </a:xfrm>
        </p:grpSpPr>
        <p:sp>
          <p:nvSpPr>
            <p:cNvPr name="Freeform 21" id="21"/>
            <p:cNvSpPr/>
            <p:nvPr/>
          </p:nvSpPr>
          <p:spPr>
            <a:xfrm flipH="false" flipV="false" rot="0">
              <a:off x="0" y="0"/>
              <a:ext cx="4243451" cy="579120"/>
            </a:xfrm>
            <a:custGeom>
              <a:avLst/>
              <a:gdLst/>
              <a:ahLst/>
              <a:cxnLst/>
              <a:rect r="r" b="b" t="t" l="l"/>
              <a:pathLst>
                <a:path h="579120" w="4243451">
                  <a:moveTo>
                    <a:pt x="289560" y="0"/>
                  </a:moveTo>
                  <a:lnTo>
                    <a:pt x="3953891" y="0"/>
                  </a:lnTo>
                  <a:cubicBezTo>
                    <a:pt x="4113784" y="0"/>
                    <a:pt x="4243451" y="129667"/>
                    <a:pt x="4243451" y="289560"/>
                  </a:cubicBezTo>
                  <a:cubicBezTo>
                    <a:pt x="4243451" y="449453"/>
                    <a:pt x="4113784" y="579120"/>
                    <a:pt x="3953891" y="579120"/>
                  </a:cubicBezTo>
                  <a:lnTo>
                    <a:pt x="289560" y="579120"/>
                  </a:lnTo>
                  <a:cubicBezTo>
                    <a:pt x="129667" y="579120"/>
                    <a:pt x="0" y="449453"/>
                    <a:pt x="0" y="289560"/>
                  </a:cubicBezTo>
                  <a:cubicBezTo>
                    <a:pt x="0" y="129667"/>
                    <a:pt x="129667" y="0"/>
                    <a:pt x="289560" y="0"/>
                  </a:cubicBezTo>
                  <a:close/>
                </a:path>
              </a:pathLst>
            </a:custGeom>
            <a:solidFill>
              <a:srgbClr val="D6001C"/>
            </a:solidFill>
          </p:spPr>
        </p:sp>
        <p:sp>
          <p:nvSpPr>
            <p:cNvPr name="TextBox 22" id="22"/>
            <p:cNvSpPr txBox="true"/>
            <p:nvPr/>
          </p:nvSpPr>
          <p:spPr>
            <a:xfrm>
              <a:off x="0" y="-28575"/>
              <a:ext cx="4243388" cy="607695"/>
            </a:xfrm>
            <a:prstGeom prst="rect">
              <a:avLst/>
            </a:prstGeom>
          </p:spPr>
          <p:txBody>
            <a:bodyPr anchor="ctr" rtlCol="false" tIns="50800" lIns="50800" bIns="50800" rIns="50800"/>
            <a:lstStyle/>
            <a:p>
              <a:pPr algn="ctr">
                <a:lnSpc>
                  <a:spcPts val="2520"/>
                </a:lnSpc>
              </a:pPr>
              <a:r>
                <a:rPr lang="en-US" sz="1800" b="true">
                  <a:solidFill>
                    <a:srgbClr val="FFFFFF"/>
                  </a:solidFill>
                  <a:latin typeface="Open Sans Bold"/>
                  <a:ea typeface="Open Sans Bold"/>
                  <a:cs typeface="Open Sans Bold"/>
                  <a:sym typeface="Open Sans Bold"/>
                </a:rPr>
                <a:t>Difference of proportions</a:t>
              </a:r>
            </a:p>
          </p:txBody>
        </p:sp>
      </p:grpSp>
      <p:sp>
        <p:nvSpPr>
          <p:cNvPr name="TextBox 23" id="23"/>
          <p:cNvSpPr txBox="true"/>
          <p:nvPr/>
        </p:nvSpPr>
        <p:spPr>
          <a:xfrm rot="0">
            <a:off x="12385005" y="3608070"/>
            <a:ext cx="4416190" cy="541020"/>
          </a:xfrm>
          <a:prstGeom prst="rect">
            <a:avLst/>
          </a:prstGeom>
        </p:spPr>
        <p:txBody>
          <a:bodyPr anchor="t" rtlCol="false" tIns="0" lIns="0" bIns="0" rIns="0">
            <a:spAutoFit/>
          </a:bodyPr>
          <a:lstStyle/>
          <a:p>
            <a:pPr algn="l">
              <a:lnSpc>
                <a:spcPts val="3960"/>
              </a:lnSpc>
            </a:pPr>
            <a:r>
              <a:rPr lang="en-US" sz="3300" b="true">
                <a:solidFill>
                  <a:srgbClr val="111111"/>
                </a:solidFill>
                <a:latin typeface="Open Sans Bold"/>
                <a:ea typeface="Open Sans Bold"/>
                <a:cs typeface="Open Sans Bold"/>
                <a:sym typeface="Open Sans Bold"/>
              </a:rPr>
              <a:t>exang</a:t>
            </a:r>
          </a:p>
        </p:txBody>
      </p:sp>
      <p:sp>
        <p:nvSpPr>
          <p:cNvPr name="TextBox 24" id="24"/>
          <p:cNvSpPr txBox="true"/>
          <p:nvPr/>
        </p:nvSpPr>
        <p:spPr>
          <a:xfrm rot="0">
            <a:off x="12385005" y="4225290"/>
            <a:ext cx="4416190" cy="178308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Is the proportion with exercise-induced angina different between the two groups?</a:t>
            </a:r>
          </a:p>
        </p:txBody>
      </p:sp>
      <p:sp>
        <p:nvSpPr>
          <p:cNvPr name="TextBox 25" id="25"/>
          <p:cNvSpPr txBox="true"/>
          <p:nvPr/>
        </p:nvSpPr>
        <p:spPr>
          <a:xfrm rot="0">
            <a:off x="1219200" y="6709410"/>
            <a:ext cx="16325088" cy="50292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Each question uses a conventional test and a 5,000-resample bootstrap confidence interval.</a:t>
            </a:r>
          </a:p>
        </p:txBody>
      </p:sp>
      <p:sp>
        <p:nvSpPr>
          <p:cNvPr name="TextBox 26" id="26"/>
          <p:cNvSpPr txBox="true"/>
          <p:nvPr/>
        </p:nvSpPr>
        <p:spPr>
          <a:xfrm rot="0">
            <a:off x="1219200" y="9328785"/>
            <a:ext cx="11772900" cy="386715"/>
          </a:xfrm>
          <a:prstGeom prst="rect">
            <a:avLst/>
          </a:prstGeom>
        </p:spPr>
        <p:txBody>
          <a:bodyPr anchor="t" rtlCol="false" tIns="0" lIns="0" bIns="0" rIns="0">
            <a:spAutoFit/>
          </a:bodyPr>
          <a:lstStyle/>
          <a:p>
            <a:pPr algn="l">
              <a:lnSpc>
                <a:spcPts val="2520"/>
              </a:lnSpc>
            </a:pPr>
            <a:r>
              <a:rPr lang="en-US" sz="1800">
                <a:solidFill>
                  <a:srgbClr val="4D4D4D"/>
                </a:solidFill>
                <a:latin typeface="Open Sans"/>
                <a:ea typeface="Open Sans"/>
                <a:cs typeface="Open Sans"/>
                <a:sym typeface="Open Sans"/>
              </a:rPr>
              <a:t>DATA 602 · Detecting Heart Disease</a:t>
            </a:r>
          </a:p>
        </p:txBody>
      </p:sp>
      <p:sp>
        <p:nvSpPr>
          <p:cNvPr name="TextBox 27" id="27"/>
          <p:cNvSpPr txBox="true"/>
          <p:nvPr/>
        </p:nvSpPr>
        <p:spPr>
          <a:xfrm rot="0">
            <a:off x="15087600" y="9328785"/>
            <a:ext cx="1981200" cy="386715"/>
          </a:xfrm>
          <a:prstGeom prst="rect">
            <a:avLst/>
          </a:prstGeom>
        </p:spPr>
        <p:txBody>
          <a:bodyPr anchor="t" rtlCol="false" tIns="0" lIns="0" bIns="0" rIns="0">
            <a:spAutoFit/>
          </a:bodyPr>
          <a:lstStyle/>
          <a:p>
            <a:pPr algn="r">
              <a:lnSpc>
                <a:spcPts val="2520"/>
              </a:lnSpc>
            </a:pPr>
            <a:r>
              <a:rPr lang="en-US" sz="1800">
                <a:solidFill>
                  <a:srgbClr val="4D4D4D"/>
                </a:solidFill>
                <a:latin typeface="Open Sans"/>
                <a:ea typeface="Open Sans"/>
                <a:cs typeface="Open Sans"/>
                <a:sym typeface="Open Sans"/>
              </a:rPr>
              <a:t>3</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19200" y="1190625"/>
            <a:ext cx="16325088" cy="386715"/>
          </a:xfrm>
          <a:prstGeom prst="rect">
            <a:avLst/>
          </a:prstGeom>
        </p:spPr>
        <p:txBody>
          <a:bodyPr anchor="t" rtlCol="false" tIns="0" lIns="0" bIns="0" rIns="0">
            <a:spAutoFit/>
          </a:bodyPr>
          <a:lstStyle/>
          <a:p>
            <a:pPr algn="l">
              <a:lnSpc>
                <a:spcPts val="2520"/>
              </a:lnSpc>
            </a:pPr>
            <a:r>
              <a:rPr lang="en-US" b="true" sz="1800" spc="149">
                <a:solidFill>
                  <a:srgbClr val="D6001C"/>
                </a:solidFill>
                <a:latin typeface="Open Sans Bold"/>
                <a:ea typeface="Open Sans Bold"/>
                <a:cs typeface="Open Sans Bold"/>
                <a:sym typeface="Open Sans Bold"/>
              </a:rPr>
              <a:t>DATA AND VARIABLES</a:t>
            </a:r>
          </a:p>
        </p:txBody>
      </p:sp>
      <p:sp>
        <p:nvSpPr>
          <p:cNvPr name="TextBox 3" id="3"/>
          <p:cNvSpPr txBox="true"/>
          <p:nvPr/>
        </p:nvSpPr>
        <p:spPr>
          <a:xfrm rot="0">
            <a:off x="1219200" y="1663065"/>
            <a:ext cx="16325088" cy="619125"/>
          </a:xfrm>
          <a:prstGeom prst="rect">
            <a:avLst/>
          </a:prstGeom>
        </p:spPr>
        <p:txBody>
          <a:bodyPr anchor="t" rtlCol="false" tIns="0" lIns="0" bIns="0" rIns="0">
            <a:spAutoFit/>
          </a:bodyPr>
          <a:lstStyle/>
          <a:p>
            <a:pPr algn="l">
              <a:lnSpc>
                <a:spcPts val="4950"/>
              </a:lnSpc>
            </a:pPr>
            <a:r>
              <a:rPr lang="en-US" sz="4500" b="true">
                <a:solidFill>
                  <a:srgbClr val="111111"/>
                </a:solidFill>
                <a:latin typeface="Open Sans Bold"/>
                <a:ea typeface="Open Sans Bold"/>
                <a:cs typeface="Open Sans Bold"/>
                <a:sym typeface="Open Sans Bold"/>
              </a:rPr>
              <a:t>UCI Heart Disease data from four hospitals</a:t>
            </a:r>
          </a:p>
        </p:txBody>
      </p:sp>
      <p:sp>
        <p:nvSpPr>
          <p:cNvPr name="TextBox 4" id="4"/>
          <p:cNvSpPr txBox="true"/>
          <p:nvPr/>
        </p:nvSpPr>
        <p:spPr>
          <a:xfrm rot="0">
            <a:off x="1219200" y="2672715"/>
            <a:ext cx="1411748" cy="744855"/>
          </a:xfrm>
          <a:prstGeom prst="rect">
            <a:avLst/>
          </a:prstGeom>
        </p:spPr>
        <p:txBody>
          <a:bodyPr anchor="t" rtlCol="false" tIns="0" lIns="0" bIns="0" rIns="0">
            <a:spAutoFit/>
          </a:bodyPr>
          <a:lstStyle/>
          <a:p>
            <a:pPr algn="l">
              <a:lnSpc>
                <a:spcPts val="5940"/>
              </a:lnSpc>
            </a:pPr>
            <a:r>
              <a:rPr lang="en-US" sz="5400" b="true">
                <a:solidFill>
                  <a:srgbClr val="D6001C"/>
                </a:solidFill>
                <a:latin typeface="Open Sans Bold"/>
                <a:ea typeface="Open Sans Bold"/>
                <a:cs typeface="Open Sans Bold"/>
                <a:sym typeface="Open Sans Bold"/>
              </a:rPr>
              <a:t>920</a:t>
            </a:r>
          </a:p>
        </p:txBody>
      </p:sp>
      <p:sp>
        <p:nvSpPr>
          <p:cNvPr name="TextBox 5" id="5"/>
          <p:cNvSpPr txBox="true"/>
          <p:nvPr/>
        </p:nvSpPr>
        <p:spPr>
          <a:xfrm rot="0">
            <a:off x="1219200" y="3341370"/>
            <a:ext cx="1252652" cy="50292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patients</a:t>
            </a:r>
          </a:p>
        </p:txBody>
      </p:sp>
      <p:sp>
        <p:nvSpPr>
          <p:cNvPr name="TextBox 6" id="6"/>
          <p:cNvSpPr txBox="true"/>
          <p:nvPr/>
        </p:nvSpPr>
        <p:spPr>
          <a:xfrm rot="0">
            <a:off x="3005252" y="2672715"/>
            <a:ext cx="1355408" cy="744855"/>
          </a:xfrm>
          <a:prstGeom prst="rect">
            <a:avLst/>
          </a:prstGeom>
        </p:spPr>
        <p:txBody>
          <a:bodyPr anchor="t" rtlCol="false" tIns="0" lIns="0" bIns="0" rIns="0">
            <a:spAutoFit/>
          </a:bodyPr>
          <a:lstStyle/>
          <a:p>
            <a:pPr algn="l">
              <a:lnSpc>
                <a:spcPts val="5940"/>
              </a:lnSpc>
            </a:pPr>
            <a:r>
              <a:rPr lang="en-US" sz="5400" b="true">
                <a:solidFill>
                  <a:srgbClr val="D6001C"/>
                </a:solidFill>
                <a:latin typeface="Open Sans Bold"/>
                <a:ea typeface="Open Sans Bold"/>
                <a:cs typeface="Open Sans Bold"/>
                <a:sym typeface="Open Sans Bold"/>
              </a:rPr>
              <a:t>4</a:t>
            </a:r>
          </a:p>
        </p:txBody>
      </p:sp>
      <p:sp>
        <p:nvSpPr>
          <p:cNvPr name="TextBox 7" id="7"/>
          <p:cNvSpPr txBox="true"/>
          <p:nvPr/>
        </p:nvSpPr>
        <p:spPr>
          <a:xfrm rot="0">
            <a:off x="3005252" y="3341370"/>
            <a:ext cx="1535049" cy="50292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hospitals</a:t>
            </a:r>
          </a:p>
        </p:txBody>
      </p:sp>
      <p:sp>
        <p:nvSpPr>
          <p:cNvPr name="TextBox 8" id="8"/>
          <p:cNvSpPr txBox="true"/>
          <p:nvPr/>
        </p:nvSpPr>
        <p:spPr>
          <a:xfrm rot="0">
            <a:off x="4894059" y="2672715"/>
            <a:ext cx="4175950" cy="744855"/>
          </a:xfrm>
          <a:prstGeom prst="rect">
            <a:avLst/>
          </a:prstGeom>
        </p:spPr>
        <p:txBody>
          <a:bodyPr anchor="t" rtlCol="false" tIns="0" lIns="0" bIns="0" rIns="0">
            <a:spAutoFit/>
          </a:bodyPr>
          <a:lstStyle/>
          <a:p>
            <a:pPr algn="l">
              <a:lnSpc>
                <a:spcPts val="5940"/>
              </a:lnSpc>
            </a:pPr>
            <a:r>
              <a:rPr lang="en-US" sz="5400" b="true">
                <a:solidFill>
                  <a:srgbClr val="D6001C"/>
                </a:solidFill>
                <a:latin typeface="Open Sans Bold"/>
                <a:ea typeface="Open Sans Bold"/>
                <a:cs typeface="Open Sans Bold"/>
                <a:sym typeface="Open Sans Bold"/>
              </a:rPr>
              <a:t>1981–1984</a:t>
            </a:r>
          </a:p>
        </p:txBody>
      </p:sp>
      <p:sp>
        <p:nvSpPr>
          <p:cNvPr name="TextBox 9" id="9"/>
          <p:cNvSpPr txBox="true"/>
          <p:nvPr/>
        </p:nvSpPr>
        <p:spPr>
          <a:xfrm rot="0">
            <a:off x="4894059" y="3341370"/>
            <a:ext cx="3584362" cy="50292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records collected</a:t>
            </a:r>
          </a:p>
        </p:txBody>
      </p:sp>
      <p:graphicFrame>
        <p:nvGraphicFramePr>
          <p:cNvPr name="Table 10" id="10"/>
          <p:cNvGraphicFramePr>
            <a:graphicFrameLocks noGrp="true"/>
          </p:cNvGraphicFramePr>
          <p:nvPr/>
        </p:nvGraphicFramePr>
        <p:xfrm>
          <a:off x="1234440" y="4202432"/>
          <a:ext cx="15811500" cy="3238500"/>
        </p:xfrm>
        <a:graphic>
          <a:graphicData uri="http://schemas.openxmlformats.org/drawingml/2006/table">
            <a:tbl>
              <a:tblPr/>
              <a:tblGrid>
                <a:gridCol w="2863445"/>
                <a:gridCol w="9142718"/>
                <a:gridCol w="3805337"/>
              </a:tblGrid>
              <a:tr h="647700">
                <a:tc>
                  <a:txBody>
                    <a:bodyPr anchor="t" rtlCol="false"/>
                    <a:lstStyle/>
                    <a:p>
                      <a:pPr algn="l">
                        <a:lnSpc>
                          <a:spcPts val="3359"/>
                        </a:lnSpc>
                        <a:defRPr/>
                      </a:pPr>
                      <a:r>
                        <a:rPr lang="en-US" sz="2400" b="true">
                          <a:solidFill>
                            <a:srgbClr val="FFFFFF"/>
                          </a:solidFill>
                          <a:latin typeface="Open Sans Bold"/>
                          <a:ea typeface="Open Sans Bold"/>
                          <a:cs typeface="Open Sans Bold"/>
                          <a:sym typeface="Open Sans Bold"/>
                        </a:rPr>
                        <a:t>Variable</a:t>
                      </a:r>
                      <a:endParaRPr lang="en-US" sz="1100"/>
                    </a:p>
                  </a:txBody>
                  <a:tcPr marL="71120" marR="71120" marT="71120" marB="71120" anchor="t">
                    <a:lnL cmpd="sng" algn="ctr" cap="flat" w="12700">
                      <a:solidFill>
                        <a:srgbClr val="CBCBCB"/>
                      </a:solidFill>
                      <a:prstDash val="solid"/>
                      <a:round/>
                      <a:headEnd type="none" w="med" len="med"/>
                      <a:tailEnd type="none" w="med" len="med"/>
                    </a:lnL>
                    <a:lnR cmpd="sng" algn="ctr" cap="flat" w="12700">
                      <a:solidFill>
                        <a:srgbClr val="AB041A"/>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AB041A"/>
                      </a:solidFill>
                      <a:prstDash val="solid"/>
                      <a:round/>
                      <a:headEnd type="none" w="med" len="med"/>
                      <a:tailEnd type="none" w="med" len="med"/>
                    </a:lnB>
                    <a:solidFill>
                      <a:srgbClr val="D6001C"/>
                    </a:solidFill>
                  </a:tcPr>
                </a:tc>
                <a:tc>
                  <a:txBody>
                    <a:bodyPr anchor="t" rtlCol="false"/>
                    <a:lstStyle/>
                    <a:p>
                      <a:pPr algn="l">
                        <a:lnSpc>
                          <a:spcPts val="3359"/>
                        </a:lnSpc>
                        <a:defRPr/>
                      </a:pPr>
                      <a:r>
                        <a:rPr lang="en-US" sz="2400" b="true">
                          <a:solidFill>
                            <a:srgbClr val="FFFFFF"/>
                          </a:solidFill>
                          <a:latin typeface="Open Sans Bold"/>
                          <a:ea typeface="Open Sans Bold"/>
                          <a:cs typeface="Open Sans Bold"/>
                          <a:sym typeface="Open Sans Bold"/>
                        </a:rPr>
                        <a:t>What it measures</a:t>
                      </a:r>
                      <a:endParaRPr lang="en-US" sz="1100"/>
                    </a:p>
                  </a:txBody>
                  <a:tcPr marL="71120" marR="71120" marT="71120" marB="71120" anchor="t">
                    <a:lnL cmpd="sng" algn="ctr" cap="flat" w="12700">
                      <a:solidFill>
                        <a:srgbClr val="AB041A"/>
                      </a:solidFill>
                      <a:prstDash val="solid"/>
                      <a:round/>
                      <a:headEnd type="none" w="med" len="med"/>
                      <a:tailEnd type="none" w="med" len="med"/>
                    </a:lnL>
                    <a:lnR cmpd="sng" algn="ctr" cap="flat" w="12700">
                      <a:solidFill>
                        <a:srgbClr val="AB041A"/>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AB041A"/>
                      </a:solidFill>
                      <a:prstDash val="solid"/>
                      <a:round/>
                      <a:headEnd type="none" w="med" len="med"/>
                      <a:tailEnd type="none" w="med" len="med"/>
                    </a:lnB>
                    <a:solidFill>
                      <a:srgbClr val="D6001C"/>
                    </a:solidFill>
                  </a:tcPr>
                </a:tc>
                <a:tc>
                  <a:txBody>
                    <a:bodyPr anchor="t" rtlCol="false"/>
                    <a:lstStyle/>
                    <a:p>
                      <a:pPr algn="l">
                        <a:lnSpc>
                          <a:spcPts val="3359"/>
                        </a:lnSpc>
                        <a:defRPr/>
                      </a:pPr>
                      <a:r>
                        <a:rPr lang="en-US" sz="2400" b="true">
                          <a:solidFill>
                            <a:srgbClr val="FFFFFF"/>
                          </a:solidFill>
                          <a:latin typeface="Open Sans Bold"/>
                          <a:ea typeface="Open Sans Bold"/>
                          <a:cs typeface="Open Sans Bold"/>
                          <a:sym typeface="Open Sans Bold"/>
                        </a:rPr>
                        <a:t>Type</a:t>
                      </a:r>
                      <a:endParaRPr lang="en-US" sz="1100"/>
                    </a:p>
                  </a:txBody>
                  <a:tcPr marL="71120" marR="71120" marT="71120" marB="71120" anchor="t">
                    <a:lnL cmpd="sng" algn="ctr" cap="flat" w="12700">
                      <a:solidFill>
                        <a:srgbClr val="AB041A"/>
                      </a:solidFill>
                      <a:prstDash val="solid"/>
                      <a:round/>
                      <a:headEnd type="none" w="med" len="med"/>
                      <a:tailEnd type="none" w="med" len="med"/>
                    </a:lnL>
                    <a:lnR cmpd="sng" algn="ctr" cap="flat" w="12700">
                      <a:solidFill>
                        <a:srgbClr val="AB041A"/>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AB041A"/>
                      </a:solidFill>
                      <a:prstDash val="solid"/>
                      <a:round/>
                      <a:headEnd type="none" w="med" len="med"/>
                      <a:tailEnd type="none" w="med" len="med"/>
                    </a:lnB>
                    <a:solidFill>
                      <a:srgbClr val="D6001C"/>
                    </a:solidFill>
                  </a:tcPr>
                </a:tc>
              </a:tr>
              <a:tr h="647700">
                <a:tc>
                  <a:txBody>
                    <a:bodyPr anchor="t" rtlCol="false"/>
                    <a:lstStyle/>
                    <a:p>
                      <a:pPr algn="l">
                        <a:lnSpc>
                          <a:spcPts val="3359"/>
                        </a:lnSpc>
                        <a:defRPr/>
                      </a:pPr>
                      <a:r>
                        <a:rPr lang="en-US" sz="2400">
                          <a:solidFill>
                            <a:srgbClr val="111111"/>
                          </a:solidFill>
                          <a:latin typeface="Open Sans"/>
                          <a:ea typeface="Open Sans"/>
                          <a:cs typeface="Open Sans"/>
                          <a:sym typeface="Open Sans"/>
                        </a:rPr>
                        <a:t>thalch</a:t>
                      </a:r>
                      <a:endParaRPr lang="en-US" sz="1100"/>
                    </a:p>
                  </a:txBody>
                  <a:tcPr marL="71120" marR="71120" marT="71120" marB="7112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AB041A"/>
                      </a:solidFill>
                      <a:prstDash val="solid"/>
                      <a:round/>
                      <a:headEnd type="none" w="med" len="med"/>
                      <a:tailEnd type="none" w="med" len="med"/>
                    </a:lnT>
                    <a:lnB cmpd="sng" algn="ctr" cap="flat" w="12700">
                      <a:solidFill>
                        <a:srgbClr val="CBCBCB"/>
                      </a:solidFill>
                      <a:prstDash val="solid"/>
                      <a:round/>
                      <a:headEnd type="none" w="med" len="med"/>
                      <a:tailEnd type="none" w="med" len="med"/>
                    </a:lnB>
                    <a:solidFill>
                      <a:srgbClr val="FFFFFF"/>
                    </a:solidFill>
                  </a:tcPr>
                </a:tc>
                <a:tc>
                  <a:txBody>
                    <a:bodyPr anchor="t" rtlCol="false"/>
                    <a:lstStyle/>
                    <a:p>
                      <a:pPr algn="l">
                        <a:lnSpc>
                          <a:spcPts val="3359"/>
                        </a:lnSpc>
                        <a:defRPr/>
                      </a:pPr>
                      <a:r>
                        <a:rPr lang="en-US" sz="2400">
                          <a:solidFill>
                            <a:srgbClr val="111111"/>
                          </a:solidFill>
                          <a:latin typeface="Open Sans"/>
                          <a:ea typeface="Open Sans"/>
                          <a:cs typeface="Open Sans"/>
                          <a:sym typeface="Open Sans"/>
                        </a:rPr>
                        <a:t>Maximum heart rate during exercise test (bpm)</a:t>
                      </a:r>
                      <a:endParaRPr lang="en-US" sz="1100"/>
                    </a:p>
                  </a:txBody>
                  <a:tcPr marL="71120" marR="71120" marT="71120" marB="7112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AB041A"/>
                      </a:solidFill>
                      <a:prstDash val="solid"/>
                      <a:round/>
                      <a:headEnd type="none" w="med" len="med"/>
                      <a:tailEnd type="none" w="med" len="med"/>
                    </a:lnT>
                    <a:lnB cmpd="sng" algn="ctr" cap="flat" w="12700">
                      <a:solidFill>
                        <a:srgbClr val="CBCBCB"/>
                      </a:solidFill>
                      <a:prstDash val="solid"/>
                      <a:round/>
                      <a:headEnd type="none" w="med" len="med"/>
                      <a:tailEnd type="none" w="med" len="med"/>
                    </a:lnB>
                    <a:solidFill>
                      <a:srgbClr val="FFFFFF"/>
                    </a:solidFill>
                  </a:tcPr>
                </a:tc>
                <a:tc>
                  <a:txBody>
                    <a:bodyPr anchor="t" rtlCol="false"/>
                    <a:lstStyle/>
                    <a:p>
                      <a:pPr algn="l">
                        <a:lnSpc>
                          <a:spcPts val="3359"/>
                        </a:lnSpc>
                        <a:defRPr/>
                      </a:pPr>
                      <a:r>
                        <a:rPr lang="en-US" sz="2400">
                          <a:solidFill>
                            <a:srgbClr val="111111"/>
                          </a:solidFill>
                          <a:latin typeface="Open Sans"/>
                          <a:ea typeface="Open Sans"/>
                          <a:cs typeface="Open Sans"/>
                          <a:sym typeface="Open Sans"/>
                        </a:rPr>
                        <a:t>Numeric</a:t>
                      </a:r>
                      <a:endParaRPr lang="en-US" sz="1100"/>
                    </a:p>
                  </a:txBody>
                  <a:tcPr marL="71120" marR="71120" marT="71120" marB="7112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AB041A"/>
                      </a:solidFill>
                      <a:prstDash val="solid"/>
                      <a:round/>
                      <a:headEnd type="none" w="med" len="med"/>
                      <a:tailEnd type="none" w="med" len="med"/>
                    </a:lnT>
                    <a:lnB cmpd="sng" algn="ctr" cap="flat" w="12700">
                      <a:solidFill>
                        <a:srgbClr val="CBCBCB"/>
                      </a:solidFill>
                      <a:prstDash val="solid"/>
                      <a:round/>
                      <a:headEnd type="none" w="med" len="med"/>
                      <a:tailEnd type="none" w="med" len="med"/>
                    </a:lnB>
                    <a:solidFill>
                      <a:srgbClr val="FFFFFF"/>
                    </a:solidFill>
                  </a:tcPr>
                </a:tc>
              </a:tr>
              <a:tr h="647700">
                <a:tc>
                  <a:txBody>
                    <a:bodyPr anchor="t" rtlCol="false"/>
                    <a:lstStyle/>
                    <a:p>
                      <a:pPr algn="l">
                        <a:lnSpc>
                          <a:spcPts val="3359"/>
                        </a:lnSpc>
                        <a:defRPr/>
                      </a:pPr>
                      <a:r>
                        <a:rPr lang="en-US" sz="2400">
                          <a:solidFill>
                            <a:srgbClr val="111111"/>
                          </a:solidFill>
                          <a:latin typeface="Open Sans"/>
                          <a:ea typeface="Open Sans"/>
                          <a:cs typeface="Open Sans"/>
                          <a:sym typeface="Open Sans"/>
                        </a:rPr>
                        <a:t>chol</a:t>
                      </a:r>
                      <a:endParaRPr lang="en-US" sz="1100"/>
                    </a:p>
                  </a:txBody>
                  <a:tcPr marL="71120" marR="71120" marT="71120" marB="71120" anchor="t">
                    <a:lnL cmpd="sng" algn="ctr" cap="flat" w="12700">
                      <a:solidFill>
                        <a:srgbClr val="CBCBCB"/>
                      </a:solidFill>
                      <a:prstDash val="solid"/>
                      <a:round/>
                      <a:headEnd type="none" w="med" len="med"/>
                      <a:tailEnd type="none" w="med" len="med"/>
                    </a:lnL>
                    <a:lnR cmpd="sng" algn="ctr" cap="flat" w="12700">
                      <a:solidFill>
                        <a:srgbClr val="C0C0BF"/>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0C0BF"/>
                      </a:solidFill>
                      <a:prstDash val="solid"/>
                      <a:round/>
                      <a:headEnd type="none" w="med" len="med"/>
                      <a:tailEnd type="none" w="med" len="med"/>
                    </a:lnB>
                    <a:solidFill>
                      <a:srgbClr val="F0F0F0"/>
                    </a:solidFill>
                  </a:tcPr>
                </a:tc>
                <a:tc>
                  <a:txBody>
                    <a:bodyPr anchor="t" rtlCol="false"/>
                    <a:lstStyle/>
                    <a:p>
                      <a:pPr algn="l">
                        <a:lnSpc>
                          <a:spcPts val="3359"/>
                        </a:lnSpc>
                        <a:defRPr/>
                      </a:pPr>
                      <a:r>
                        <a:rPr lang="en-US" sz="2400">
                          <a:solidFill>
                            <a:srgbClr val="111111"/>
                          </a:solidFill>
                          <a:latin typeface="Open Sans"/>
                          <a:ea typeface="Open Sans"/>
                          <a:cs typeface="Open Sans"/>
                          <a:sym typeface="Open Sans"/>
                        </a:rPr>
                        <a:t>Serum cholesterol (mg/dl)</a:t>
                      </a:r>
                      <a:endParaRPr lang="en-US" sz="1100"/>
                    </a:p>
                  </a:txBody>
                  <a:tcPr marL="71120" marR="71120" marT="71120" marB="71120" anchor="t">
                    <a:lnL cmpd="sng" algn="ctr" cap="flat" w="12700">
                      <a:solidFill>
                        <a:srgbClr val="C0C0BF"/>
                      </a:solidFill>
                      <a:prstDash val="solid"/>
                      <a:round/>
                      <a:headEnd type="none" w="med" len="med"/>
                      <a:tailEnd type="none" w="med" len="med"/>
                    </a:lnL>
                    <a:lnR cmpd="sng" algn="ctr" cap="flat" w="12700">
                      <a:solidFill>
                        <a:srgbClr val="C0C0BF"/>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0C0BF"/>
                      </a:solidFill>
                      <a:prstDash val="solid"/>
                      <a:round/>
                      <a:headEnd type="none" w="med" len="med"/>
                      <a:tailEnd type="none" w="med" len="med"/>
                    </a:lnB>
                    <a:solidFill>
                      <a:srgbClr val="F0F0F0"/>
                    </a:solidFill>
                  </a:tcPr>
                </a:tc>
                <a:tc>
                  <a:txBody>
                    <a:bodyPr anchor="t" rtlCol="false"/>
                    <a:lstStyle/>
                    <a:p>
                      <a:pPr algn="l">
                        <a:lnSpc>
                          <a:spcPts val="3359"/>
                        </a:lnSpc>
                        <a:defRPr/>
                      </a:pPr>
                      <a:r>
                        <a:rPr lang="en-US" sz="2400">
                          <a:solidFill>
                            <a:srgbClr val="111111"/>
                          </a:solidFill>
                          <a:latin typeface="Open Sans"/>
                          <a:ea typeface="Open Sans"/>
                          <a:cs typeface="Open Sans"/>
                          <a:sym typeface="Open Sans"/>
                        </a:rPr>
                        <a:t>Numeric</a:t>
                      </a:r>
                      <a:endParaRPr lang="en-US" sz="1100"/>
                    </a:p>
                  </a:txBody>
                  <a:tcPr marL="71120" marR="71120" marT="71120" marB="71120" anchor="t">
                    <a:lnL cmpd="sng" algn="ctr" cap="flat" w="12700">
                      <a:solidFill>
                        <a:srgbClr val="C0C0BF"/>
                      </a:solidFill>
                      <a:prstDash val="solid"/>
                      <a:round/>
                      <a:headEnd type="none" w="med" len="med"/>
                      <a:tailEnd type="none" w="med" len="med"/>
                    </a:lnL>
                    <a:lnR cmpd="sng" algn="ctr" cap="flat" w="12700">
                      <a:solidFill>
                        <a:srgbClr val="C0C0BF"/>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0C0BF"/>
                      </a:solidFill>
                      <a:prstDash val="solid"/>
                      <a:round/>
                      <a:headEnd type="none" w="med" len="med"/>
                      <a:tailEnd type="none" w="med" len="med"/>
                    </a:lnB>
                    <a:solidFill>
                      <a:srgbClr val="F0F0F0"/>
                    </a:solidFill>
                  </a:tcPr>
                </a:tc>
              </a:tr>
              <a:tr h="647700">
                <a:tc>
                  <a:txBody>
                    <a:bodyPr anchor="t" rtlCol="false"/>
                    <a:lstStyle/>
                    <a:p>
                      <a:pPr algn="l">
                        <a:lnSpc>
                          <a:spcPts val="3359"/>
                        </a:lnSpc>
                        <a:defRPr/>
                      </a:pPr>
                      <a:r>
                        <a:rPr lang="en-US" sz="2400">
                          <a:solidFill>
                            <a:srgbClr val="111111"/>
                          </a:solidFill>
                          <a:latin typeface="Open Sans"/>
                          <a:ea typeface="Open Sans"/>
                          <a:cs typeface="Open Sans"/>
                          <a:sym typeface="Open Sans"/>
                        </a:rPr>
                        <a:t>exang</a:t>
                      </a:r>
                      <a:endParaRPr lang="en-US" sz="1100"/>
                    </a:p>
                  </a:txBody>
                  <a:tcPr marL="71120" marR="71120" marT="71120" marB="7112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0C0BF"/>
                      </a:solidFill>
                      <a:prstDash val="solid"/>
                      <a:round/>
                      <a:headEnd type="none" w="med" len="med"/>
                      <a:tailEnd type="none" w="med" len="med"/>
                    </a:lnT>
                    <a:lnB cmpd="sng" algn="ctr" cap="flat" w="12700">
                      <a:solidFill>
                        <a:srgbClr val="CBCBCB"/>
                      </a:solidFill>
                      <a:prstDash val="solid"/>
                      <a:round/>
                      <a:headEnd type="none" w="med" len="med"/>
                      <a:tailEnd type="none" w="med" len="med"/>
                    </a:lnB>
                    <a:solidFill>
                      <a:srgbClr val="FFFFFF"/>
                    </a:solidFill>
                  </a:tcPr>
                </a:tc>
                <a:tc>
                  <a:txBody>
                    <a:bodyPr anchor="t" rtlCol="false"/>
                    <a:lstStyle/>
                    <a:p>
                      <a:pPr algn="l">
                        <a:lnSpc>
                          <a:spcPts val="3359"/>
                        </a:lnSpc>
                        <a:defRPr/>
                      </a:pPr>
                      <a:r>
                        <a:rPr lang="en-US" sz="2400">
                          <a:solidFill>
                            <a:srgbClr val="111111"/>
                          </a:solidFill>
                          <a:latin typeface="Open Sans"/>
                          <a:ea typeface="Open Sans"/>
                          <a:cs typeface="Open Sans"/>
                          <a:sym typeface="Open Sans"/>
                        </a:rPr>
                        <a:t>Exercise-induced angina (True or False)</a:t>
                      </a:r>
                      <a:endParaRPr lang="en-US" sz="1100"/>
                    </a:p>
                  </a:txBody>
                  <a:tcPr marL="71120" marR="71120" marT="71120" marB="7112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0C0BF"/>
                      </a:solidFill>
                      <a:prstDash val="solid"/>
                      <a:round/>
                      <a:headEnd type="none" w="med" len="med"/>
                      <a:tailEnd type="none" w="med" len="med"/>
                    </a:lnT>
                    <a:lnB cmpd="sng" algn="ctr" cap="flat" w="12700">
                      <a:solidFill>
                        <a:srgbClr val="CBCBCB"/>
                      </a:solidFill>
                      <a:prstDash val="solid"/>
                      <a:round/>
                      <a:headEnd type="none" w="med" len="med"/>
                      <a:tailEnd type="none" w="med" len="med"/>
                    </a:lnB>
                    <a:solidFill>
                      <a:srgbClr val="FFFFFF"/>
                    </a:solidFill>
                  </a:tcPr>
                </a:tc>
                <a:tc>
                  <a:txBody>
                    <a:bodyPr anchor="t" rtlCol="false"/>
                    <a:lstStyle/>
                    <a:p>
                      <a:pPr algn="l">
                        <a:lnSpc>
                          <a:spcPts val="3359"/>
                        </a:lnSpc>
                        <a:defRPr/>
                      </a:pPr>
                      <a:r>
                        <a:rPr lang="en-US" sz="2400">
                          <a:solidFill>
                            <a:srgbClr val="111111"/>
                          </a:solidFill>
                          <a:latin typeface="Open Sans"/>
                          <a:ea typeface="Open Sans"/>
                          <a:cs typeface="Open Sans"/>
                          <a:sym typeface="Open Sans"/>
                        </a:rPr>
                        <a:t>Categorical</a:t>
                      </a:r>
                      <a:endParaRPr lang="en-US" sz="1100"/>
                    </a:p>
                  </a:txBody>
                  <a:tcPr marL="71120" marR="71120" marT="71120" marB="7112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0C0BF"/>
                      </a:solidFill>
                      <a:prstDash val="solid"/>
                      <a:round/>
                      <a:headEnd type="none" w="med" len="med"/>
                      <a:tailEnd type="none" w="med" len="med"/>
                    </a:lnT>
                    <a:lnB cmpd="sng" algn="ctr" cap="flat" w="12700">
                      <a:solidFill>
                        <a:srgbClr val="CBCBCB"/>
                      </a:solidFill>
                      <a:prstDash val="solid"/>
                      <a:round/>
                      <a:headEnd type="none" w="med" len="med"/>
                      <a:tailEnd type="none" w="med" len="med"/>
                    </a:lnB>
                    <a:solidFill>
                      <a:srgbClr val="FFFFFF"/>
                    </a:solidFill>
                  </a:tcPr>
                </a:tc>
              </a:tr>
              <a:tr h="647700">
                <a:tc>
                  <a:txBody>
                    <a:bodyPr anchor="t" rtlCol="false"/>
                    <a:lstStyle/>
                    <a:p>
                      <a:pPr algn="l">
                        <a:lnSpc>
                          <a:spcPts val="3359"/>
                        </a:lnSpc>
                        <a:defRPr/>
                      </a:pPr>
                      <a:r>
                        <a:rPr lang="en-US" sz="2400">
                          <a:solidFill>
                            <a:srgbClr val="111111"/>
                          </a:solidFill>
                          <a:latin typeface="Open Sans"/>
                          <a:ea typeface="Open Sans"/>
                          <a:cs typeface="Open Sans"/>
                          <a:sym typeface="Open Sans"/>
                        </a:rPr>
                        <a:t>diseased</a:t>
                      </a:r>
                      <a:endParaRPr lang="en-US" sz="1100"/>
                    </a:p>
                  </a:txBody>
                  <a:tcPr marL="71120" marR="71120" marT="71120" marB="71120" anchor="t">
                    <a:lnL cmpd="sng" algn="ctr" cap="flat" w="12700">
                      <a:solidFill>
                        <a:srgbClr val="CBCBCB"/>
                      </a:solidFill>
                      <a:prstDash val="solid"/>
                      <a:round/>
                      <a:headEnd type="none" w="med" len="med"/>
                      <a:tailEnd type="none" w="med" len="med"/>
                    </a:lnL>
                    <a:lnR cmpd="sng" algn="ctr" cap="flat" w="12700">
                      <a:solidFill>
                        <a:srgbClr val="C0C0BF"/>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0C0BF"/>
                      </a:solidFill>
                      <a:prstDash val="solid"/>
                      <a:round/>
                      <a:headEnd type="none" w="med" len="med"/>
                      <a:tailEnd type="none" w="med" len="med"/>
                    </a:lnB>
                    <a:solidFill>
                      <a:srgbClr val="F0F0F0"/>
                    </a:solidFill>
                  </a:tcPr>
                </a:tc>
                <a:tc>
                  <a:txBody>
                    <a:bodyPr anchor="t" rtlCol="false"/>
                    <a:lstStyle/>
                    <a:p>
                      <a:pPr algn="l">
                        <a:lnSpc>
                          <a:spcPts val="3359"/>
                        </a:lnSpc>
                        <a:defRPr/>
                      </a:pPr>
                      <a:r>
                        <a:rPr lang="en-US" sz="2400">
                          <a:solidFill>
                            <a:srgbClr val="111111"/>
                          </a:solidFill>
                          <a:latin typeface="Open Sans"/>
                          <a:ea typeface="Open Sans"/>
                          <a:cs typeface="Open Sans"/>
                          <a:sym typeface="Open Sans"/>
                        </a:rPr>
                        <a:t>Heart disease present (1) or absent (0)</a:t>
                      </a:r>
                      <a:endParaRPr lang="en-US" sz="1100"/>
                    </a:p>
                  </a:txBody>
                  <a:tcPr marL="71120" marR="71120" marT="71120" marB="71120" anchor="t">
                    <a:lnL cmpd="sng" algn="ctr" cap="flat" w="12700">
                      <a:solidFill>
                        <a:srgbClr val="C0C0BF"/>
                      </a:solidFill>
                      <a:prstDash val="solid"/>
                      <a:round/>
                      <a:headEnd type="none" w="med" len="med"/>
                      <a:tailEnd type="none" w="med" len="med"/>
                    </a:lnL>
                    <a:lnR cmpd="sng" algn="ctr" cap="flat" w="12700">
                      <a:solidFill>
                        <a:srgbClr val="C0C0BF"/>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0C0BF"/>
                      </a:solidFill>
                      <a:prstDash val="solid"/>
                      <a:round/>
                      <a:headEnd type="none" w="med" len="med"/>
                      <a:tailEnd type="none" w="med" len="med"/>
                    </a:lnB>
                    <a:solidFill>
                      <a:srgbClr val="F0F0F0"/>
                    </a:solidFill>
                  </a:tcPr>
                </a:tc>
                <a:tc>
                  <a:txBody>
                    <a:bodyPr anchor="t" rtlCol="false"/>
                    <a:lstStyle/>
                    <a:p>
                      <a:pPr algn="l">
                        <a:lnSpc>
                          <a:spcPts val="3359"/>
                        </a:lnSpc>
                        <a:defRPr/>
                      </a:pPr>
                      <a:r>
                        <a:rPr lang="en-US" sz="2400">
                          <a:solidFill>
                            <a:srgbClr val="111111"/>
                          </a:solidFill>
                          <a:latin typeface="Open Sans"/>
                          <a:ea typeface="Open Sans"/>
                          <a:cs typeface="Open Sans"/>
                          <a:sym typeface="Open Sans"/>
                        </a:rPr>
                        <a:t>Binary target</a:t>
                      </a:r>
                      <a:endParaRPr lang="en-US" sz="1100"/>
                    </a:p>
                  </a:txBody>
                  <a:tcPr marL="71120" marR="71120" marT="71120" marB="71120" anchor="t">
                    <a:lnL cmpd="sng" algn="ctr" cap="flat" w="12700">
                      <a:solidFill>
                        <a:srgbClr val="C0C0BF"/>
                      </a:solidFill>
                      <a:prstDash val="solid"/>
                      <a:round/>
                      <a:headEnd type="none" w="med" len="med"/>
                      <a:tailEnd type="none" w="med" len="med"/>
                    </a:lnL>
                    <a:lnR cmpd="sng" algn="ctr" cap="flat" w="12700">
                      <a:solidFill>
                        <a:srgbClr val="C0C0BF"/>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0C0BF"/>
                      </a:solidFill>
                      <a:prstDash val="solid"/>
                      <a:round/>
                      <a:headEnd type="none" w="med" len="med"/>
                      <a:tailEnd type="none" w="med" len="med"/>
                    </a:lnB>
                    <a:solidFill>
                      <a:srgbClr val="F0F0F0"/>
                    </a:solidFill>
                  </a:tcPr>
                </a:tc>
              </a:tr>
            </a:tbl>
          </a:graphicData>
        </a:graphic>
      </p:graphicFrame>
      <p:sp>
        <p:nvSpPr>
          <p:cNvPr name="TextBox 11" id="11"/>
          <p:cNvSpPr txBox="true"/>
          <p:nvPr/>
        </p:nvSpPr>
        <p:spPr>
          <a:xfrm rot="0">
            <a:off x="1219200" y="9328785"/>
            <a:ext cx="13735050" cy="386715"/>
          </a:xfrm>
          <a:prstGeom prst="rect">
            <a:avLst/>
          </a:prstGeom>
        </p:spPr>
        <p:txBody>
          <a:bodyPr anchor="t" rtlCol="false" tIns="0" lIns="0" bIns="0" rIns="0">
            <a:spAutoFit/>
          </a:bodyPr>
          <a:lstStyle/>
          <a:p>
            <a:pPr algn="l">
              <a:lnSpc>
                <a:spcPts val="2520"/>
              </a:lnSpc>
            </a:pPr>
            <a:r>
              <a:rPr lang="en-US" sz="1800">
                <a:solidFill>
                  <a:srgbClr val="4D4D4D"/>
                </a:solidFill>
                <a:latin typeface="Open Sans"/>
                <a:ea typeface="Open Sans"/>
                <a:cs typeface="Open Sans"/>
                <a:sym typeface="Open Sans"/>
              </a:rPr>
              <a:t>Source: Janosi et al. (1989), UCI Machine Learning Repository, via Kaggle</a:t>
            </a:r>
          </a:p>
        </p:txBody>
      </p:sp>
      <p:sp>
        <p:nvSpPr>
          <p:cNvPr name="TextBox 12" id="12"/>
          <p:cNvSpPr txBox="true"/>
          <p:nvPr/>
        </p:nvSpPr>
        <p:spPr>
          <a:xfrm rot="0">
            <a:off x="15087600" y="9328785"/>
            <a:ext cx="1981200" cy="386715"/>
          </a:xfrm>
          <a:prstGeom prst="rect">
            <a:avLst/>
          </a:prstGeom>
        </p:spPr>
        <p:txBody>
          <a:bodyPr anchor="t" rtlCol="false" tIns="0" lIns="0" bIns="0" rIns="0">
            <a:spAutoFit/>
          </a:bodyPr>
          <a:lstStyle/>
          <a:p>
            <a:pPr algn="r">
              <a:lnSpc>
                <a:spcPts val="2520"/>
              </a:lnSpc>
            </a:pPr>
            <a:r>
              <a:rPr lang="en-US" sz="1800">
                <a:solidFill>
                  <a:srgbClr val="4D4D4D"/>
                </a:solidFill>
                <a:latin typeface="Open Sans"/>
                <a:ea typeface="Open Sans"/>
                <a:cs typeface="Open Sans"/>
                <a:sym typeface="Open Sans"/>
              </a:rPr>
              <a:t>4</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0F0F0"/>
        </a:solidFill>
      </p:bgPr>
    </p:bg>
    <p:spTree>
      <p:nvGrpSpPr>
        <p:cNvPr id="1" name=""/>
        <p:cNvGrpSpPr/>
        <p:nvPr/>
      </p:nvGrpSpPr>
      <p:grpSpPr>
        <a:xfrm>
          <a:off x="0" y="0"/>
          <a:ext cx="0" cy="0"/>
          <a:chOff x="0" y="0"/>
          <a:chExt cx="0" cy="0"/>
        </a:xfrm>
      </p:grpSpPr>
      <p:sp>
        <p:nvSpPr>
          <p:cNvPr name="TextBox 2" id="2"/>
          <p:cNvSpPr txBox="true"/>
          <p:nvPr/>
        </p:nvSpPr>
        <p:spPr>
          <a:xfrm rot="0">
            <a:off x="1219200" y="1190625"/>
            <a:ext cx="16325088" cy="386715"/>
          </a:xfrm>
          <a:prstGeom prst="rect">
            <a:avLst/>
          </a:prstGeom>
        </p:spPr>
        <p:txBody>
          <a:bodyPr anchor="t" rtlCol="false" tIns="0" lIns="0" bIns="0" rIns="0">
            <a:spAutoFit/>
          </a:bodyPr>
          <a:lstStyle/>
          <a:p>
            <a:pPr algn="l">
              <a:lnSpc>
                <a:spcPts val="2520"/>
              </a:lnSpc>
            </a:pPr>
            <a:r>
              <a:rPr lang="en-US" b="true" sz="1800" spc="149">
                <a:solidFill>
                  <a:srgbClr val="D6001C"/>
                </a:solidFill>
                <a:latin typeface="Open Sans Bold"/>
                <a:ea typeface="Open Sans Bold"/>
                <a:cs typeface="Open Sans Bold"/>
                <a:sym typeface="Open Sans Bold"/>
              </a:rPr>
              <a:t>DATA CLEANING</a:t>
            </a:r>
          </a:p>
        </p:txBody>
      </p:sp>
      <p:sp>
        <p:nvSpPr>
          <p:cNvPr name="TextBox 3" id="3"/>
          <p:cNvSpPr txBox="true"/>
          <p:nvPr/>
        </p:nvSpPr>
        <p:spPr>
          <a:xfrm rot="0">
            <a:off x="1219200" y="1663065"/>
            <a:ext cx="16325088" cy="619125"/>
          </a:xfrm>
          <a:prstGeom prst="rect">
            <a:avLst/>
          </a:prstGeom>
        </p:spPr>
        <p:txBody>
          <a:bodyPr anchor="t" rtlCol="false" tIns="0" lIns="0" bIns="0" rIns="0">
            <a:spAutoFit/>
          </a:bodyPr>
          <a:lstStyle/>
          <a:p>
            <a:pPr algn="l">
              <a:lnSpc>
                <a:spcPts val="4950"/>
              </a:lnSpc>
            </a:pPr>
            <a:r>
              <a:rPr lang="en-US" sz="4500" b="true">
                <a:solidFill>
                  <a:srgbClr val="111111"/>
                </a:solidFill>
                <a:latin typeface="Open Sans Bold"/>
                <a:ea typeface="Open Sans Bold"/>
                <a:cs typeface="Open Sans Bold"/>
                <a:sym typeface="Open Sans Bold"/>
              </a:rPr>
              <a:t>Three changes before analysis</a:t>
            </a:r>
          </a:p>
        </p:txBody>
      </p:sp>
      <p:grpSp>
        <p:nvGrpSpPr>
          <p:cNvPr name="Group 4" id="4"/>
          <p:cNvGrpSpPr/>
          <p:nvPr/>
        </p:nvGrpSpPr>
        <p:grpSpPr>
          <a:xfrm rot="0">
            <a:off x="1219200" y="2625090"/>
            <a:ext cx="5079921" cy="3977640"/>
            <a:chOff x="0" y="0"/>
            <a:chExt cx="6773228" cy="5303520"/>
          </a:xfrm>
        </p:grpSpPr>
        <p:sp>
          <p:nvSpPr>
            <p:cNvPr name="Freeform 5" id="5"/>
            <p:cNvSpPr/>
            <p:nvPr/>
          </p:nvSpPr>
          <p:spPr>
            <a:xfrm flipH="false" flipV="false" rot="0">
              <a:off x="0" y="0"/>
              <a:ext cx="6773164" cy="5303520"/>
            </a:xfrm>
            <a:custGeom>
              <a:avLst/>
              <a:gdLst/>
              <a:ahLst/>
              <a:cxnLst/>
              <a:rect r="r" b="b" t="t" l="l"/>
              <a:pathLst>
                <a:path h="5303520" w="6773164">
                  <a:moveTo>
                    <a:pt x="0" y="191389"/>
                  </a:moveTo>
                  <a:cubicBezTo>
                    <a:pt x="0" y="85725"/>
                    <a:pt x="85725" y="0"/>
                    <a:pt x="191389" y="0"/>
                  </a:cubicBezTo>
                  <a:lnTo>
                    <a:pt x="6581775" y="0"/>
                  </a:lnTo>
                  <a:cubicBezTo>
                    <a:pt x="6687439" y="0"/>
                    <a:pt x="6773164" y="85725"/>
                    <a:pt x="6773164" y="191389"/>
                  </a:cubicBezTo>
                  <a:lnTo>
                    <a:pt x="6773164" y="5112131"/>
                  </a:lnTo>
                  <a:cubicBezTo>
                    <a:pt x="6773164" y="5217795"/>
                    <a:pt x="6687439" y="5303520"/>
                    <a:pt x="6581775" y="5303520"/>
                  </a:cubicBezTo>
                  <a:lnTo>
                    <a:pt x="191389" y="5303520"/>
                  </a:lnTo>
                  <a:cubicBezTo>
                    <a:pt x="85725" y="5303520"/>
                    <a:pt x="0" y="5217795"/>
                    <a:pt x="0" y="5112131"/>
                  </a:cubicBezTo>
                  <a:close/>
                </a:path>
              </a:pathLst>
            </a:custGeom>
            <a:solidFill>
              <a:srgbClr val="FFFFFF"/>
            </a:solidFill>
            <a:ln w="19050" cap="sq">
              <a:solidFill>
                <a:srgbClr val="CFCFCF"/>
              </a:solidFill>
              <a:prstDash val="solid"/>
              <a:miter/>
            </a:ln>
          </p:spPr>
        </p:sp>
      </p:grpSp>
      <p:sp>
        <p:nvSpPr>
          <p:cNvPr name="TextBox 6" id="6"/>
          <p:cNvSpPr txBox="true"/>
          <p:nvPr/>
        </p:nvSpPr>
        <p:spPr>
          <a:xfrm rot="0">
            <a:off x="1615440" y="2992755"/>
            <a:ext cx="4416066" cy="386715"/>
          </a:xfrm>
          <a:prstGeom prst="rect">
            <a:avLst/>
          </a:prstGeom>
        </p:spPr>
        <p:txBody>
          <a:bodyPr anchor="t" rtlCol="false" tIns="0" lIns="0" bIns="0" rIns="0">
            <a:spAutoFit/>
          </a:bodyPr>
          <a:lstStyle/>
          <a:p>
            <a:pPr algn="l">
              <a:lnSpc>
                <a:spcPts val="2520"/>
              </a:lnSpc>
            </a:pPr>
            <a:r>
              <a:rPr lang="en-US" sz="1800" b="true">
                <a:solidFill>
                  <a:srgbClr val="D6001C"/>
                </a:solidFill>
                <a:latin typeface="Open Sans Bold"/>
                <a:ea typeface="Open Sans Bold"/>
                <a:cs typeface="Open Sans Bold"/>
                <a:sym typeface="Open Sans Bold"/>
              </a:rPr>
              <a:t>Step 1</a:t>
            </a:r>
          </a:p>
        </p:txBody>
      </p:sp>
      <p:sp>
        <p:nvSpPr>
          <p:cNvPr name="TextBox 7" id="7"/>
          <p:cNvSpPr txBox="true"/>
          <p:nvPr/>
        </p:nvSpPr>
        <p:spPr>
          <a:xfrm rot="0">
            <a:off x="1615440" y="3417570"/>
            <a:ext cx="4416066" cy="1043940"/>
          </a:xfrm>
          <a:prstGeom prst="rect">
            <a:avLst/>
          </a:prstGeom>
        </p:spPr>
        <p:txBody>
          <a:bodyPr anchor="t" rtlCol="false" tIns="0" lIns="0" bIns="0" rIns="0">
            <a:spAutoFit/>
          </a:bodyPr>
          <a:lstStyle/>
          <a:p>
            <a:pPr algn="l">
              <a:lnSpc>
                <a:spcPts val="3960"/>
              </a:lnSpc>
            </a:pPr>
            <a:r>
              <a:rPr lang="en-US" sz="3300" b="true">
                <a:solidFill>
                  <a:srgbClr val="111111"/>
                </a:solidFill>
                <a:latin typeface="Open Sans Bold"/>
                <a:ea typeface="Open Sans Bold"/>
                <a:cs typeface="Open Sans Bold"/>
                <a:sym typeface="Open Sans Bold"/>
              </a:rPr>
              <a:t>Fix impossible values</a:t>
            </a:r>
          </a:p>
        </p:txBody>
      </p:sp>
      <p:sp>
        <p:nvSpPr>
          <p:cNvPr name="TextBox 8" id="8"/>
          <p:cNvSpPr txBox="true"/>
          <p:nvPr/>
        </p:nvSpPr>
        <p:spPr>
          <a:xfrm rot="0">
            <a:off x="1615440" y="4461510"/>
            <a:ext cx="4416066" cy="178308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A cholesterol or resting blood pressure of 0 is impossible in a living patient, so we set it to NA.</a:t>
            </a:r>
          </a:p>
        </p:txBody>
      </p:sp>
      <p:grpSp>
        <p:nvGrpSpPr>
          <p:cNvPr name="Group 9" id="9"/>
          <p:cNvGrpSpPr/>
          <p:nvPr/>
        </p:nvGrpSpPr>
        <p:grpSpPr>
          <a:xfrm rot="0">
            <a:off x="6603921" y="2625090"/>
            <a:ext cx="5080035" cy="3977640"/>
            <a:chOff x="0" y="0"/>
            <a:chExt cx="6773380" cy="5303520"/>
          </a:xfrm>
        </p:grpSpPr>
        <p:sp>
          <p:nvSpPr>
            <p:cNvPr name="Freeform 10" id="10"/>
            <p:cNvSpPr/>
            <p:nvPr/>
          </p:nvSpPr>
          <p:spPr>
            <a:xfrm flipH="false" flipV="false" rot="0">
              <a:off x="0" y="0"/>
              <a:ext cx="6773418" cy="5303520"/>
            </a:xfrm>
            <a:custGeom>
              <a:avLst/>
              <a:gdLst/>
              <a:ahLst/>
              <a:cxnLst/>
              <a:rect r="r" b="b" t="t" l="l"/>
              <a:pathLst>
                <a:path h="5303520" w="6773418">
                  <a:moveTo>
                    <a:pt x="0" y="191389"/>
                  </a:moveTo>
                  <a:cubicBezTo>
                    <a:pt x="0" y="85725"/>
                    <a:pt x="85725" y="0"/>
                    <a:pt x="191389" y="0"/>
                  </a:cubicBezTo>
                  <a:lnTo>
                    <a:pt x="6582029" y="0"/>
                  </a:lnTo>
                  <a:cubicBezTo>
                    <a:pt x="6687693" y="0"/>
                    <a:pt x="6773418" y="85725"/>
                    <a:pt x="6773418" y="191389"/>
                  </a:cubicBezTo>
                  <a:lnTo>
                    <a:pt x="6773418" y="5112131"/>
                  </a:lnTo>
                  <a:cubicBezTo>
                    <a:pt x="6773418" y="5217795"/>
                    <a:pt x="6687693" y="5303520"/>
                    <a:pt x="6582029" y="5303520"/>
                  </a:cubicBezTo>
                  <a:lnTo>
                    <a:pt x="191389" y="5303520"/>
                  </a:lnTo>
                  <a:cubicBezTo>
                    <a:pt x="85725" y="5303520"/>
                    <a:pt x="0" y="5217795"/>
                    <a:pt x="0" y="5112131"/>
                  </a:cubicBezTo>
                  <a:close/>
                </a:path>
              </a:pathLst>
            </a:custGeom>
            <a:solidFill>
              <a:srgbClr val="FFFFFF"/>
            </a:solidFill>
            <a:ln w="19050" cap="sq">
              <a:solidFill>
                <a:srgbClr val="CFCFCF"/>
              </a:solidFill>
              <a:prstDash val="solid"/>
              <a:miter/>
            </a:ln>
          </p:spPr>
        </p:sp>
      </p:grpSp>
      <p:sp>
        <p:nvSpPr>
          <p:cNvPr name="TextBox 11" id="11"/>
          <p:cNvSpPr txBox="true"/>
          <p:nvPr/>
        </p:nvSpPr>
        <p:spPr>
          <a:xfrm rot="0">
            <a:off x="7000161" y="2992755"/>
            <a:ext cx="4416190" cy="386715"/>
          </a:xfrm>
          <a:prstGeom prst="rect">
            <a:avLst/>
          </a:prstGeom>
        </p:spPr>
        <p:txBody>
          <a:bodyPr anchor="t" rtlCol="false" tIns="0" lIns="0" bIns="0" rIns="0">
            <a:spAutoFit/>
          </a:bodyPr>
          <a:lstStyle/>
          <a:p>
            <a:pPr algn="l">
              <a:lnSpc>
                <a:spcPts val="2520"/>
              </a:lnSpc>
            </a:pPr>
            <a:r>
              <a:rPr lang="en-US" sz="1800" b="true">
                <a:solidFill>
                  <a:srgbClr val="D6001C"/>
                </a:solidFill>
                <a:latin typeface="Open Sans Bold"/>
                <a:ea typeface="Open Sans Bold"/>
                <a:cs typeface="Open Sans Bold"/>
                <a:sym typeface="Open Sans Bold"/>
              </a:rPr>
              <a:t>Step 2</a:t>
            </a:r>
          </a:p>
        </p:txBody>
      </p:sp>
      <p:sp>
        <p:nvSpPr>
          <p:cNvPr name="TextBox 12" id="12"/>
          <p:cNvSpPr txBox="true"/>
          <p:nvPr/>
        </p:nvSpPr>
        <p:spPr>
          <a:xfrm rot="0">
            <a:off x="7000161" y="3417570"/>
            <a:ext cx="4416190" cy="1043940"/>
          </a:xfrm>
          <a:prstGeom prst="rect">
            <a:avLst/>
          </a:prstGeom>
        </p:spPr>
        <p:txBody>
          <a:bodyPr anchor="t" rtlCol="false" tIns="0" lIns="0" bIns="0" rIns="0">
            <a:spAutoFit/>
          </a:bodyPr>
          <a:lstStyle/>
          <a:p>
            <a:pPr algn="l">
              <a:lnSpc>
                <a:spcPts val="3960"/>
              </a:lnSpc>
            </a:pPr>
            <a:r>
              <a:rPr lang="en-US" sz="3300" b="true">
                <a:solidFill>
                  <a:srgbClr val="111111"/>
                </a:solidFill>
                <a:latin typeface="Open Sans Bold"/>
                <a:ea typeface="Open Sans Bold"/>
                <a:cs typeface="Open Sans Bold"/>
                <a:sym typeface="Open Sans Bold"/>
              </a:rPr>
              <a:t>Create a disease indicator</a:t>
            </a:r>
          </a:p>
        </p:txBody>
      </p:sp>
      <p:sp>
        <p:nvSpPr>
          <p:cNvPr name="TextBox 13" id="13"/>
          <p:cNvSpPr txBox="true"/>
          <p:nvPr/>
        </p:nvSpPr>
        <p:spPr>
          <a:xfrm rot="0">
            <a:off x="7000161" y="4461510"/>
            <a:ext cx="4416190" cy="178308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num runs from 0 to 4. The new variable diseased is 1 when num is above 0, otherwise 0.</a:t>
            </a:r>
          </a:p>
        </p:txBody>
      </p:sp>
      <p:grpSp>
        <p:nvGrpSpPr>
          <p:cNvPr name="Group 14" id="14"/>
          <p:cNvGrpSpPr/>
          <p:nvPr/>
        </p:nvGrpSpPr>
        <p:grpSpPr>
          <a:xfrm rot="0">
            <a:off x="11988765" y="2625090"/>
            <a:ext cx="5080035" cy="3977640"/>
            <a:chOff x="0" y="0"/>
            <a:chExt cx="6773380" cy="5303520"/>
          </a:xfrm>
        </p:grpSpPr>
        <p:sp>
          <p:nvSpPr>
            <p:cNvPr name="Freeform 15" id="15"/>
            <p:cNvSpPr/>
            <p:nvPr/>
          </p:nvSpPr>
          <p:spPr>
            <a:xfrm flipH="false" flipV="false" rot="0">
              <a:off x="0" y="0"/>
              <a:ext cx="6773418" cy="5303520"/>
            </a:xfrm>
            <a:custGeom>
              <a:avLst/>
              <a:gdLst/>
              <a:ahLst/>
              <a:cxnLst/>
              <a:rect r="r" b="b" t="t" l="l"/>
              <a:pathLst>
                <a:path h="5303520" w="6773418">
                  <a:moveTo>
                    <a:pt x="0" y="191389"/>
                  </a:moveTo>
                  <a:cubicBezTo>
                    <a:pt x="0" y="85725"/>
                    <a:pt x="85725" y="0"/>
                    <a:pt x="191389" y="0"/>
                  </a:cubicBezTo>
                  <a:lnTo>
                    <a:pt x="6582029" y="0"/>
                  </a:lnTo>
                  <a:cubicBezTo>
                    <a:pt x="6687693" y="0"/>
                    <a:pt x="6773418" y="85725"/>
                    <a:pt x="6773418" y="191389"/>
                  </a:cubicBezTo>
                  <a:lnTo>
                    <a:pt x="6773418" y="5112131"/>
                  </a:lnTo>
                  <a:cubicBezTo>
                    <a:pt x="6773418" y="5217795"/>
                    <a:pt x="6687693" y="5303520"/>
                    <a:pt x="6582029" y="5303520"/>
                  </a:cubicBezTo>
                  <a:lnTo>
                    <a:pt x="191389" y="5303520"/>
                  </a:lnTo>
                  <a:cubicBezTo>
                    <a:pt x="85725" y="5303520"/>
                    <a:pt x="0" y="5217795"/>
                    <a:pt x="0" y="5112131"/>
                  </a:cubicBezTo>
                  <a:close/>
                </a:path>
              </a:pathLst>
            </a:custGeom>
            <a:solidFill>
              <a:srgbClr val="FFFFFF"/>
            </a:solidFill>
            <a:ln w="19050" cap="sq">
              <a:solidFill>
                <a:srgbClr val="CFCFCF"/>
              </a:solidFill>
              <a:prstDash val="solid"/>
              <a:miter/>
            </a:ln>
          </p:spPr>
        </p:sp>
      </p:grpSp>
      <p:sp>
        <p:nvSpPr>
          <p:cNvPr name="TextBox 16" id="16"/>
          <p:cNvSpPr txBox="true"/>
          <p:nvPr/>
        </p:nvSpPr>
        <p:spPr>
          <a:xfrm rot="0">
            <a:off x="12385005" y="2992755"/>
            <a:ext cx="4416190" cy="386715"/>
          </a:xfrm>
          <a:prstGeom prst="rect">
            <a:avLst/>
          </a:prstGeom>
        </p:spPr>
        <p:txBody>
          <a:bodyPr anchor="t" rtlCol="false" tIns="0" lIns="0" bIns="0" rIns="0">
            <a:spAutoFit/>
          </a:bodyPr>
          <a:lstStyle/>
          <a:p>
            <a:pPr algn="l">
              <a:lnSpc>
                <a:spcPts val="2520"/>
              </a:lnSpc>
            </a:pPr>
            <a:r>
              <a:rPr lang="en-US" sz="1800" b="true">
                <a:solidFill>
                  <a:srgbClr val="D6001C"/>
                </a:solidFill>
                <a:latin typeface="Open Sans Bold"/>
                <a:ea typeface="Open Sans Bold"/>
                <a:cs typeface="Open Sans Bold"/>
                <a:sym typeface="Open Sans Bold"/>
              </a:rPr>
              <a:t>Step 3</a:t>
            </a:r>
          </a:p>
        </p:txBody>
      </p:sp>
      <p:sp>
        <p:nvSpPr>
          <p:cNvPr name="TextBox 17" id="17"/>
          <p:cNvSpPr txBox="true"/>
          <p:nvPr/>
        </p:nvSpPr>
        <p:spPr>
          <a:xfrm rot="0">
            <a:off x="12385005" y="3417570"/>
            <a:ext cx="4416190" cy="541020"/>
          </a:xfrm>
          <a:prstGeom prst="rect">
            <a:avLst/>
          </a:prstGeom>
        </p:spPr>
        <p:txBody>
          <a:bodyPr anchor="t" rtlCol="false" tIns="0" lIns="0" bIns="0" rIns="0">
            <a:spAutoFit/>
          </a:bodyPr>
          <a:lstStyle/>
          <a:p>
            <a:pPr algn="l">
              <a:lnSpc>
                <a:spcPts val="3960"/>
              </a:lnSpc>
            </a:pPr>
            <a:r>
              <a:rPr lang="en-US" sz="3300" b="true">
                <a:solidFill>
                  <a:srgbClr val="111111"/>
                </a:solidFill>
                <a:latin typeface="Open Sans Bold"/>
                <a:ea typeface="Open Sans Bold"/>
                <a:cs typeface="Open Sans Bold"/>
                <a:sym typeface="Open Sans Bold"/>
              </a:rPr>
              <a:t>Rename a variable</a:t>
            </a:r>
          </a:p>
        </p:txBody>
      </p:sp>
      <p:sp>
        <p:nvSpPr>
          <p:cNvPr name="TextBox 18" id="18"/>
          <p:cNvSpPr txBox="true"/>
          <p:nvPr/>
        </p:nvSpPr>
        <p:spPr>
          <a:xfrm rot="0">
            <a:off x="12385005" y="3958590"/>
            <a:ext cx="4416190" cy="135636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The column dataset became origin, because it shows each patient's hospital.</a:t>
            </a:r>
          </a:p>
        </p:txBody>
      </p:sp>
      <p:sp>
        <p:nvSpPr>
          <p:cNvPr name="TextBox 19" id="19"/>
          <p:cNvSpPr txBox="true"/>
          <p:nvPr/>
        </p:nvSpPr>
        <p:spPr>
          <a:xfrm rot="0">
            <a:off x="1219200" y="6945630"/>
            <a:ext cx="16325088" cy="50292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Missing values are excluded from each analysis separately.</a:t>
            </a:r>
          </a:p>
        </p:txBody>
      </p:sp>
      <p:sp>
        <p:nvSpPr>
          <p:cNvPr name="TextBox 20" id="20"/>
          <p:cNvSpPr txBox="true"/>
          <p:nvPr/>
        </p:nvSpPr>
        <p:spPr>
          <a:xfrm rot="0">
            <a:off x="1219200" y="9328785"/>
            <a:ext cx="11772900" cy="386715"/>
          </a:xfrm>
          <a:prstGeom prst="rect">
            <a:avLst/>
          </a:prstGeom>
        </p:spPr>
        <p:txBody>
          <a:bodyPr anchor="t" rtlCol="false" tIns="0" lIns="0" bIns="0" rIns="0">
            <a:spAutoFit/>
          </a:bodyPr>
          <a:lstStyle/>
          <a:p>
            <a:pPr algn="l">
              <a:lnSpc>
                <a:spcPts val="2520"/>
              </a:lnSpc>
            </a:pPr>
            <a:r>
              <a:rPr lang="en-US" sz="1800">
                <a:solidFill>
                  <a:srgbClr val="4D4D4D"/>
                </a:solidFill>
                <a:latin typeface="Open Sans"/>
                <a:ea typeface="Open Sans"/>
                <a:cs typeface="Open Sans"/>
                <a:sym typeface="Open Sans"/>
              </a:rPr>
              <a:t>DATA 602 · Detecting Heart Disease</a:t>
            </a:r>
          </a:p>
        </p:txBody>
      </p:sp>
      <p:sp>
        <p:nvSpPr>
          <p:cNvPr name="TextBox 21" id="21"/>
          <p:cNvSpPr txBox="true"/>
          <p:nvPr/>
        </p:nvSpPr>
        <p:spPr>
          <a:xfrm rot="0">
            <a:off x="15087600" y="9328785"/>
            <a:ext cx="1981200" cy="386715"/>
          </a:xfrm>
          <a:prstGeom prst="rect">
            <a:avLst/>
          </a:prstGeom>
        </p:spPr>
        <p:txBody>
          <a:bodyPr anchor="t" rtlCol="false" tIns="0" lIns="0" bIns="0" rIns="0">
            <a:spAutoFit/>
          </a:bodyPr>
          <a:lstStyle/>
          <a:p>
            <a:pPr algn="r">
              <a:lnSpc>
                <a:spcPts val="2520"/>
              </a:lnSpc>
            </a:pPr>
            <a:r>
              <a:rPr lang="en-US" sz="1800">
                <a:solidFill>
                  <a:srgbClr val="4D4D4D"/>
                </a:solidFill>
                <a:latin typeface="Open Sans"/>
                <a:ea typeface="Open Sans"/>
                <a:cs typeface="Open Sans"/>
                <a:sym typeface="Open Sans"/>
              </a:rPr>
              <a:t>5</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19200" y="1190625"/>
            <a:ext cx="16325088" cy="386715"/>
          </a:xfrm>
          <a:prstGeom prst="rect">
            <a:avLst/>
          </a:prstGeom>
        </p:spPr>
        <p:txBody>
          <a:bodyPr anchor="t" rtlCol="false" tIns="0" lIns="0" bIns="0" rIns="0">
            <a:spAutoFit/>
          </a:bodyPr>
          <a:lstStyle/>
          <a:p>
            <a:pPr algn="l">
              <a:lnSpc>
                <a:spcPts val="2520"/>
              </a:lnSpc>
            </a:pPr>
            <a:r>
              <a:rPr lang="en-US" b="true" sz="1800" spc="149">
                <a:solidFill>
                  <a:srgbClr val="D6001C"/>
                </a:solidFill>
                <a:latin typeface="Open Sans Bold"/>
                <a:ea typeface="Open Sans Bold"/>
                <a:cs typeface="Open Sans Bold"/>
                <a:sym typeface="Open Sans Bold"/>
              </a:rPr>
              <a:t>METHODS</a:t>
            </a:r>
          </a:p>
        </p:txBody>
      </p:sp>
      <p:sp>
        <p:nvSpPr>
          <p:cNvPr name="TextBox 3" id="3"/>
          <p:cNvSpPr txBox="true"/>
          <p:nvPr/>
        </p:nvSpPr>
        <p:spPr>
          <a:xfrm rot="0">
            <a:off x="1219200" y="1663065"/>
            <a:ext cx="16325088" cy="619125"/>
          </a:xfrm>
          <a:prstGeom prst="rect">
            <a:avLst/>
          </a:prstGeom>
        </p:spPr>
        <p:txBody>
          <a:bodyPr anchor="t" rtlCol="false" tIns="0" lIns="0" bIns="0" rIns="0">
            <a:spAutoFit/>
          </a:bodyPr>
          <a:lstStyle/>
          <a:p>
            <a:pPr algn="l">
              <a:lnSpc>
                <a:spcPts val="4950"/>
              </a:lnSpc>
            </a:pPr>
            <a:r>
              <a:rPr lang="en-US" sz="4500" b="true">
                <a:solidFill>
                  <a:srgbClr val="111111"/>
                </a:solidFill>
                <a:latin typeface="Open Sans Bold"/>
                <a:ea typeface="Open Sans Bold"/>
                <a:cs typeface="Open Sans Bold"/>
                <a:sym typeface="Open Sans Bold"/>
              </a:rPr>
              <a:t>A standard test, checked by a bootstrap</a:t>
            </a:r>
          </a:p>
        </p:txBody>
      </p:sp>
      <p:grpSp>
        <p:nvGrpSpPr>
          <p:cNvPr name="Group 4" id="4"/>
          <p:cNvGrpSpPr/>
          <p:nvPr/>
        </p:nvGrpSpPr>
        <p:grpSpPr>
          <a:xfrm rot="0">
            <a:off x="1219200" y="2625090"/>
            <a:ext cx="5079921" cy="3048000"/>
            <a:chOff x="0" y="0"/>
            <a:chExt cx="6773228" cy="4064000"/>
          </a:xfrm>
        </p:grpSpPr>
        <p:sp>
          <p:nvSpPr>
            <p:cNvPr name="Freeform 5" id="5"/>
            <p:cNvSpPr/>
            <p:nvPr/>
          </p:nvSpPr>
          <p:spPr>
            <a:xfrm flipH="false" flipV="false" rot="0">
              <a:off x="0" y="0"/>
              <a:ext cx="6773164" cy="4064000"/>
            </a:xfrm>
            <a:custGeom>
              <a:avLst/>
              <a:gdLst/>
              <a:ahLst/>
              <a:cxnLst/>
              <a:rect r="r" b="b" t="t" l="l"/>
              <a:pathLst>
                <a:path h="4064000" w="6773164">
                  <a:moveTo>
                    <a:pt x="0" y="191643"/>
                  </a:moveTo>
                  <a:cubicBezTo>
                    <a:pt x="0" y="85852"/>
                    <a:pt x="85852" y="0"/>
                    <a:pt x="191643" y="0"/>
                  </a:cubicBezTo>
                  <a:lnTo>
                    <a:pt x="6581521" y="0"/>
                  </a:lnTo>
                  <a:cubicBezTo>
                    <a:pt x="6687439" y="0"/>
                    <a:pt x="6773164" y="85852"/>
                    <a:pt x="6773164" y="191643"/>
                  </a:cubicBezTo>
                  <a:lnTo>
                    <a:pt x="6773164" y="3872357"/>
                  </a:lnTo>
                  <a:cubicBezTo>
                    <a:pt x="6773164" y="3978275"/>
                    <a:pt x="6687312" y="4064000"/>
                    <a:pt x="6581521" y="4064000"/>
                  </a:cubicBezTo>
                  <a:lnTo>
                    <a:pt x="191643" y="4064000"/>
                  </a:lnTo>
                  <a:cubicBezTo>
                    <a:pt x="85852" y="4064000"/>
                    <a:pt x="0" y="3978148"/>
                    <a:pt x="0" y="3872357"/>
                  </a:cubicBezTo>
                  <a:close/>
                </a:path>
              </a:pathLst>
            </a:custGeom>
            <a:solidFill>
              <a:srgbClr val="FFFFFF"/>
            </a:solidFill>
            <a:ln w="19050" cap="sq">
              <a:solidFill>
                <a:srgbClr val="CFCFCF"/>
              </a:solidFill>
              <a:prstDash val="solid"/>
              <a:miter/>
            </a:ln>
          </p:spPr>
        </p:sp>
      </p:grpSp>
      <p:sp>
        <p:nvSpPr>
          <p:cNvPr name="TextBox 6" id="6"/>
          <p:cNvSpPr txBox="true"/>
          <p:nvPr/>
        </p:nvSpPr>
        <p:spPr>
          <a:xfrm rot="0">
            <a:off x="1615440" y="3021330"/>
            <a:ext cx="4416066" cy="541020"/>
          </a:xfrm>
          <a:prstGeom prst="rect">
            <a:avLst/>
          </a:prstGeom>
        </p:spPr>
        <p:txBody>
          <a:bodyPr anchor="t" rtlCol="false" tIns="0" lIns="0" bIns="0" rIns="0">
            <a:spAutoFit/>
          </a:bodyPr>
          <a:lstStyle/>
          <a:p>
            <a:pPr algn="l">
              <a:lnSpc>
                <a:spcPts val="3960"/>
              </a:lnSpc>
            </a:pPr>
            <a:r>
              <a:rPr lang="en-US" sz="3300" b="true">
                <a:solidFill>
                  <a:srgbClr val="D6001C"/>
                </a:solidFill>
                <a:latin typeface="Open Sans Bold"/>
                <a:ea typeface="Open Sans Bold"/>
                <a:cs typeface="Open Sans Bold"/>
                <a:sym typeface="Open Sans Bold"/>
              </a:rPr>
              <a:t>Conventional test</a:t>
            </a:r>
          </a:p>
        </p:txBody>
      </p:sp>
      <p:sp>
        <p:nvSpPr>
          <p:cNvPr name="TextBox 7" id="7"/>
          <p:cNvSpPr txBox="true"/>
          <p:nvPr/>
        </p:nvSpPr>
        <p:spPr>
          <a:xfrm rot="0">
            <a:off x="1615440" y="3638550"/>
            <a:ext cx="4416066" cy="1676400"/>
          </a:xfrm>
          <a:prstGeom prst="rect">
            <a:avLst/>
          </a:prstGeom>
        </p:spPr>
        <p:txBody>
          <a:bodyPr anchor="t" rtlCol="false" tIns="0" lIns="0" bIns="0" rIns="0">
            <a:spAutoFit/>
          </a:bodyPr>
          <a:lstStyle/>
          <a:p>
            <a:pPr algn="l">
              <a:lnSpc>
                <a:spcPts val="3149"/>
              </a:lnSpc>
            </a:pPr>
            <a:r>
              <a:rPr lang="en-US" sz="2250">
                <a:solidFill>
                  <a:srgbClr val="333333"/>
                </a:solidFill>
                <a:latin typeface="Open Sans"/>
                <a:ea typeface="Open Sans"/>
                <a:cs typeface="Open Sans"/>
                <a:sym typeface="Open Sans"/>
              </a:rPr>
              <a:t>Pooled two-sample t-test for means. Two-proportion test (prop.test) for angina. Each gives a 95% confidence interval.</a:t>
            </a:r>
          </a:p>
        </p:txBody>
      </p:sp>
      <p:grpSp>
        <p:nvGrpSpPr>
          <p:cNvPr name="Group 8" id="8"/>
          <p:cNvGrpSpPr/>
          <p:nvPr/>
        </p:nvGrpSpPr>
        <p:grpSpPr>
          <a:xfrm rot="0">
            <a:off x="6603921" y="2625090"/>
            <a:ext cx="5080035" cy="3048000"/>
            <a:chOff x="0" y="0"/>
            <a:chExt cx="6773380" cy="4064000"/>
          </a:xfrm>
        </p:grpSpPr>
        <p:sp>
          <p:nvSpPr>
            <p:cNvPr name="Freeform 9" id="9"/>
            <p:cNvSpPr/>
            <p:nvPr/>
          </p:nvSpPr>
          <p:spPr>
            <a:xfrm flipH="false" flipV="false" rot="0">
              <a:off x="0" y="0"/>
              <a:ext cx="6773291" cy="4064000"/>
            </a:xfrm>
            <a:custGeom>
              <a:avLst/>
              <a:gdLst/>
              <a:ahLst/>
              <a:cxnLst/>
              <a:rect r="r" b="b" t="t" l="l"/>
              <a:pathLst>
                <a:path h="4064000" w="6773291">
                  <a:moveTo>
                    <a:pt x="0" y="191643"/>
                  </a:moveTo>
                  <a:cubicBezTo>
                    <a:pt x="0" y="85852"/>
                    <a:pt x="85852" y="0"/>
                    <a:pt x="191643" y="0"/>
                  </a:cubicBezTo>
                  <a:lnTo>
                    <a:pt x="6581648" y="0"/>
                  </a:lnTo>
                  <a:cubicBezTo>
                    <a:pt x="6687566" y="0"/>
                    <a:pt x="6773291" y="85852"/>
                    <a:pt x="6773291" y="191643"/>
                  </a:cubicBezTo>
                  <a:lnTo>
                    <a:pt x="6773291" y="3872357"/>
                  </a:lnTo>
                  <a:cubicBezTo>
                    <a:pt x="6773291" y="3978275"/>
                    <a:pt x="6687439" y="4064000"/>
                    <a:pt x="6581648" y="4064000"/>
                  </a:cubicBezTo>
                  <a:lnTo>
                    <a:pt x="191643" y="4064000"/>
                  </a:lnTo>
                  <a:cubicBezTo>
                    <a:pt x="85852" y="4064000"/>
                    <a:pt x="0" y="3978148"/>
                    <a:pt x="0" y="3872357"/>
                  </a:cubicBezTo>
                  <a:close/>
                </a:path>
              </a:pathLst>
            </a:custGeom>
            <a:solidFill>
              <a:srgbClr val="FFFFFF"/>
            </a:solidFill>
            <a:ln w="19050" cap="sq">
              <a:solidFill>
                <a:srgbClr val="CFCFCF"/>
              </a:solidFill>
              <a:prstDash val="solid"/>
              <a:miter/>
            </a:ln>
          </p:spPr>
        </p:sp>
      </p:grpSp>
      <p:sp>
        <p:nvSpPr>
          <p:cNvPr name="TextBox 10" id="10"/>
          <p:cNvSpPr txBox="true"/>
          <p:nvPr/>
        </p:nvSpPr>
        <p:spPr>
          <a:xfrm rot="0">
            <a:off x="7000161" y="3021330"/>
            <a:ext cx="4416190" cy="541020"/>
          </a:xfrm>
          <a:prstGeom prst="rect">
            <a:avLst/>
          </a:prstGeom>
        </p:spPr>
        <p:txBody>
          <a:bodyPr anchor="t" rtlCol="false" tIns="0" lIns="0" bIns="0" rIns="0">
            <a:spAutoFit/>
          </a:bodyPr>
          <a:lstStyle/>
          <a:p>
            <a:pPr algn="l">
              <a:lnSpc>
                <a:spcPts val="3960"/>
              </a:lnSpc>
            </a:pPr>
            <a:r>
              <a:rPr lang="en-US" sz="3300" b="true">
                <a:solidFill>
                  <a:srgbClr val="D6001C"/>
                </a:solidFill>
                <a:latin typeface="Open Sans Bold"/>
                <a:ea typeface="Open Sans Bold"/>
                <a:cs typeface="Open Sans Bold"/>
                <a:sym typeface="Open Sans Bold"/>
              </a:rPr>
              <a:t>Bootstrap check</a:t>
            </a:r>
          </a:p>
        </p:txBody>
      </p:sp>
      <p:sp>
        <p:nvSpPr>
          <p:cNvPr name="TextBox 11" id="11"/>
          <p:cNvSpPr txBox="true"/>
          <p:nvPr/>
        </p:nvSpPr>
        <p:spPr>
          <a:xfrm rot="0">
            <a:off x="7000161" y="3638550"/>
            <a:ext cx="4416190" cy="1676400"/>
          </a:xfrm>
          <a:prstGeom prst="rect">
            <a:avLst/>
          </a:prstGeom>
        </p:spPr>
        <p:txBody>
          <a:bodyPr anchor="t" rtlCol="false" tIns="0" lIns="0" bIns="0" rIns="0">
            <a:spAutoFit/>
          </a:bodyPr>
          <a:lstStyle/>
          <a:p>
            <a:pPr algn="l">
              <a:lnSpc>
                <a:spcPts val="3149"/>
              </a:lnSpc>
            </a:pPr>
            <a:r>
              <a:rPr lang="en-US" sz="2250">
                <a:solidFill>
                  <a:srgbClr val="333333"/>
                </a:solidFill>
                <a:latin typeface="Open Sans"/>
                <a:ea typeface="Open Sans"/>
                <a:cs typeface="Open Sans"/>
                <a:sym typeface="Open Sans"/>
              </a:rPr>
              <a:t>Resample each group with replacement 5,000 times. Take the 2.5th and 97.5th percentiles of the differences.</a:t>
            </a:r>
          </a:p>
        </p:txBody>
      </p:sp>
      <p:grpSp>
        <p:nvGrpSpPr>
          <p:cNvPr name="Group 12" id="12"/>
          <p:cNvGrpSpPr/>
          <p:nvPr/>
        </p:nvGrpSpPr>
        <p:grpSpPr>
          <a:xfrm rot="0">
            <a:off x="11988765" y="2625090"/>
            <a:ext cx="5080035" cy="3048000"/>
            <a:chOff x="0" y="0"/>
            <a:chExt cx="6773380" cy="4064000"/>
          </a:xfrm>
        </p:grpSpPr>
        <p:sp>
          <p:nvSpPr>
            <p:cNvPr name="Freeform 13" id="13"/>
            <p:cNvSpPr/>
            <p:nvPr/>
          </p:nvSpPr>
          <p:spPr>
            <a:xfrm flipH="false" flipV="false" rot="0">
              <a:off x="0" y="0"/>
              <a:ext cx="6773291" cy="4064000"/>
            </a:xfrm>
            <a:custGeom>
              <a:avLst/>
              <a:gdLst/>
              <a:ahLst/>
              <a:cxnLst/>
              <a:rect r="r" b="b" t="t" l="l"/>
              <a:pathLst>
                <a:path h="4064000" w="6773291">
                  <a:moveTo>
                    <a:pt x="0" y="191643"/>
                  </a:moveTo>
                  <a:cubicBezTo>
                    <a:pt x="0" y="85852"/>
                    <a:pt x="85852" y="0"/>
                    <a:pt x="191643" y="0"/>
                  </a:cubicBezTo>
                  <a:lnTo>
                    <a:pt x="6581648" y="0"/>
                  </a:lnTo>
                  <a:cubicBezTo>
                    <a:pt x="6687566" y="0"/>
                    <a:pt x="6773291" y="85852"/>
                    <a:pt x="6773291" y="191643"/>
                  </a:cubicBezTo>
                  <a:lnTo>
                    <a:pt x="6773291" y="3872357"/>
                  </a:lnTo>
                  <a:cubicBezTo>
                    <a:pt x="6773291" y="3978275"/>
                    <a:pt x="6687439" y="4064000"/>
                    <a:pt x="6581648" y="4064000"/>
                  </a:cubicBezTo>
                  <a:lnTo>
                    <a:pt x="191643" y="4064000"/>
                  </a:lnTo>
                  <a:cubicBezTo>
                    <a:pt x="85852" y="4064000"/>
                    <a:pt x="0" y="3978148"/>
                    <a:pt x="0" y="3872357"/>
                  </a:cubicBezTo>
                  <a:close/>
                </a:path>
              </a:pathLst>
            </a:custGeom>
            <a:solidFill>
              <a:srgbClr val="FFFFFF"/>
            </a:solidFill>
            <a:ln w="19050" cap="sq">
              <a:solidFill>
                <a:srgbClr val="CFCFCF"/>
              </a:solidFill>
              <a:prstDash val="solid"/>
              <a:miter/>
            </a:ln>
          </p:spPr>
        </p:sp>
      </p:grpSp>
      <p:sp>
        <p:nvSpPr>
          <p:cNvPr name="TextBox 14" id="14"/>
          <p:cNvSpPr txBox="true"/>
          <p:nvPr/>
        </p:nvSpPr>
        <p:spPr>
          <a:xfrm rot="0">
            <a:off x="12385005" y="3021330"/>
            <a:ext cx="4416190" cy="541020"/>
          </a:xfrm>
          <a:prstGeom prst="rect">
            <a:avLst/>
          </a:prstGeom>
        </p:spPr>
        <p:txBody>
          <a:bodyPr anchor="t" rtlCol="false" tIns="0" lIns="0" bIns="0" rIns="0">
            <a:spAutoFit/>
          </a:bodyPr>
          <a:lstStyle/>
          <a:p>
            <a:pPr algn="l">
              <a:lnSpc>
                <a:spcPts val="3960"/>
              </a:lnSpc>
            </a:pPr>
            <a:r>
              <a:rPr lang="en-US" sz="3300" b="true">
                <a:solidFill>
                  <a:srgbClr val="D6001C"/>
                </a:solidFill>
                <a:latin typeface="Open Sans Bold"/>
                <a:ea typeface="Open Sans Bold"/>
                <a:cs typeface="Open Sans Bold"/>
                <a:sym typeface="Open Sans Bold"/>
              </a:rPr>
              <a:t>Assumption checks</a:t>
            </a:r>
          </a:p>
        </p:txBody>
      </p:sp>
      <p:sp>
        <p:nvSpPr>
          <p:cNvPr name="TextBox 15" id="15"/>
          <p:cNvSpPr txBox="true"/>
          <p:nvPr/>
        </p:nvSpPr>
        <p:spPr>
          <a:xfrm rot="0">
            <a:off x="12385005" y="3638550"/>
            <a:ext cx="4416190" cy="1676400"/>
          </a:xfrm>
          <a:prstGeom prst="rect">
            <a:avLst/>
          </a:prstGeom>
        </p:spPr>
        <p:txBody>
          <a:bodyPr anchor="t" rtlCol="false" tIns="0" lIns="0" bIns="0" rIns="0">
            <a:spAutoFit/>
          </a:bodyPr>
          <a:lstStyle/>
          <a:p>
            <a:pPr algn="l">
              <a:lnSpc>
                <a:spcPts val="3149"/>
              </a:lnSpc>
            </a:pPr>
            <a:r>
              <a:rPr lang="en-US" sz="2250">
                <a:solidFill>
                  <a:srgbClr val="333333"/>
                </a:solidFill>
                <a:latin typeface="Open Sans"/>
                <a:ea typeface="Open Sans"/>
                <a:cs typeface="Open Sans"/>
                <a:sym typeface="Open Sans"/>
              </a:rPr>
              <a:t>Equal spread from violin plots and the ratio of standard deviations. Normality from QQ plots and histograms.</a:t>
            </a:r>
          </a:p>
        </p:txBody>
      </p:sp>
      <p:grpSp>
        <p:nvGrpSpPr>
          <p:cNvPr name="Group 16" id="16"/>
          <p:cNvGrpSpPr/>
          <p:nvPr/>
        </p:nvGrpSpPr>
        <p:grpSpPr>
          <a:xfrm rot="0">
            <a:off x="1219200" y="6054090"/>
            <a:ext cx="15849600" cy="2118360"/>
            <a:chOff x="0" y="0"/>
            <a:chExt cx="21132800" cy="2824480"/>
          </a:xfrm>
        </p:grpSpPr>
        <p:sp>
          <p:nvSpPr>
            <p:cNvPr name="Freeform 17" id="17"/>
            <p:cNvSpPr/>
            <p:nvPr/>
          </p:nvSpPr>
          <p:spPr>
            <a:xfrm flipH="false" flipV="false" rot="0">
              <a:off x="0" y="0"/>
              <a:ext cx="21132800" cy="2824480"/>
            </a:xfrm>
            <a:custGeom>
              <a:avLst/>
              <a:gdLst/>
              <a:ahLst/>
              <a:cxnLst/>
              <a:rect r="r" b="b" t="t" l="l"/>
              <a:pathLst>
                <a:path h="2824480" w="21132800">
                  <a:moveTo>
                    <a:pt x="0" y="203200"/>
                  </a:moveTo>
                  <a:cubicBezTo>
                    <a:pt x="0" y="90932"/>
                    <a:pt x="90932" y="0"/>
                    <a:pt x="203200" y="0"/>
                  </a:cubicBezTo>
                  <a:lnTo>
                    <a:pt x="20929600" y="0"/>
                  </a:lnTo>
                  <a:cubicBezTo>
                    <a:pt x="21041868" y="0"/>
                    <a:pt x="21132800" y="90932"/>
                    <a:pt x="21132800" y="203200"/>
                  </a:cubicBezTo>
                  <a:lnTo>
                    <a:pt x="21132800" y="2621280"/>
                  </a:lnTo>
                  <a:cubicBezTo>
                    <a:pt x="21132800" y="2733548"/>
                    <a:pt x="21041868" y="2824480"/>
                    <a:pt x="20929600" y="2824480"/>
                  </a:cubicBezTo>
                  <a:lnTo>
                    <a:pt x="203200" y="2824480"/>
                  </a:lnTo>
                  <a:cubicBezTo>
                    <a:pt x="90932" y="2824480"/>
                    <a:pt x="0" y="2733548"/>
                    <a:pt x="0" y="2621280"/>
                  </a:cubicBezTo>
                  <a:close/>
                </a:path>
              </a:pathLst>
            </a:custGeom>
            <a:solidFill>
              <a:srgbClr val="111111"/>
            </a:solidFill>
          </p:spPr>
        </p:sp>
      </p:grpSp>
      <p:sp>
        <p:nvSpPr>
          <p:cNvPr name="TextBox 18" id="18"/>
          <p:cNvSpPr txBox="true"/>
          <p:nvPr/>
        </p:nvSpPr>
        <p:spPr>
          <a:xfrm rot="0">
            <a:off x="1600200" y="6396990"/>
            <a:ext cx="15540228" cy="502920"/>
          </a:xfrm>
          <a:prstGeom prst="rect">
            <a:avLst/>
          </a:prstGeom>
        </p:spPr>
        <p:txBody>
          <a:bodyPr anchor="t" rtlCol="false" tIns="0" lIns="0" bIns="0" rIns="0">
            <a:spAutoFit/>
          </a:bodyPr>
          <a:lstStyle/>
          <a:p>
            <a:pPr algn="l">
              <a:lnSpc>
                <a:spcPts val="3359"/>
              </a:lnSpc>
            </a:pPr>
            <a:r>
              <a:rPr lang="en-US" sz="2400" b="true">
                <a:solidFill>
                  <a:srgbClr val="FFCD00"/>
                </a:solidFill>
                <a:latin typeface="Open Sans Bold"/>
                <a:ea typeface="Open Sans Bold"/>
                <a:cs typeface="Open Sans Bold"/>
                <a:sym typeface="Open Sans Bold"/>
              </a:rPr>
              <a:t>Hypotheses for every test</a:t>
            </a:r>
          </a:p>
        </p:txBody>
      </p:sp>
      <p:sp>
        <p:nvSpPr>
          <p:cNvPr name="TextBox 19" id="19"/>
          <p:cNvSpPr txBox="true"/>
          <p:nvPr/>
        </p:nvSpPr>
        <p:spPr>
          <a:xfrm rot="0">
            <a:off x="1600200" y="6899910"/>
            <a:ext cx="15540228" cy="929640"/>
          </a:xfrm>
          <a:prstGeom prst="rect">
            <a:avLst/>
          </a:prstGeom>
        </p:spPr>
        <p:txBody>
          <a:bodyPr anchor="t" rtlCol="false" tIns="0" lIns="0" bIns="0" rIns="0">
            <a:spAutoFit/>
          </a:bodyPr>
          <a:lstStyle/>
          <a:p>
            <a:pPr algn="l">
              <a:lnSpc>
                <a:spcPts val="3359"/>
              </a:lnSpc>
            </a:pPr>
            <a:r>
              <a:rPr lang="en-US" sz="2400">
                <a:solidFill>
                  <a:srgbClr val="FFFFFF"/>
                </a:solidFill>
                <a:latin typeface="Open Sans"/>
                <a:ea typeface="Open Sans"/>
                <a:cs typeface="Open Sans"/>
                <a:sym typeface="Open Sans"/>
              </a:rPr>
              <a:t>H₀: the two groups are equal. Hₐ: the two groups differ (two-sided). Differences are Diseased − Not Diseased.</a:t>
            </a:r>
          </a:p>
        </p:txBody>
      </p:sp>
      <p:sp>
        <p:nvSpPr>
          <p:cNvPr name="TextBox 20" id="20"/>
          <p:cNvSpPr txBox="true"/>
          <p:nvPr/>
        </p:nvSpPr>
        <p:spPr>
          <a:xfrm rot="0">
            <a:off x="1219200" y="9328785"/>
            <a:ext cx="11772900" cy="386715"/>
          </a:xfrm>
          <a:prstGeom prst="rect">
            <a:avLst/>
          </a:prstGeom>
        </p:spPr>
        <p:txBody>
          <a:bodyPr anchor="t" rtlCol="false" tIns="0" lIns="0" bIns="0" rIns="0">
            <a:spAutoFit/>
          </a:bodyPr>
          <a:lstStyle/>
          <a:p>
            <a:pPr algn="l">
              <a:lnSpc>
                <a:spcPts val="2520"/>
              </a:lnSpc>
            </a:pPr>
            <a:r>
              <a:rPr lang="en-US" sz="1800">
                <a:solidFill>
                  <a:srgbClr val="4D4D4D"/>
                </a:solidFill>
                <a:latin typeface="Open Sans"/>
                <a:ea typeface="Open Sans"/>
                <a:cs typeface="Open Sans"/>
                <a:sym typeface="Open Sans"/>
              </a:rPr>
              <a:t>DATA 602 · Detecting Heart Disease</a:t>
            </a:r>
          </a:p>
        </p:txBody>
      </p:sp>
      <p:sp>
        <p:nvSpPr>
          <p:cNvPr name="TextBox 21" id="21"/>
          <p:cNvSpPr txBox="true"/>
          <p:nvPr/>
        </p:nvSpPr>
        <p:spPr>
          <a:xfrm rot="0">
            <a:off x="15087600" y="9328785"/>
            <a:ext cx="1981200" cy="386715"/>
          </a:xfrm>
          <a:prstGeom prst="rect">
            <a:avLst/>
          </a:prstGeom>
        </p:spPr>
        <p:txBody>
          <a:bodyPr anchor="t" rtlCol="false" tIns="0" lIns="0" bIns="0" rIns="0">
            <a:spAutoFit/>
          </a:bodyPr>
          <a:lstStyle/>
          <a:p>
            <a:pPr algn="r">
              <a:lnSpc>
                <a:spcPts val="2520"/>
              </a:lnSpc>
            </a:pPr>
            <a:r>
              <a:rPr lang="en-US" sz="1800">
                <a:solidFill>
                  <a:srgbClr val="4D4D4D"/>
                </a:solidFill>
                <a:latin typeface="Open Sans"/>
                <a:ea typeface="Open Sans"/>
                <a:cs typeface="Open Sans"/>
                <a:sym typeface="Open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sp>
        <p:nvSpPr>
          <p:cNvPr name="TextBox 2" id="2"/>
          <p:cNvSpPr txBox="true"/>
          <p:nvPr/>
        </p:nvSpPr>
        <p:spPr>
          <a:xfrm rot="0">
            <a:off x="1219200" y="1190625"/>
            <a:ext cx="16325088" cy="386715"/>
          </a:xfrm>
          <a:prstGeom prst="rect">
            <a:avLst/>
          </a:prstGeom>
        </p:spPr>
        <p:txBody>
          <a:bodyPr anchor="t" rtlCol="false" tIns="0" lIns="0" bIns="0" rIns="0">
            <a:spAutoFit/>
          </a:bodyPr>
          <a:lstStyle/>
          <a:p>
            <a:pPr algn="l">
              <a:lnSpc>
                <a:spcPts val="2520"/>
              </a:lnSpc>
            </a:pPr>
            <a:r>
              <a:rPr lang="en-US" b="true" sz="1800" spc="149">
                <a:solidFill>
                  <a:srgbClr val="D6001C"/>
                </a:solidFill>
                <a:latin typeface="Open Sans Bold"/>
                <a:ea typeface="Open Sans Bold"/>
                <a:cs typeface="Open Sans Bold"/>
                <a:sym typeface="Open Sans Bold"/>
              </a:rPr>
              <a:t>1 · MAXIMUM HEART RATE (THALCH)</a:t>
            </a:r>
          </a:p>
        </p:txBody>
      </p:sp>
      <p:sp>
        <p:nvSpPr>
          <p:cNvPr name="TextBox 3" id="3"/>
          <p:cNvSpPr txBox="true"/>
          <p:nvPr/>
        </p:nvSpPr>
        <p:spPr>
          <a:xfrm rot="0">
            <a:off x="1219200" y="1663065"/>
            <a:ext cx="10537329" cy="638175"/>
          </a:xfrm>
          <a:prstGeom prst="rect">
            <a:avLst/>
          </a:prstGeom>
        </p:spPr>
        <p:txBody>
          <a:bodyPr anchor="t" rtlCol="false" tIns="0" lIns="0" bIns="0" rIns="0">
            <a:spAutoFit/>
          </a:bodyPr>
          <a:lstStyle/>
          <a:p>
            <a:pPr algn="l">
              <a:lnSpc>
                <a:spcPts val="4950"/>
              </a:lnSpc>
            </a:pPr>
            <a:r>
              <a:rPr lang="en-US" sz="4500" b="true">
                <a:solidFill>
                  <a:srgbClr val="111111"/>
                </a:solidFill>
                <a:latin typeface="Open Sans Bold"/>
                <a:ea typeface="Open Sans Bold"/>
                <a:cs typeface="Open Sans Bold"/>
                <a:sym typeface="Open Sans Bold"/>
              </a:rPr>
              <a:t>The assumptions are reasonably met</a:t>
            </a:r>
          </a:p>
        </p:txBody>
      </p:sp>
      <p:grpSp>
        <p:nvGrpSpPr>
          <p:cNvPr name="Group 4" id="4"/>
          <p:cNvGrpSpPr/>
          <p:nvPr/>
        </p:nvGrpSpPr>
        <p:grpSpPr>
          <a:xfrm rot="0">
            <a:off x="1219200" y="2586990"/>
            <a:ext cx="5076825" cy="3143250"/>
            <a:chOff x="0" y="0"/>
            <a:chExt cx="6769100" cy="4191000"/>
          </a:xfrm>
        </p:grpSpPr>
        <p:sp>
          <p:nvSpPr>
            <p:cNvPr name="Freeform 5" id="5"/>
            <p:cNvSpPr/>
            <p:nvPr/>
          </p:nvSpPr>
          <p:spPr>
            <a:xfrm flipH="false" flipV="false" rot="0">
              <a:off x="0" y="0"/>
              <a:ext cx="6769100" cy="4191000"/>
            </a:xfrm>
            <a:custGeom>
              <a:avLst/>
              <a:gdLst/>
              <a:ahLst/>
              <a:cxnLst/>
              <a:rect r="r" b="b" t="t" l="l"/>
              <a:pathLst>
                <a:path h="4191000" w="6769100">
                  <a:moveTo>
                    <a:pt x="0" y="152400"/>
                  </a:moveTo>
                  <a:cubicBezTo>
                    <a:pt x="0" y="68199"/>
                    <a:pt x="68199" y="0"/>
                    <a:pt x="152400" y="0"/>
                  </a:cubicBezTo>
                  <a:lnTo>
                    <a:pt x="6616700" y="0"/>
                  </a:lnTo>
                  <a:cubicBezTo>
                    <a:pt x="6700901" y="0"/>
                    <a:pt x="6769100" y="68199"/>
                    <a:pt x="6769100" y="152400"/>
                  </a:cubicBezTo>
                  <a:lnTo>
                    <a:pt x="6769100" y="4038600"/>
                  </a:lnTo>
                  <a:cubicBezTo>
                    <a:pt x="6769100" y="4122801"/>
                    <a:pt x="6700901" y="4191000"/>
                    <a:pt x="6616700" y="4191000"/>
                  </a:cubicBezTo>
                  <a:lnTo>
                    <a:pt x="152400" y="4191000"/>
                  </a:lnTo>
                  <a:cubicBezTo>
                    <a:pt x="68199" y="4191000"/>
                    <a:pt x="0" y="4122801"/>
                    <a:pt x="0" y="4038600"/>
                  </a:cubicBezTo>
                  <a:close/>
                </a:path>
              </a:pathLst>
            </a:custGeom>
            <a:solidFill>
              <a:srgbClr val="FFFFFF"/>
            </a:solidFill>
          </p:spPr>
        </p:sp>
      </p:grpSp>
      <p:grpSp>
        <p:nvGrpSpPr>
          <p:cNvPr name="Group 6" id="6"/>
          <p:cNvGrpSpPr/>
          <p:nvPr/>
        </p:nvGrpSpPr>
        <p:grpSpPr>
          <a:xfrm rot="0">
            <a:off x="1238250" y="2606040"/>
            <a:ext cx="5038725" cy="3105150"/>
            <a:chOff x="0" y="0"/>
            <a:chExt cx="6718300" cy="4140200"/>
          </a:xfrm>
        </p:grpSpPr>
        <p:sp>
          <p:nvSpPr>
            <p:cNvPr name="Freeform 7" id="7" descr="Violin and box plots of maximum heart rate for diseased and not diseased patients"/>
            <p:cNvSpPr/>
            <p:nvPr/>
          </p:nvSpPr>
          <p:spPr>
            <a:xfrm flipH="false" flipV="false" rot="0">
              <a:off x="0" y="0"/>
              <a:ext cx="6718300" cy="4140200"/>
            </a:xfrm>
            <a:custGeom>
              <a:avLst/>
              <a:gdLst/>
              <a:ahLst/>
              <a:cxnLst/>
              <a:rect r="r" b="b" t="t" l="l"/>
              <a:pathLst>
                <a:path h="4140200" w="6718300">
                  <a:moveTo>
                    <a:pt x="0" y="0"/>
                  </a:moveTo>
                  <a:lnTo>
                    <a:pt x="6718300" y="0"/>
                  </a:lnTo>
                  <a:lnTo>
                    <a:pt x="6718300" y="4140200"/>
                  </a:lnTo>
                  <a:lnTo>
                    <a:pt x="0" y="4140200"/>
                  </a:lnTo>
                  <a:lnTo>
                    <a:pt x="0" y="0"/>
                  </a:lnTo>
                  <a:close/>
                </a:path>
              </a:pathLst>
            </a:custGeom>
            <a:blipFill>
              <a:blip r:embed="rId3"/>
              <a:stretch>
                <a:fillRect l="258" t="0" r="257" b="0"/>
              </a:stretch>
            </a:blipFill>
          </p:spPr>
        </p:sp>
      </p:grpSp>
      <p:grpSp>
        <p:nvGrpSpPr>
          <p:cNvPr name="Group 8" id="8"/>
          <p:cNvGrpSpPr/>
          <p:nvPr/>
        </p:nvGrpSpPr>
        <p:grpSpPr>
          <a:xfrm rot="0">
            <a:off x="1219200" y="2586990"/>
            <a:ext cx="5076825" cy="3143250"/>
            <a:chOff x="0" y="0"/>
            <a:chExt cx="6769100" cy="4191000"/>
          </a:xfrm>
        </p:grpSpPr>
        <p:sp>
          <p:nvSpPr>
            <p:cNvPr name="Freeform 9" id="9"/>
            <p:cNvSpPr/>
            <p:nvPr/>
          </p:nvSpPr>
          <p:spPr>
            <a:xfrm flipH="false" flipV="false" rot="0">
              <a:off x="0" y="0"/>
              <a:ext cx="6769100" cy="4191000"/>
            </a:xfrm>
            <a:custGeom>
              <a:avLst/>
              <a:gdLst/>
              <a:ahLst/>
              <a:cxnLst/>
              <a:rect r="r" b="b" t="t" l="l"/>
              <a:pathLst>
                <a:path h="4191000" w="6769100">
                  <a:moveTo>
                    <a:pt x="0" y="140589"/>
                  </a:moveTo>
                  <a:cubicBezTo>
                    <a:pt x="0" y="62992"/>
                    <a:pt x="62992" y="0"/>
                    <a:pt x="140589" y="0"/>
                  </a:cubicBezTo>
                  <a:lnTo>
                    <a:pt x="6628511" y="0"/>
                  </a:lnTo>
                  <a:cubicBezTo>
                    <a:pt x="6706108" y="0"/>
                    <a:pt x="6769100" y="62992"/>
                    <a:pt x="6769100" y="140589"/>
                  </a:cubicBezTo>
                  <a:lnTo>
                    <a:pt x="6769100" y="4050411"/>
                  </a:lnTo>
                  <a:cubicBezTo>
                    <a:pt x="6769100" y="4128008"/>
                    <a:pt x="6706108" y="4191000"/>
                    <a:pt x="6628511" y="4191000"/>
                  </a:cubicBezTo>
                  <a:lnTo>
                    <a:pt x="140589" y="4191000"/>
                  </a:lnTo>
                  <a:cubicBezTo>
                    <a:pt x="62992" y="4191000"/>
                    <a:pt x="0" y="4128008"/>
                    <a:pt x="0" y="4050411"/>
                  </a:cubicBezTo>
                  <a:close/>
                </a:path>
              </a:pathLst>
            </a:custGeom>
            <a:blipFill>
              <a:blip r:embed="rId4">
                <a:alphaModFix amt="0"/>
              </a:blip>
              <a:stretch>
                <a:fillRect l="-29437" t="0" r="-29437" b="0"/>
              </a:stretch>
            </a:blipFill>
            <a:ln w="19050" cap="sq">
              <a:solidFill>
                <a:srgbClr val="CFCFCF"/>
              </a:solidFill>
              <a:prstDash val="solid"/>
              <a:miter/>
            </a:ln>
          </p:spPr>
        </p:sp>
      </p:grpSp>
      <p:sp>
        <p:nvSpPr>
          <p:cNvPr name="TextBox 10" id="10"/>
          <p:cNvSpPr txBox="true"/>
          <p:nvPr/>
        </p:nvSpPr>
        <p:spPr>
          <a:xfrm rot="0">
            <a:off x="1219200" y="5806440"/>
            <a:ext cx="5754862" cy="449580"/>
          </a:xfrm>
          <a:prstGeom prst="rect">
            <a:avLst/>
          </a:prstGeom>
        </p:spPr>
        <p:txBody>
          <a:bodyPr anchor="t" rtlCol="false" tIns="0" lIns="0" bIns="0" rIns="0">
            <a:spAutoFit/>
          </a:bodyPr>
          <a:lstStyle/>
          <a:p>
            <a:pPr algn="l">
              <a:lnSpc>
                <a:spcPts val="2940"/>
              </a:lnSpc>
            </a:pPr>
            <a:r>
              <a:rPr lang="en-US" sz="2100" b="true">
                <a:solidFill>
                  <a:srgbClr val="111111"/>
                </a:solidFill>
                <a:latin typeface="Open Sans Bold"/>
                <a:ea typeface="Open Sans Bold"/>
                <a:cs typeface="Open Sans Bold"/>
                <a:sym typeface="Open Sans Bold"/>
              </a:rPr>
              <a:t>Equal spread</a:t>
            </a:r>
          </a:p>
        </p:txBody>
      </p:sp>
      <p:sp>
        <p:nvSpPr>
          <p:cNvPr name="TextBox 11" id="11"/>
          <p:cNvSpPr txBox="true"/>
          <p:nvPr/>
        </p:nvSpPr>
        <p:spPr>
          <a:xfrm rot="0">
            <a:off x="1219200" y="6294120"/>
            <a:ext cx="5754862" cy="822960"/>
          </a:xfrm>
          <a:prstGeom prst="rect">
            <a:avLst/>
          </a:prstGeom>
        </p:spPr>
        <p:txBody>
          <a:bodyPr anchor="t" rtlCol="false" tIns="0" lIns="0" bIns="0" rIns="0">
            <a:spAutoFit/>
          </a:bodyPr>
          <a:lstStyle/>
          <a:p>
            <a:pPr algn="l">
              <a:lnSpc>
                <a:spcPts val="2940"/>
              </a:lnSpc>
            </a:pPr>
            <a:r>
              <a:rPr lang="en-US" sz="2100">
                <a:solidFill>
                  <a:srgbClr val="333333"/>
                </a:solidFill>
                <a:latin typeface="Open Sans"/>
                <a:ea typeface="Open Sans"/>
                <a:cs typeface="Open Sans"/>
                <a:sym typeface="Open Sans"/>
              </a:rPr>
              <a:t>Standard deviations of 24.02 and 23.61 bpm (ratio 1.02).</a:t>
            </a:r>
          </a:p>
        </p:txBody>
      </p:sp>
      <p:grpSp>
        <p:nvGrpSpPr>
          <p:cNvPr name="Group 12" id="12"/>
          <p:cNvGrpSpPr/>
          <p:nvPr/>
        </p:nvGrpSpPr>
        <p:grpSpPr>
          <a:xfrm rot="0">
            <a:off x="7111251" y="2586990"/>
            <a:ext cx="5076825" cy="3143250"/>
            <a:chOff x="0" y="0"/>
            <a:chExt cx="6769100" cy="4191000"/>
          </a:xfrm>
        </p:grpSpPr>
        <p:sp>
          <p:nvSpPr>
            <p:cNvPr name="Freeform 13" id="13"/>
            <p:cNvSpPr/>
            <p:nvPr/>
          </p:nvSpPr>
          <p:spPr>
            <a:xfrm flipH="false" flipV="false" rot="0">
              <a:off x="0" y="0"/>
              <a:ext cx="6769100" cy="4191000"/>
            </a:xfrm>
            <a:custGeom>
              <a:avLst/>
              <a:gdLst/>
              <a:ahLst/>
              <a:cxnLst/>
              <a:rect r="r" b="b" t="t" l="l"/>
              <a:pathLst>
                <a:path h="4191000" w="6769100">
                  <a:moveTo>
                    <a:pt x="0" y="152400"/>
                  </a:moveTo>
                  <a:cubicBezTo>
                    <a:pt x="0" y="68199"/>
                    <a:pt x="68199" y="0"/>
                    <a:pt x="152400" y="0"/>
                  </a:cubicBezTo>
                  <a:lnTo>
                    <a:pt x="6616700" y="0"/>
                  </a:lnTo>
                  <a:cubicBezTo>
                    <a:pt x="6700901" y="0"/>
                    <a:pt x="6769100" y="68199"/>
                    <a:pt x="6769100" y="152400"/>
                  </a:cubicBezTo>
                  <a:lnTo>
                    <a:pt x="6769100" y="4038600"/>
                  </a:lnTo>
                  <a:cubicBezTo>
                    <a:pt x="6769100" y="4122801"/>
                    <a:pt x="6700901" y="4191000"/>
                    <a:pt x="6616700" y="4191000"/>
                  </a:cubicBezTo>
                  <a:lnTo>
                    <a:pt x="152400" y="4191000"/>
                  </a:lnTo>
                  <a:cubicBezTo>
                    <a:pt x="68199" y="4191000"/>
                    <a:pt x="0" y="4122801"/>
                    <a:pt x="0" y="4038600"/>
                  </a:cubicBezTo>
                  <a:close/>
                </a:path>
              </a:pathLst>
            </a:custGeom>
            <a:solidFill>
              <a:srgbClr val="FFFFFF"/>
            </a:solidFill>
          </p:spPr>
        </p:sp>
      </p:grpSp>
      <p:grpSp>
        <p:nvGrpSpPr>
          <p:cNvPr name="Group 14" id="14"/>
          <p:cNvGrpSpPr/>
          <p:nvPr/>
        </p:nvGrpSpPr>
        <p:grpSpPr>
          <a:xfrm rot="0">
            <a:off x="7130301" y="2606040"/>
            <a:ext cx="5038725" cy="3105150"/>
            <a:chOff x="0" y="0"/>
            <a:chExt cx="6718300" cy="4140200"/>
          </a:xfrm>
        </p:grpSpPr>
        <p:sp>
          <p:nvSpPr>
            <p:cNvPr name="Freeform 15" id="15" descr="Normal QQ plots of maximum heart rate by disease status"/>
            <p:cNvSpPr/>
            <p:nvPr/>
          </p:nvSpPr>
          <p:spPr>
            <a:xfrm flipH="false" flipV="false" rot="0">
              <a:off x="0" y="0"/>
              <a:ext cx="6718300" cy="4140200"/>
            </a:xfrm>
            <a:custGeom>
              <a:avLst/>
              <a:gdLst/>
              <a:ahLst/>
              <a:cxnLst/>
              <a:rect r="r" b="b" t="t" l="l"/>
              <a:pathLst>
                <a:path h="4140200" w="6718300">
                  <a:moveTo>
                    <a:pt x="0" y="0"/>
                  </a:moveTo>
                  <a:lnTo>
                    <a:pt x="6718300" y="0"/>
                  </a:lnTo>
                  <a:lnTo>
                    <a:pt x="6718300" y="4140200"/>
                  </a:lnTo>
                  <a:lnTo>
                    <a:pt x="0" y="4140200"/>
                  </a:lnTo>
                  <a:lnTo>
                    <a:pt x="0" y="0"/>
                  </a:lnTo>
                  <a:close/>
                </a:path>
              </a:pathLst>
            </a:custGeom>
            <a:blipFill>
              <a:blip r:embed="rId5"/>
              <a:stretch>
                <a:fillRect l="187" t="0" r="186" b="0"/>
              </a:stretch>
            </a:blipFill>
          </p:spPr>
        </p:sp>
      </p:grpSp>
      <p:grpSp>
        <p:nvGrpSpPr>
          <p:cNvPr name="Group 16" id="16"/>
          <p:cNvGrpSpPr/>
          <p:nvPr/>
        </p:nvGrpSpPr>
        <p:grpSpPr>
          <a:xfrm rot="0">
            <a:off x="7111251" y="2586990"/>
            <a:ext cx="5076825" cy="3143250"/>
            <a:chOff x="0" y="0"/>
            <a:chExt cx="6769100" cy="4191000"/>
          </a:xfrm>
        </p:grpSpPr>
        <p:sp>
          <p:nvSpPr>
            <p:cNvPr name="Freeform 17" id="17"/>
            <p:cNvSpPr/>
            <p:nvPr/>
          </p:nvSpPr>
          <p:spPr>
            <a:xfrm flipH="false" flipV="false" rot="0">
              <a:off x="0" y="0"/>
              <a:ext cx="6769100" cy="4191000"/>
            </a:xfrm>
            <a:custGeom>
              <a:avLst/>
              <a:gdLst/>
              <a:ahLst/>
              <a:cxnLst/>
              <a:rect r="r" b="b" t="t" l="l"/>
              <a:pathLst>
                <a:path h="4191000" w="6769100">
                  <a:moveTo>
                    <a:pt x="0" y="140589"/>
                  </a:moveTo>
                  <a:cubicBezTo>
                    <a:pt x="0" y="62992"/>
                    <a:pt x="62992" y="0"/>
                    <a:pt x="140589" y="0"/>
                  </a:cubicBezTo>
                  <a:lnTo>
                    <a:pt x="6628511" y="0"/>
                  </a:lnTo>
                  <a:cubicBezTo>
                    <a:pt x="6706108" y="0"/>
                    <a:pt x="6769100" y="62992"/>
                    <a:pt x="6769100" y="140589"/>
                  </a:cubicBezTo>
                  <a:lnTo>
                    <a:pt x="6769100" y="4050411"/>
                  </a:lnTo>
                  <a:cubicBezTo>
                    <a:pt x="6769100" y="4128008"/>
                    <a:pt x="6706108" y="4191000"/>
                    <a:pt x="6628511" y="4191000"/>
                  </a:cubicBezTo>
                  <a:lnTo>
                    <a:pt x="140589" y="4191000"/>
                  </a:lnTo>
                  <a:cubicBezTo>
                    <a:pt x="62992" y="4191000"/>
                    <a:pt x="0" y="4128008"/>
                    <a:pt x="0" y="4050411"/>
                  </a:cubicBezTo>
                  <a:close/>
                </a:path>
              </a:pathLst>
            </a:custGeom>
            <a:blipFill>
              <a:blip r:embed="rId4">
                <a:alphaModFix amt="0"/>
              </a:blip>
              <a:stretch>
                <a:fillRect l="-29437" t="0" r="-29437" b="0"/>
              </a:stretch>
            </a:blipFill>
            <a:ln w="19050" cap="sq">
              <a:solidFill>
                <a:srgbClr val="CFCFCF"/>
              </a:solidFill>
              <a:prstDash val="solid"/>
              <a:miter/>
            </a:ln>
          </p:spPr>
        </p:sp>
      </p:grpSp>
      <p:sp>
        <p:nvSpPr>
          <p:cNvPr name="TextBox 18" id="18"/>
          <p:cNvSpPr txBox="true"/>
          <p:nvPr/>
        </p:nvSpPr>
        <p:spPr>
          <a:xfrm rot="0">
            <a:off x="7111251" y="5806440"/>
            <a:ext cx="5744318" cy="449580"/>
          </a:xfrm>
          <a:prstGeom prst="rect">
            <a:avLst/>
          </a:prstGeom>
        </p:spPr>
        <p:txBody>
          <a:bodyPr anchor="t" rtlCol="false" tIns="0" lIns="0" bIns="0" rIns="0">
            <a:spAutoFit/>
          </a:bodyPr>
          <a:lstStyle/>
          <a:p>
            <a:pPr algn="l">
              <a:lnSpc>
                <a:spcPts val="2940"/>
              </a:lnSpc>
            </a:pPr>
            <a:r>
              <a:rPr lang="en-US" sz="2100" b="true">
                <a:solidFill>
                  <a:srgbClr val="111111"/>
                </a:solidFill>
                <a:latin typeface="Open Sans Bold"/>
                <a:ea typeface="Open Sans Bold"/>
                <a:cs typeface="Open Sans Bold"/>
                <a:sym typeface="Open Sans Bold"/>
              </a:rPr>
              <a:t>Close to normal</a:t>
            </a:r>
          </a:p>
        </p:txBody>
      </p:sp>
      <p:sp>
        <p:nvSpPr>
          <p:cNvPr name="TextBox 19" id="19"/>
          <p:cNvSpPr txBox="true"/>
          <p:nvPr/>
        </p:nvSpPr>
        <p:spPr>
          <a:xfrm rot="0">
            <a:off x="7111251" y="6294120"/>
            <a:ext cx="5744318" cy="822960"/>
          </a:xfrm>
          <a:prstGeom prst="rect">
            <a:avLst/>
          </a:prstGeom>
        </p:spPr>
        <p:txBody>
          <a:bodyPr anchor="t" rtlCol="false" tIns="0" lIns="0" bIns="0" rIns="0">
            <a:spAutoFit/>
          </a:bodyPr>
          <a:lstStyle/>
          <a:p>
            <a:pPr algn="l">
              <a:lnSpc>
                <a:spcPts val="2940"/>
              </a:lnSpc>
            </a:pPr>
            <a:r>
              <a:rPr lang="en-US" sz="2100">
                <a:solidFill>
                  <a:srgbClr val="333333"/>
                </a:solidFill>
                <a:latin typeface="Open Sans"/>
                <a:ea typeface="Open Sans"/>
                <a:cs typeface="Open Sans"/>
                <a:sym typeface="Open Sans"/>
              </a:rPr>
              <a:t>Points follow the line, with minor departures in the tails.</a:t>
            </a:r>
          </a:p>
        </p:txBody>
      </p:sp>
      <p:grpSp>
        <p:nvGrpSpPr>
          <p:cNvPr name="Group 20" id="20"/>
          <p:cNvGrpSpPr/>
          <p:nvPr/>
        </p:nvGrpSpPr>
        <p:grpSpPr>
          <a:xfrm rot="0">
            <a:off x="12993052" y="2586990"/>
            <a:ext cx="5076825" cy="3143250"/>
            <a:chOff x="0" y="0"/>
            <a:chExt cx="6769100" cy="4191000"/>
          </a:xfrm>
        </p:grpSpPr>
        <p:sp>
          <p:nvSpPr>
            <p:cNvPr name="Freeform 21" id="21"/>
            <p:cNvSpPr/>
            <p:nvPr/>
          </p:nvSpPr>
          <p:spPr>
            <a:xfrm flipH="false" flipV="false" rot="0">
              <a:off x="0" y="0"/>
              <a:ext cx="6769100" cy="4191000"/>
            </a:xfrm>
            <a:custGeom>
              <a:avLst/>
              <a:gdLst/>
              <a:ahLst/>
              <a:cxnLst/>
              <a:rect r="r" b="b" t="t" l="l"/>
              <a:pathLst>
                <a:path h="4191000" w="6769100">
                  <a:moveTo>
                    <a:pt x="0" y="152400"/>
                  </a:moveTo>
                  <a:cubicBezTo>
                    <a:pt x="0" y="68199"/>
                    <a:pt x="68199" y="0"/>
                    <a:pt x="152400" y="0"/>
                  </a:cubicBezTo>
                  <a:lnTo>
                    <a:pt x="6616700" y="0"/>
                  </a:lnTo>
                  <a:cubicBezTo>
                    <a:pt x="6700901" y="0"/>
                    <a:pt x="6769100" y="68199"/>
                    <a:pt x="6769100" y="152400"/>
                  </a:cubicBezTo>
                  <a:lnTo>
                    <a:pt x="6769100" y="4038600"/>
                  </a:lnTo>
                  <a:cubicBezTo>
                    <a:pt x="6769100" y="4122801"/>
                    <a:pt x="6700901" y="4191000"/>
                    <a:pt x="6616700" y="4191000"/>
                  </a:cubicBezTo>
                  <a:lnTo>
                    <a:pt x="152400" y="4191000"/>
                  </a:lnTo>
                  <a:cubicBezTo>
                    <a:pt x="68199" y="4191000"/>
                    <a:pt x="0" y="4122801"/>
                    <a:pt x="0" y="4038600"/>
                  </a:cubicBezTo>
                  <a:close/>
                </a:path>
              </a:pathLst>
            </a:custGeom>
            <a:solidFill>
              <a:srgbClr val="FFFFFF"/>
            </a:solidFill>
          </p:spPr>
        </p:sp>
      </p:grpSp>
      <p:grpSp>
        <p:nvGrpSpPr>
          <p:cNvPr name="Group 22" id="22"/>
          <p:cNvGrpSpPr/>
          <p:nvPr/>
        </p:nvGrpSpPr>
        <p:grpSpPr>
          <a:xfrm rot="0">
            <a:off x="13012102" y="2606040"/>
            <a:ext cx="5038725" cy="3105150"/>
            <a:chOff x="0" y="0"/>
            <a:chExt cx="6718300" cy="4140200"/>
          </a:xfrm>
        </p:grpSpPr>
        <p:sp>
          <p:nvSpPr>
            <p:cNvPr name="Freeform 23" id="23" descr="Histograms of maximum heart rate by disease status"/>
            <p:cNvSpPr/>
            <p:nvPr/>
          </p:nvSpPr>
          <p:spPr>
            <a:xfrm flipH="false" flipV="false" rot="0">
              <a:off x="0" y="0"/>
              <a:ext cx="6718300" cy="4140200"/>
            </a:xfrm>
            <a:custGeom>
              <a:avLst/>
              <a:gdLst/>
              <a:ahLst/>
              <a:cxnLst/>
              <a:rect r="r" b="b" t="t" l="l"/>
              <a:pathLst>
                <a:path h="4140200" w="6718300">
                  <a:moveTo>
                    <a:pt x="0" y="0"/>
                  </a:moveTo>
                  <a:lnTo>
                    <a:pt x="6718300" y="0"/>
                  </a:lnTo>
                  <a:lnTo>
                    <a:pt x="6718300" y="4140200"/>
                  </a:lnTo>
                  <a:lnTo>
                    <a:pt x="0" y="4140200"/>
                  </a:lnTo>
                  <a:lnTo>
                    <a:pt x="0" y="0"/>
                  </a:lnTo>
                  <a:close/>
                </a:path>
              </a:pathLst>
            </a:custGeom>
            <a:blipFill>
              <a:blip r:embed="rId6"/>
              <a:stretch>
                <a:fillRect l="187" t="0" r="186" b="0"/>
              </a:stretch>
            </a:blipFill>
          </p:spPr>
        </p:sp>
      </p:grpSp>
      <p:grpSp>
        <p:nvGrpSpPr>
          <p:cNvPr name="Group 24" id="24"/>
          <p:cNvGrpSpPr/>
          <p:nvPr/>
        </p:nvGrpSpPr>
        <p:grpSpPr>
          <a:xfrm rot="0">
            <a:off x="12993052" y="2586990"/>
            <a:ext cx="5076825" cy="3143250"/>
            <a:chOff x="0" y="0"/>
            <a:chExt cx="6769100" cy="4191000"/>
          </a:xfrm>
        </p:grpSpPr>
        <p:sp>
          <p:nvSpPr>
            <p:cNvPr name="Freeform 25" id="25"/>
            <p:cNvSpPr/>
            <p:nvPr/>
          </p:nvSpPr>
          <p:spPr>
            <a:xfrm flipH="false" flipV="false" rot="0">
              <a:off x="0" y="0"/>
              <a:ext cx="6769100" cy="4191000"/>
            </a:xfrm>
            <a:custGeom>
              <a:avLst/>
              <a:gdLst/>
              <a:ahLst/>
              <a:cxnLst/>
              <a:rect r="r" b="b" t="t" l="l"/>
              <a:pathLst>
                <a:path h="4191000" w="6769100">
                  <a:moveTo>
                    <a:pt x="0" y="140589"/>
                  </a:moveTo>
                  <a:cubicBezTo>
                    <a:pt x="0" y="62992"/>
                    <a:pt x="62992" y="0"/>
                    <a:pt x="140589" y="0"/>
                  </a:cubicBezTo>
                  <a:lnTo>
                    <a:pt x="6628511" y="0"/>
                  </a:lnTo>
                  <a:cubicBezTo>
                    <a:pt x="6706108" y="0"/>
                    <a:pt x="6769100" y="62992"/>
                    <a:pt x="6769100" y="140589"/>
                  </a:cubicBezTo>
                  <a:lnTo>
                    <a:pt x="6769100" y="4050411"/>
                  </a:lnTo>
                  <a:cubicBezTo>
                    <a:pt x="6769100" y="4128008"/>
                    <a:pt x="6706108" y="4191000"/>
                    <a:pt x="6628511" y="4191000"/>
                  </a:cubicBezTo>
                  <a:lnTo>
                    <a:pt x="140589" y="4191000"/>
                  </a:lnTo>
                  <a:cubicBezTo>
                    <a:pt x="62992" y="4191000"/>
                    <a:pt x="0" y="4128008"/>
                    <a:pt x="0" y="4050411"/>
                  </a:cubicBezTo>
                  <a:close/>
                </a:path>
              </a:pathLst>
            </a:custGeom>
            <a:blipFill>
              <a:blip r:embed="rId4">
                <a:alphaModFix amt="0"/>
              </a:blip>
              <a:stretch>
                <a:fillRect l="-29437" t="0" r="-29437" b="0"/>
              </a:stretch>
            </a:blipFill>
            <a:ln w="19050" cap="sq">
              <a:solidFill>
                <a:srgbClr val="CFCFCF"/>
              </a:solidFill>
              <a:prstDash val="solid"/>
              <a:miter/>
            </a:ln>
          </p:spPr>
        </p:sp>
      </p:grpSp>
      <p:sp>
        <p:nvSpPr>
          <p:cNvPr name="TextBox 26" id="26"/>
          <p:cNvSpPr txBox="true"/>
          <p:nvPr/>
        </p:nvSpPr>
        <p:spPr>
          <a:xfrm rot="0">
            <a:off x="12993052" y="5806440"/>
            <a:ext cx="4198020" cy="449580"/>
          </a:xfrm>
          <a:prstGeom prst="rect">
            <a:avLst/>
          </a:prstGeom>
        </p:spPr>
        <p:txBody>
          <a:bodyPr anchor="t" rtlCol="false" tIns="0" lIns="0" bIns="0" rIns="0">
            <a:spAutoFit/>
          </a:bodyPr>
          <a:lstStyle/>
          <a:p>
            <a:pPr algn="l">
              <a:lnSpc>
                <a:spcPts val="2940"/>
              </a:lnSpc>
            </a:pPr>
            <a:r>
              <a:rPr lang="en-US" sz="2100" b="true">
                <a:solidFill>
                  <a:srgbClr val="111111"/>
                </a:solidFill>
                <a:latin typeface="Open Sans Bold"/>
                <a:ea typeface="Open Sans Bold"/>
                <a:cs typeface="Open Sans Bold"/>
                <a:sym typeface="Open Sans Bold"/>
              </a:rPr>
              <a:t>Mild left skew</a:t>
            </a:r>
          </a:p>
        </p:txBody>
      </p:sp>
      <p:sp>
        <p:nvSpPr>
          <p:cNvPr name="TextBox 27" id="27"/>
          <p:cNvSpPr txBox="true"/>
          <p:nvPr/>
        </p:nvSpPr>
        <p:spPr>
          <a:xfrm rot="0">
            <a:off x="12993052" y="6294120"/>
            <a:ext cx="4198020" cy="822960"/>
          </a:xfrm>
          <a:prstGeom prst="rect">
            <a:avLst/>
          </a:prstGeom>
        </p:spPr>
        <p:txBody>
          <a:bodyPr anchor="t" rtlCol="false" tIns="0" lIns="0" bIns="0" rIns="0">
            <a:spAutoFit/>
          </a:bodyPr>
          <a:lstStyle/>
          <a:p>
            <a:pPr algn="l">
              <a:lnSpc>
                <a:spcPts val="2940"/>
              </a:lnSpc>
            </a:pPr>
            <a:r>
              <a:rPr lang="en-US" sz="2100">
                <a:solidFill>
                  <a:srgbClr val="333333"/>
                </a:solidFill>
                <a:latin typeface="Open Sans"/>
                <a:ea typeface="Open Sans"/>
                <a:cs typeface="Open Sans"/>
                <a:sym typeface="Open Sans"/>
              </a:rPr>
              <a:t>Not Diseased has a longer lower tail.</a:t>
            </a:r>
          </a:p>
        </p:txBody>
      </p:sp>
      <p:sp>
        <p:nvSpPr>
          <p:cNvPr name="TextBox 28" id="28"/>
          <p:cNvSpPr txBox="true"/>
          <p:nvPr/>
        </p:nvSpPr>
        <p:spPr>
          <a:xfrm rot="0">
            <a:off x="1219200" y="7383780"/>
            <a:ext cx="16325088" cy="502920"/>
          </a:xfrm>
          <a:prstGeom prst="rect">
            <a:avLst/>
          </a:prstGeom>
        </p:spPr>
        <p:txBody>
          <a:bodyPr anchor="t" rtlCol="false" tIns="0" lIns="0" bIns="0" rIns="0">
            <a:spAutoFit/>
          </a:bodyPr>
          <a:lstStyle/>
          <a:p>
            <a:pPr algn="l">
              <a:lnSpc>
                <a:spcPts val="3359"/>
              </a:lnSpc>
            </a:pPr>
            <a:r>
              <a:rPr lang="en-US" sz="2400">
                <a:solidFill>
                  <a:srgbClr val="111111"/>
                </a:solidFill>
                <a:latin typeface="Open Sans"/>
                <a:ea typeface="Open Sans"/>
                <a:cs typeface="Open Sans"/>
                <a:sym typeface="Open Sans"/>
              </a:rPr>
              <a:t>Both groups are large (474 and 391), so the pooled t-test is reasonable.</a:t>
            </a:r>
          </a:p>
        </p:txBody>
      </p:sp>
      <p:sp>
        <p:nvSpPr>
          <p:cNvPr name="TextBox 29" id="29"/>
          <p:cNvSpPr txBox="true"/>
          <p:nvPr/>
        </p:nvSpPr>
        <p:spPr>
          <a:xfrm rot="0">
            <a:off x="1219200" y="9328785"/>
            <a:ext cx="11772900" cy="386715"/>
          </a:xfrm>
          <a:prstGeom prst="rect">
            <a:avLst/>
          </a:prstGeom>
        </p:spPr>
        <p:txBody>
          <a:bodyPr anchor="t" rtlCol="false" tIns="0" lIns="0" bIns="0" rIns="0">
            <a:spAutoFit/>
          </a:bodyPr>
          <a:lstStyle/>
          <a:p>
            <a:pPr algn="l">
              <a:lnSpc>
                <a:spcPts val="2520"/>
              </a:lnSpc>
            </a:pPr>
            <a:r>
              <a:rPr lang="en-US" sz="1800">
                <a:solidFill>
                  <a:srgbClr val="4D4D4D"/>
                </a:solidFill>
                <a:latin typeface="Open Sans"/>
                <a:ea typeface="Open Sans"/>
                <a:cs typeface="Open Sans"/>
                <a:sym typeface="Open Sans"/>
              </a:rPr>
              <a:t>DATA 602 · Detecting Heart Disease</a:t>
            </a:r>
          </a:p>
        </p:txBody>
      </p:sp>
      <p:sp>
        <p:nvSpPr>
          <p:cNvPr name="TextBox 30" id="30"/>
          <p:cNvSpPr txBox="true"/>
          <p:nvPr/>
        </p:nvSpPr>
        <p:spPr>
          <a:xfrm rot="0">
            <a:off x="15087600" y="9328785"/>
            <a:ext cx="1981200" cy="386715"/>
          </a:xfrm>
          <a:prstGeom prst="rect">
            <a:avLst/>
          </a:prstGeom>
        </p:spPr>
        <p:txBody>
          <a:bodyPr anchor="t" rtlCol="false" tIns="0" lIns="0" bIns="0" rIns="0">
            <a:spAutoFit/>
          </a:bodyPr>
          <a:lstStyle/>
          <a:p>
            <a:pPr algn="r">
              <a:lnSpc>
                <a:spcPts val="2520"/>
              </a:lnSpc>
            </a:pPr>
            <a:r>
              <a:rPr lang="en-US" sz="1800">
                <a:solidFill>
                  <a:srgbClr val="4D4D4D"/>
                </a:solidFill>
                <a:latin typeface="Open Sans"/>
                <a:ea typeface="Open Sans"/>
                <a:cs typeface="Open Sans"/>
                <a:sym typeface="Open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19200" y="1190625"/>
            <a:ext cx="16325088" cy="386715"/>
          </a:xfrm>
          <a:prstGeom prst="rect">
            <a:avLst/>
          </a:prstGeom>
        </p:spPr>
        <p:txBody>
          <a:bodyPr anchor="t" rtlCol="false" tIns="0" lIns="0" bIns="0" rIns="0">
            <a:spAutoFit/>
          </a:bodyPr>
          <a:lstStyle/>
          <a:p>
            <a:pPr algn="l">
              <a:lnSpc>
                <a:spcPts val="2520"/>
              </a:lnSpc>
            </a:pPr>
            <a:r>
              <a:rPr lang="en-US" b="true" sz="1800" spc="149">
                <a:solidFill>
                  <a:srgbClr val="D6001C"/>
                </a:solidFill>
                <a:latin typeface="Open Sans Bold"/>
                <a:ea typeface="Open Sans Bold"/>
                <a:cs typeface="Open Sans Bold"/>
                <a:sym typeface="Open Sans Bold"/>
              </a:rPr>
              <a:t>1 · MAXIMUM HEART RATE (THALCH)</a:t>
            </a:r>
          </a:p>
        </p:txBody>
      </p:sp>
      <p:sp>
        <p:nvSpPr>
          <p:cNvPr name="TextBox 3" id="3"/>
          <p:cNvSpPr txBox="true"/>
          <p:nvPr/>
        </p:nvSpPr>
        <p:spPr>
          <a:xfrm rot="0">
            <a:off x="1219200" y="1663065"/>
            <a:ext cx="16325088" cy="619125"/>
          </a:xfrm>
          <a:prstGeom prst="rect">
            <a:avLst/>
          </a:prstGeom>
        </p:spPr>
        <p:txBody>
          <a:bodyPr anchor="t" rtlCol="false" tIns="0" lIns="0" bIns="0" rIns="0">
            <a:spAutoFit/>
          </a:bodyPr>
          <a:lstStyle/>
          <a:p>
            <a:pPr algn="l">
              <a:lnSpc>
                <a:spcPts val="4950"/>
              </a:lnSpc>
            </a:pPr>
            <a:r>
              <a:rPr lang="en-US" sz="4500" b="true">
                <a:solidFill>
                  <a:srgbClr val="111111"/>
                </a:solidFill>
                <a:latin typeface="Open Sans Bold"/>
                <a:ea typeface="Open Sans Bold"/>
                <a:cs typeface="Open Sans Bold"/>
                <a:sym typeface="Open Sans Bold"/>
              </a:rPr>
              <a:t>Heart disease: lower maximum heart rate</a:t>
            </a:r>
          </a:p>
        </p:txBody>
      </p:sp>
      <p:sp>
        <p:nvSpPr>
          <p:cNvPr name="TextBox 4" id="4"/>
          <p:cNvSpPr txBox="true"/>
          <p:nvPr/>
        </p:nvSpPr>
        <p:spPr>
          <a:xfrm rot="0">
            <a:off x="1219200" y="2548890"/>
            <a:ext cx="7730871" cy="50292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Mean maximum heart rate (bpm)</a:t>
            </a:r>
          </a:p>
        </p:txBody>
      </p:sp>
      <p:grpSp>
        <p:nvGrpSpPr>
          <p:cNvPr name="Group 5" id="5"/>
          <p:cNvGrpSpPr/>
          <p:nvPr/>
        </p:nvGrpSpPr>
        <p:grpSpPr>
          <a:xfrm rot="0">
            <a:off x="1219200" y="3204210"/>
            <a:ext cx="3638550" cy="1783080"/>
            <a:chOff x="0" y="0"/>
            <a:chExt cx="4851400" cy="2377440"/>
          </a:xfrm>
        </p:grpSpPr>
        <p:sp>
          <p:nvSpPr>
            <p:cNvPr name="Freeform 6" id="6"/>
            <p:cNvSpPr/>
            <p:nvPr/>
          </p:nvSpPr>
          <p:spPr>
            <a:xfrm flipH="false" flipV="false" rot="0">
              <a:off x="0" y="0"/>
              <a:ext cx="4851400" cy="2377440"/>
            </a:xfrm>
            <a:custGeom>
              <a:avLst/>
              <a:gdLst/>
              <a:ahLst/>
              <a:cxnLst/>
              <a:rect r="r" b="b" t="t" l="l"/>
              <a:pathLst>
                <a:path h="2377440" w="4851400">
                  <a:moveTo>
                    <a:pt x="0" y="192532"/>
                  </a:moveTo>
                  <a:cubicBezTo>
                    <a:pt x="0" y="86233"/>
                    <a:pt x="86233" y="0"/>
                    <a:pt x="192532" y="0"/>
                  </a:cubicBezTo>
                  <a:lnTo>
                    <a:pt x="4658868" y="0"/>
                  </a:lnTo>
                  <a:cubicBezTo>
                    <a:pt x="4765167" y="0"/>
                    <a:pt x="4851400" y="86233"/>
                    <a:pt x="4851400" y="192532"/>
                  </a:cubicBezTo>
                  <a:lnTo>
                    <a:pt x="4851400" y="2184908"/>
                  </a:lnTo>
                  <a:cubicBezTo>
                    <a:pt x="4851400" y="2291207"/>
                    <a:pt x="4765167" y="2377440"/>
                    <a:pt x="4658868" y="2377440"/>
                  </a:cubicBezTo>
                  <a:lnTo>
                    <a:pt x="192532" y="2377440"/>
                  </a:lnTo>
                  <a:cubicBezTo>
                    <a:pt x="86233" y="2377440"/>
                    <a:pt x="0" y="2291207"/>
                    <a:pt x="0" y="2184908"/>
                  </a:cubicBezTo>
                  <a:close/>
                </a:path>
              </a:pathLst>
            </a:custGeom>
            <a:solidFill>
              <a:srgbClr val="FFFFFF"/>
            </a:solidFill>
            <a:ln w="19050" cap="sq">
              <a:solidFill>
                <a:srgbClr val="CFCFCF"/>
              </a:solidFill>
              <a:prstDash val="solid"/>
              <a:miter/>
            </a:ln>
          </p:spPr>
        </p:sp>
      </p:grpSp>
      <p:sp>
        <p:nvSpPr>
          <p:cNvPr name="TextBox 7" id="7"/>
          <p:cNvSpPr txBox="true"/>
          <p:nvPr/>
        </p:nvSpPr>
        <p:spPr>
          <a:xfrm rot="0">
            <a:off x="1501140" y="3533775"/>
            <a:ext cx="3166910" cy="744855"/>
          </a:xfrm>
          <a:prstGeom prst="rect">
            <a:avLst/>
          </a:prstGeom>
        </p:spPr>
        <p:txBody>
          <a:bodyPr anchor="t" rtlCol="false" tIns="0" lIns="0" bIns="0" rIns="0">
            <a:spAutoFit/>
          </a:bodyPr>
          <a:lstStyle/>
          <a:p>
            <a:pPr algn="l">
              <a:lnSpc>
                <a:spcPts val="5940"/>
              </a:lnSpc>
            </a:pPr>
            <a:r>
              <a:rPr lang="en-US" sz="5400" b="true">
                <a:solidFill>
                  <a:srgbClr val="D6001C"/>
                </a:solidFill>
                <a:latin typeface="Open Sans Bold"/>
                <a:ea typeface="Open Sans Bold"/>
                <a:cs typeface="Open Sans Bold"/>
                <a:sym typeface="Open Sans Bold"/>
              </a:rPr>
              <a:t>128.3</a:t>
            </a:r>
          </a:p>
        </p:txBody>
      </p:sp>
      <p:sp>
        <p:nvSpPr>
          <p:cNvPr name="TextBox 8" id="8"/>
          <p:cNvSpPr txBox="true"/>
          <p:nvPr/>
        </p:nvSpPr>
        <p:spPr>
          <a:xfrm rot="0">
            <a:off x="1501140" y="4240530"/>
            <a:ext cx="3166910" cy="50292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Diseased</a:t>
            </a:r>
          </a:p>
        </p:txBody>
      </p:sp>
      <p:grpSp>
        <p:nvGrpSpPr>
          <p:cNvPr name="Group 9" id="9"/>
          <p:cNvGrpSpPr/>
          <p:nvPr/>
        </p:nvGrpSpPr>
        <p:grpSpPr>
          <a:xfrm rot="0">
            <a:off x="5086350" y="3204210"/>
            <a:ext cx="3638550" cy="1783080"/>
            <a:chOff x="0" y="0"/>
            <a:chExt cx="4851400" cy="2377440"/>
          </a:xfrm>
        </p:grpSpPr>
        <p:sp>
          <p:nvSpPr>
            <p:cNvPr name="Freeform 10" id="10"/>
            <p:cNvSpPr/>
            <p:nvPr/>
          </p:nvSpPr>
          <p:spPr>
            <a:xfrm flipH="false" flipV="false" rot="0">
              <a:off x="0" y="0"/>
              <a:ext cx="4851400" cy="2377440"/>
            </a:xfrm>
            <a:custGeom>
              <a:avLst/>
              <a:gdLst/>
              <a:ahLst/>
              <a:cxnLst/>
              <a:rect r="r" b="b" t="t" l="l"/>
              <a:pathLst>
                <a:path h="2377440" w="4851400">
                  <a:moveTo>
                    <a:pt x="0" y="192532"/>
                  </a:moveTo>
                  <a:cubicBezTo>
                    <a:pt x="0" y="86233"/>
                    <a:pt x="86233" y="0"/>
                    <a:pt x="192532" y="0"/>
                  </a:cubicBezTo>
                  <a:lnTo>
                    <a:pt x="4658868" y="0"/>
                  </a:lnTo>
                  <a:cubicBezTo>
                    <a:pt x="4765167" y="0"/>
                    <a:pt x="4851400" y="86233"/>
                    <a:pt x="4851400" y="192532"/>
                  </a:cubicBezTo>
                  <a:lnTo>
                    <a:pt x="4851400" y="2184908"/>
                  </a:lnTo>
                  <a:cubicBezTo>
                    <a:pt x="4851400" y="2291207"/>
                    <a:pt x="4765167" y="2377440"/>
                    <a:pt x="4658868" y="2377440"/>
                  </a:cubicBezTo>
                  <a:lnTo>
                    <a:pt x="192532" y="2377440"/>
                  </a:lnTo>
                  <a:cubicBezTo>
                    <a:pt x="86233" y="2377440"/>
                    <a:pt x="0" y="2291207"/>
                    <a:pt x="0" y="2184908"/>
                  </a:cubicBezTo>
                  <a:close/>
                </a:path>
              </a:pathLst>
            </a:custGeom>
            <a:solidFill>
              <a:srgbClr val="FFFFFF"/>
            </a:solidFill>
            <a:ln w="19050" cap="sq">
              <a:solidFill>
                <a:srgbClr val="CFCFCF"/>
              </a:solidFill>
              <a:prstDash val="solid"/>
              <a:miter/>
            </a:ln>
          </p:spPr>
        </p:sp>
      </p:grpSp>
      <p:sp>
        <p:nvSpPr>
          <p:cNvPr name="TextBox 11" id="11"/>
          <p:cNvSpPr txBox="true"/>
          <p:nvPr/>
        </p:nvSpPr>
        <p:spPr>
          <a:xfrm rot="0">
            <a:off x="5368290" y="3533775"/>
            <a:ext cx="3166910" cy="744855"/>
          </a:xfrm>
          <a:prstGeom prst="rect">
            <a:avLst/>
          </a:prstGeom>
        </p:spPr>
        <p:txBody>
          <a:bodyPr anchor="t" rtlCol="false" tIns="0" lIns="0" bIns="0" rIns="0">
            <a:spAutoFit/>
          </a:bodyPr>
          <a:lstStyle/>
          <a:p>
            <a:pPr algn="l">
              <a:lnSpc>
                <a:spcPts val="5940"/>
              </a:lnSpc>
            </a:pPr>
            <a:r>
              <a:rPr lang="en-US" sz="5400" b="true">
                <a:solidFill>
                  <a:srgbClr val="111111"/>
                </a:solidFill>
                <a:latin typeface="Open Sans Bold"/>
                <a:ea typeface="Open Sans Bold"/>
                <a:cs typeface="Open Sans Bold"/>
                <a:sym typeface="Open Sans Bold"/>
              </a:rPr>
              <a:t>148.8</a:t>
            </a:r>
          </a:p>
        </p:txBody>
      </p:sp>
      <p:sp>
        <p:nvSpPr>
          <p:cNvPr name="TextBox 12" id="12"/>
          <p:cNvSpPr txBox="true"/>
          <p:nvPr/>
        </p:nvSpPr>
        <p:spPr>
          <a:xfrm rot="0">
            <a:off x="5368290" y="4240530"/>
            <a:ext cx="3166910" cy="50292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Not diseased</a:t>
            </a:r>
          </a:p>
        </p:txBody>
      </p:sp>
      <p:sp>
        <p:nvSpPr>
          <p:cNvPr name="TextBox 13" id="13"/>
          <p:cNvSpPr txBox="true"/>
          <p:nvPr/>
        </p:nvSpPr>
        <p:spPr>
          <a:xfrm rot="0">
            <a:off x="1219200" y="5177790"/>
            <a:ext cx="7730871" cy="541020"/>
          </a:xfrm>
          <a:prstGeom prst="rect">
            <a:avLst/>
          </a:prstGeom>
        </p:spPr>
        <p:txBody>
          <a:bodyPr anchor="t" rtlCol="false" tIns="0" lIns="0" bIns="0" rIns="0">
            <a:spAutoFit/>
          </a:bodyPr>
          <a:lstStyle/>
          <a:p>
            <a:pPr algn="l">
              <a:lnSpc>
                <a:spcPts val="3960"/>
              </a:lnSpc>
            </a:pPr>
            <a:r>
              <a:rPr lang="en-US" sz="3300">
                <a:solidFill>
                  <a:srgbClr val="111111"/>
                </a:solidFill>
                <a:latin typeface="Open Sans"/>
                <a:ea typeface="Open Sans"/>
                <a:cs typeface="Open Sans"/>
                <a:sym typeface="Open Sans"/>
              </a:rPr>
              <a:t>Difference: −20.5 bpm</a:t>
            </a:r>
          </a:p>
        </p:txBody>
      </p:sp>
      <p:sp>
        <p:nvSpPr>
          <p:cNvPr name="TextBox 14" id="14"/>
          <p:cNvSpPr txBox="true"/>
          <p:nvPr/>
        </p:nvSpPr>
        <p:spPr>
          <a:xfrm rot="0">
            <a:off x="1219200" y="5833110"/>
            <a:ext cx="7730871" cy="50292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t = −12.61, df = 863, p &lt; 2.2e-16. We reject H₀.</a:t>
            </a:r>
          </a:p>
        </p:txBody>
      </p:sp>
      <p:sp>
        <p:nvSpPr>
          <p:cNvPr name="TextBox 15" id="15"/>
          <p:cNvSpPr txBox="true"/>
          <p:nvPr/>
        </p:nvSpPr>
        <p:spPr>
          <a:xfrm rot="0">
            <a:off x="1219200" y="6450330"/>
            <a:ext cx="7730871" cy="81534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Pooled t interval: −23.74 to −17.34</a:t>
            </a:r>
          </a:p>
          <a:p>
            <a:pPr algn="l">
              <a:lnSpc>
                <a:spcPts val="3359"/>
              </a:lnSpc>
            </a:pPr>
            <a:r>
              <a:rPr lang="en-US" sz="2400">
                <a:solidFill>
                  <a:srgbClr val="333333"/>
                </a:solidFill>
                <a:latin typeface="Open Sans"/>
                <a:ea typeface="Open Sans"/>
                <a:cs typeface="Open Sans"/>
                <a:sym typeface="Open Sans"/>
              </a:rPr>
              <a:t>Bootstrap interval: −23.71 to −17.36</a:t>
            </a:r>
          </a:p>
        </p:txBody>
      </p:sp>
      <p:grpSp>
        <p:nvGrpSpPr>
          <p:cNvPr name="Group 16" id="16"/>
          <p:cNvGrpSpPr/>
          <p:nvPr/>
        </p:nvGrpSpPr>
        <p:grpSpPr>
          <a:xfrm rot="0">
            <a:off x="9258300" y="2586990"/>
            <a:ext cx="7810500" cy="4838700"/>
            <a:chOff x="0" y="0"/>
            <a:chExt cx="10414000" cy="6451600"/>
          </a:xfrm>
        </p:grpSpPr>
        <p:sp>
          <p:nvSpPr>
            <p:cNvPr name="Freeform 17" id="17"/>
            <p:cNvSpPr/>
            <p:nvPr/>
          </p:nvSpPr>
          <p:spPr>
            <a:xfrm flipH="false" flipV="false" rot="0">
              <a:off x="0" y="0"/>
              <a:ext cx="10414000" cy="6451600"/>
            </a:xfrm>
            <a:custGeom>
              <a:avLst/>
              <a:gdLst/>
              <a:ahLst/>
              <a:cxnLst/>
              <a:rect r="r" b="b" t="t" l="l"/>
              <a:pathLst>
                <a:path h="6451600" w="10414000">
                  <a:moveTo>
                    <a:pt x="0" y="152400"/>
                  </a:moveTo>
                  <a:cubicBezTo>
                    <a:pt x="0" y="68199"/>
                    <a:pt x="68199" y="0"/>
                    <a:pt x="152400" y="0"/>
                  </a:cubicBezTo>
                  <a:lnTo>
                    <a:pt x="10261600" y="0"/>
                  </a:lnTo>
                  <a:cubicBezTo>
                    <a:pt x="10345801" y="0"/>
                    <a:pt x="10414000" y="68199"/>
                    <a:pt x="10414000" y="152400"/>
                  </a:cubicBezTo>
                  <a:lnTo>
                    <a:pt x="10414000" y="6299200"/>
                  </a:lnTo>
                  <a:cubicBezTo>
                    <a:pt x="10414000" y="6383401"/>
                    <a:pt x="10345801" y="6451600"/>
                    <a:pt x="10261600" y="6451600"/>
                  </a:cubicBezTo>
                  <a:lnTo>
                    <a:pt x="152400" y="6451600"/>
                  </a:lnTo>
                  <a:cubicBezTo>
                    <a:pt x="68199" y="6451600"/>
                    <a:pt x="0" y="6383401"/>
                    <a:pt x="0" y="6299200"/>
                  </a:cubicBezTo>
                  <a:close/>
                </a:path>
              </a:pathLst>
            </a:custGeom>
            <a:solidFill>
              <a:srgbClr val="FFFFFF"/>
            </a:solidFill>
          </p:spPr>
        </p:sp>
      </p:grpSp>
      <p:grpSp>
        <p:nvGrpSpPr>
          <p:cNvPr name="Group 18" id="18"/>
          <p:cNvGrpSpPr/>
          <p:nvPr/>
        </p:nvGrpSpPr>
        <p:grpSpPr>
          <a:xfrm rot="0">
            <a:off x="9277350" y="2606040"/>
            <a:ext cx="7772400" cy="4800600"/>
            <a:chOff x="0" y="0"/>
            <a:chExt cx="10363200" cy="6400800"/>
          </a:xfrm>
        </p:grpSpPr>
        <p:sp>
          <p:nvSpPr>
            <p:cNvPr name="Freeform 19" id="19" descr="Bootstrap distribution of the mean difference in maximum heart rate with the 95% interval marked by dashed lines"/>
            <p:cNvSpPr/>
            <p:nvPr/>
          </p:nvSpPr>
          <p:spPr>
            <a:xfrm flipH="false" flipV="false" rot="0">
              <a:off x="0" y="0"/>
              <a:ext cx="10363200" cy="6400800"/>
            </a:xfrm>
            <a:custGeom>
              <a:avLst/>
              <a:gdLst/>
              <a:ahLst/>
              <a:cxnLst/>
              <a:rect r="r" b="b" t="t" l="l"/>
              <a:pathLst>
                <a:path h="6400800" w="10363200">
                  <a:moveTo>
                    <a:pt x="0" y="0"/>
                  </a:moveTo>
                  <a:lnTo>
                    <a:pt x="10363200" y="0"/>
                  </a:lnTo>
                  <a:lnTo>
                    <a:pt x="10363200" y="6400800"/>
                  </a:lnTo>
                  <a:lnTo>
                    <a:pt x="0" y="6400800"/>
                  </a:lnTo>
                  <a:lnTo>
                    <a:pt x="0" y="0"/>
                  </a:lnTo>
                  <a:close/>
                </a:path>
              </a:pathLst>
            </a:custGeom>
            <a:blipFill>
              <a:blip r:embed="rId3"/>
              <a:stretch>
                <a:fillRect l="145" t="0" r="145" b="0"/>
              </a:stretch>
            </a:blipFill>
          </p:spPr>
        </p:sp>
      </p:grpSp>
      <p:grpSp>
        <p:nvGrpSpPr>
          <p:cNvPr name="Group 20" id="20"/>
          <p:cNvGrpSpPr/>
          <p:nvPr/>
        </p:nvGrpSpPr>
        <p:grpSpPr>
          <a:xfrm rot="0">
            <a:off x="9258300" y="2586990"/>
            <a:ext cx="7810500" cy="4838700"/>
            <a:chOff x="0" y="0"/>
            <a:chExt cx="10414000" cy="6451600"/>
          </a:xfrm>
        </p:grpSpPr>
        <p:sp>
          <p:nvSpPr>
            <p:cNvPr name="Freeform 21" id="21"/>
            <p:cNvSpPr/>
            <p:nvPr/>
          </p:nvSpPr>
          <p:spPr>
            <a:xfrm flipH="false" flipV="false" rot="0">
              <a:off x="0" y="0"/>
              <a:ext cx="10414000" cy="6451600"/>
            </a:xfrm>
            <a:custGeom>
              <a:avLst/>
              <a:gdLst/>
              <a:ahLst/>
              <a:cxnLst/>
              <a:rect r="r" b="b" t="t" l="l"/>
              <a:pathLst>
                <a:path h="6451600" w="10414000">
                  <a:moveTo>
                    <a:pt x="0" y="140208"/>
                  </a:moveTo>
                  <a:cubicBezTo>
                    <a:pt x="0" y="62738"/>
                    <a:pt x="62738" y="0"/>
                    <a:pt x="140208" y="0"/>
                  </a:cubicBezTo>
                  <a:lnTo>
                    <a:pt x="10273792" y="0"/>
                  </a:lnTo>
                  <a:cubicBezTo>
                    <a:pt x="10351262" y="0"/>
                    <a:pt x="10414000" y="62738"/>
                    <a:pt x="10414000" y="140208"/>
                  </a:cubicBezTo>
                  <a:lnTo>
                    <a:pt x="10414000" y="6311392"/>
                  </a:lnTo>
                  <a:cubicBezTo>
                    <a:pt x="10414000" y="6388862"/>
                    <a:pt x="10351262" y="6451600"/>
                    <a:pt x="10273792" y="6451600"/>
                  </a:cubicBezTo>
                  <a:lnTo>
                    <a:pt x="140208" y="6451600"/>
                  </a:lnTo>
                  <a:cubicBezTo>
                    <a:pt x="62738" y="6451600"/>
                    <a:pt x="0" y="6388862"/>
                    <a:pt x="0" y="6311392"/>
                  </a:cubicBezTo>
                  <a:close/>
                </a:path>
              </a:pathLst>
            </a:custGeom>
            <a:blipFill>
              <a:blip r:embed="rId4">
                <a:alphaModFix amt="0"/>
              </a:blip>
              <a:stretch>
                <a:fillRect l="-29485" t="0" r="-29485" b="0"/>
              </a:stretch>
            </a:blipFill>
            <a:ln w="19050" cap="sq">
              <a:solidFill>
                <a:srgbClr val="CFCFCF"/>
              </a:solidFill>
              <a:prstDash val="solid"/>
              <a:miter/>
            </a:ln>
          </p:spPr>
        </p:sp>
      </p:grpSp>
      <p:sp>
        <p:nvSpPr>
          <p:cNvPr name="TextBox 22" id="22"/>
          <p:cNvSpPr txBox="true"/>
          <p:nvPr/>
        </p:nvSpPr>
        <p:spPr>
          <a:xfrm rot="0">
            <a:off x="9258300" y="7501900"/>
            <a:ext cx="8044815" cy="822960"/>
          </a:xfrm>
          <a:prstGeom prst="rect">
            <a:avLst/>
          </a:prstGeom>
        </p:spPr>
        <p:txBody>
          <a:bodyPr anchor="t" rtlCol="false" tIns="0" lIns="0" bIns="0" rIns="0">
            <a:spAutoFit/>
          </a:bodyPr>
          <a:lstStyle/>
          <a:p>
            <a:pPr algn="l">
              <a:lnSpc>
                <a:spcPts val="2940"/>
              </a:lnSpc>
            </a:pPr>
            <a:r>
              <a:rPr lang="en-US" sz="2100">
                <a:solidFill>
                  <a:srgbClr val="333333"/>
                </a:solidFill>
                <a:latin typeface="Open Sans"/>
                <a:ea typeface="Open Sans"/>
                <a:cs typeface="Open Sans"/>
                <a:sym typeface="Open Sans"/>
              </a:rPr>
              <a:t>Bootstrap distribution of the mean difference. Dashed lines mark the 95% interval.</a:t>
            </a:r>
          </a:p>
        </p:txBody>
      </p:sp>
      <p:sp>
        <p:nvSpPr>
          <p:cNvPr name="TextBox 23" id="23"/>
          <p:cNvSpPr txBox="true"/>
          <p:nvPr/>
        </p:nvSpPr>
        <p:spPr>
          <a:xfrm rot="0">
            <a:off x="1219200" y="9328785"/>
            <a:ext cx="11772900" cy="386715"/>
          </a:xfrm>
          <a:prstGeom prst="rect">
            <a:avLst/>
          </a:prstGeom>
        </p:spPr>
        <p:txBody>
          <a:bodyPr anchor="t" rtlCol="false" tIns="0" lIns="0" bIns="0" rIns="0">
            <a:spAutoFit/>
          </a:bodyPr>
          <a:lstStyle/>
          <a:p>
            <a:pPr algn="l">
              <a:lnSpc>
                <a:spcPts val="2520"/>
              </a:lnSpc>
            </a:pPr>
            <a:r>
              <a:rPr lang="en-US" sz="1800">
                <a:solidFill>
                  <a:srgbClr val="4D4D4D"/>
                </a:solidFill>
                <a:latin typeface="Open Sans"/>
                <a:ea typeface="Open Sans"/>
                <a:cs typeface="Open Sans"/>
                <a:sym typeface="Open Sans"/>
              </a:rPr>
              <a:t>DATA 602 · Detecting Heart Disease</a:t>
            </a:r>
          </a:p>
        </p:txBody>
      </p:sp>
      <p:sp>
        <p:nvSpPr>
          <p:cNvPr name="TextBox 24" id="24"/>
          <p:cNvSpPr txBox="true"/>
          <p:nvPr/>
        </p:nvSpPr>
        <p:spPr>
          <a:xfrm rot="0">
            <a:off x="15087600" y="9328785"/>
            <a:ext cx="1981200" cy="386715"/>
          </a:xfrm>
          <a:prstGeom prst="rect">
            <a:avLst/>
          </a:prstGeom>
        </p:spPr>
        <p:txBody>
          <a:bodyPr anchor="t" rtlCol="false" tIns="0" lIns="0" bIns="0" rIns="0">
            <a:spAutoFit/>
          </a:bodyPr>
          <a:lstStyle/>
          <a:p>
            <a:pPr algn="r">
              <a:lnSpc>
                <a:spcPts val="2520"/>
              </a:lnSpc>
            </a:pPr>
            <a:r>
              <a:rPr lang="en-US" sz="1800">
                <a:solidFill>
                  <a:srgbClr val="4D4D4D"/>
                </a:solidFill>
                <a:latin typeface="Open Sans"/>
                <a:ea typeface="Open Sans"/>
                <a:cs typeface="Open Sans"/>
                <a:sym typeface="Open Sans"/>
              </a:rPr>
              <a:t>8</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0F0F0"/>
        </a:solidFill>
      </p:bgPr>
    </p:bg>
    <p:spTree>
      <p:nvGrpSpPr>
        <p:cNvPr id="1" name=""/>
        <p:cNvGrpSpPr/>
        <p:nvPr/>
      </p:nvGrpSpPr>
      <p:grpSpPr>
        <a:xfrm>
          <a:off x="0" y="0"/>
          <a:ext cx="0" cy="0"/>
          <a:chOff x="0" y="0"/>
          <a:chExt cx="0" cy="0"/>
        </a:xfrm>
      </p:grpSpPr>
      <p:sp>
        <p:nvSpPr>
          <p:cNvPr name="TextBox 2" id="2"/>
          <p:cNvSpPr txBox="true"/>
          <p:nvPr/>
        </p:nvSpPr>
        <p:spPr>
          <a:xfrm rot="0">
            <a:off x="1219200" y="1190625"/>
            <a:ext cx="16325088" cy="386715"/>
          </a:xfrm>
          <a:prstGeom prst="rect">
            <a:avLst/>
          </a:prstGeom>
        </p:spPr>
        <p:txBody>
          <a:bodyPr anchor="t" rtlCol="false" tIns="0" lIns="0" bIns="0" rIns="0">
            <a:spAutoFit/>
          </a:bodyPr>
          <a:lstStyle/>
          <a:p>
            <a:pPr algn="l">
              <a:lnSpc>
                <a:spcPts val="2520"/>
              </a:lnSpc>
            </a:pPr>
            <a:r>
              <a:rPr lang="en-US" b="true" sz="1800" spc="149">
                <a:solidFill>
                  <a:srgbClr val="D6001C"/>
                </a:solidFill>
                <a:latin typeface="Open Sans Bold"/>
                <a:ea typeface="Open Sans Bold"/>
                <a:cs typeface="Open Sans Bold"/>
                <a:sym typeface="Open Sans Bold"/>
              </a:rPr>
              <a:t>2 · SERUM CHOLESTEROL (CHOL)</a:t>
            </a:r>
          </a:p>
        </p:txBody>
      </p:sp>
      <p:sp>
        <p:nvSpPr>
          <p:cNvPr name="TextBox 3" id="3"/>
          <p:cNvSpPr txBox="true"/>
          <p:nvPr/>
        </p:nvSpPr>
        <p:spPr>
          <a:xfrm rot="0">
            <a:off x="1219200" y="1663075"/>
            <a:ext cx="16325088" cy="619125"/>
          </a:xfrm>
          <a:prstGeom prst="rect">
            <a:avLst/>
          </a:prstGeom>
        </p:spPr>
        <p:txBody>
          <a:bodyPr anchor="t" rtlCol="false" tIns="0" lIns="0" bIns="0" rIns="0">
            <a:spAutoFit/>
          </a:bodyPr>
          <a:lstStyle/>
          <a:p>
            <a:pPr algn="l">
              <a:lnSpc>
                <a:spcPts val="4950"/>
              </a:lnSpc>
            </a:pPr>
            <a:r>
              <a:rPr lang="en-US" sz="4500" b="true">
                <a:solidFill>
                  <a:srgbClr val="111111"/>
                </a:solidFill>
                <a:latin typeface="Open Sans Bold"/>
                <a:ea typeface="Open Sans Bold"/>
                <a:cs typeface="Open Sans Bold"/>
                <a:sym typeface="Open Sans Bold"/>
              </a:rPr>
              <a:t>Cholesterol: missing values and checks</a:t>
            </a:r>
          </a:p>
        </p:txBody>
      </p:sp>
      <p:grpSp>
        <p:nvGrpSpPr>
          <p:cNvPr name="Group 4" id="4"/>
          <p:cNvGrpSpPr/>
          <p:nvPr/>
        </p:nvGrpSpPr>
        <p:grpSpPr>
          <a:xfrm rot="0">
            <a:off x="1219200" y="2625100"/>
            <a:ext cx="9130779" cy="4690110"/>
            <a:chOff x="0" y="0"/>
            <a:chExt cx="12174372" cy="6253480"/>
          </a:xfrm>
        </p:grpSpPr>
        <p:sp>
          <p:nvSpPr>
            <p:cNvPr name="Freeform 5" id="5"/>
            <p:cNvSpPr/>
            <p:nvPr/>
          </p:nvSpPr>
          <p:spPr>
            <a:xfrm flipH="false" flipV="false" rot="0">
              <a:off x="0" y="0"/>
              <a:ext cx="12174347" cy="6253480"/>
            </a:xfrm>
            <a:custGeom>
              <a:avLst/>
              <a:gdLst/>
              <a:ahLst/>
              <a:cxnLst/>
              <a:rect r="r" b="b" t="t" l="l"/>
              <a:pathLst>
                <a:path h="6253480" w="12174347">
                  <a:moveTo>
                    <a:pt x="0" y="191262"/>
                  </a:moveTo>
                  <a:cubicBezTo>
                    <a:pt x="0" y="85598"/>
                    <a:pt x="85598" y="0"/>
                    <a:pt x="191262" y="0"/>
                  </a:cubicBezTo>
                  <a:lnTo>
                    <a:pt x="11983085" y="0"/>
                  </a:lnTo>
                  <a:cubicBezTo>
                    <a:pt x="12088749" y="0"/>
                    <a:pt x="12174347" y="85598"/>
                    <a:pt x="12174347" y="191262"/>
                  </a:cubicBezTo>
                  <a:lnTo>
                    <a:pt x="12174347" y="6062218"/>
                  </a:lnTo>
                  <a:cubicBezTo>
                    <a:pt x="12174347" y="6167882"/>
                    <a:pt x="12088749" y="6253480"/>
                    <a:pt x="11983085" y="6253480"/>
                  </a:cubicBezTo>
                  <a:lnTo>
                    <a:pt x="191262" y="6253480"/>
                  </a:lnTo>
                  <a:cubicBezTo>
                    <a:pt x="85598" y="6253480"/>
                    <a:pt x="0" y="6167882"/>
                    <a:pt x="0" y="6062218"/>
                  </a:cubicBezTo>
                  <a:close/>
                </a:path>
              </a:pathLst>
            </a:custGeom>
            <a:solidFill>
              <a:srgbClr val="FFFFFF"/>
            </a:solidFill>
            <a:ln w="19050" cap="sq">
              <a:solidFill>
                <a:srgbClr val="CFCFCF"/>
              </a:solidFill>
              <a:prstDash val="solid"/>
              <a:miter/>
            </a:ln>
          </p:spPr>
        </p:sp>
      </p:grpSp>
      <p:sp>
        <p:nvSpPr>
          <p:cNvPr name="TextBox 6" id="6"/>
          <p:cNvSpPr txBox="true"/>
          <p:nvPr/>
        </p:nvSpPr>
        <p:spPr>
          <a:xfrm rot="0">
            <a:off x="1615440" y="2983230"/>
            <a:ext cx="8588454" cy="929640"/>
          </a:xfrm>
          <a:prstGeom prst="rect">
            <a:avLst/>
          </a:prstGeom>
        </p:spPr>
        <p:txBody>
          <a:bodyPr anchor="t" rtlCol="false" tIns="0" lIns="0" bIns="0" rIns="0">
            <a:spAutoFit/>
          </a:bodyPr>
          <a:lstStyle/>
          <a:p>
            <a:pPr algn="l">
              <a:lnSpc>
                <a:spcPts val="3359"/>
              </a:lnSpc>
            </a:pPr>
            <a:r>
              <a:rPr lang="en-US" sz="2400">
                <a:solidFill>
                  <a:srgbClr val="111111"/>
                </a:solidFill>
                <a:latin typeface="Open Sans"/>
                <a:ea typeface="Open Sans"/>
                <a:cs typeface="Open Sans"/>
                <a:sym typeface="Open Sans"/>
              </a:rPr>
              <a:t>202 of 920 patients (22%) have no usable cholesterol value, leaving 346 diseased and 372 not diseased.</a:t>
            </a:r>
          </a:p>
        </p:txBody>
      </p:sp>
      <p:graphicFrame>
        <p:nvGraphicFramePr>
          <p:cNvPr name="Table 7" id="7"/>
          <p:cNvGraphicFramePr>
            <a:graphicFrameLocks noGrp="true"/>
          </p:cNvGraphicFramePr>
          <p:nvPr/>
        </p:nvGraphicFramePr>
        <p:xfrm>
          <a:off x="1630680" y="4042408"/>
          <a:ext cx="7981950" cy="2857500"/>
        </p:xfrm>
        <a:graphic>
          <a:graphicData uri="http://schemas.openxmlformats.org/drawingml/2006/table">
            <a:tbl>
              <a:tblPr/>
              <a:tblGrid>
                <a:gridCol w="2387129"/>
                <a:gridCol w="1603846"/>
                <a:gridCol w="2073815"/>
                <a:gridCol w="1917160"/>
              </a:tblGrid>
              <a:tr h="571500">
                <a:tc>
                  <a:txBody>
                    <a:bodyPr anchor="t" rtlCol="false"/>
                    <a:lstStyle/>
                    <a:p>
                      <a:pPr algn="l">
                        <a:lnSpc>
                          <a:spcPts val="2940"/>
                        </a:lnSpc>
                        <a:defRPr/>
                      </a:pPr>
                      <a:r>
                        <a:rPr lang="en-US" sz="2100" b="true">
                          <a:solidFill>
                            <a:srgbClr val="FFFFFF"/>
                          </a:solidFill>
                          <a:latin typeface="Open Sans Bold"/>
                          <a:ea typeface="Open Sans Bold"/>
                          <a:cs typeface="Open Sans Bold"/>
                          <a:sym typeface="Open Sans Bold"/>
                        </a:rPr>
                        <a:t>Hospital</a:t>
                      </a:r>
                      <a:endParaRPr lang="en-US" sz="1100"/>
                    </a:p>
                  </a:txBody>
                  <a:tcPr marL="62230" marR="62230" marT="62230" marB="62230" anchor="t">
                    <a:lnL cmpd="sng" algn="ctr" cap="flat" w="12700">
                      <a:solidFill>
                        <a:srgbClr val="CBCBCB"/>
                      </a:solidFill>
                      <a:prstDash val="solid"/>
                      <a:round/>
                      <a:headEnd type="none" w="med" len="med"/>
                      <a:tailEnd type="none" w="med" len="med"/>
                    </a:lnL>
                    <a:lnR cmpd="sng" algn="ctr" cap="flat" w="12700">
                      <a:solidFill>
                        <a:srgbClr val="AB041A"/>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AB041A"/>
                      </a:solidFill>
                      <a:prstDash val="solid"/>
                      <a:round/>
                      <a:headEnd type="none" w="med" len="med"/>
                      <a:tailEnd type="none" w="med" len="med"/>
                    </a:lnB>
                    <a:solidFill>
                      <a:srgbClr val="D6001C"/>
                    </a:solidFill>
                  </a:tcPr>
                </a:tc>
                <a:tc>
                  <a:txBody>
                    <a:bodyPr anchor="t" rtlCol="false"/>
                    <a:lstStyle/>
                    <a:p>
                      <a:pPr algn="l">
                        <a:lnSpc>
                          <a:spcPts val="2940"/>
                        </a:lnSpc>
                        <a:defRPr/>
                      </a:pPr>
                      <a:r>
                        <a:rPr lang="en-US" sz="2100" b="true">
                          <a:solidFill>
                            <a:srgbClr val="FFFFFF"/>
                          </a:solidFill>
                          <a:latin typeface="Open Sans Bold"/>
                          <a:ea typeface="Open Sans Bold"/>
                          <a:cs typeface="Open Sans Bold"/>
                          <a:sym typeface="Open Sans Bold"/>
                        </a:rPr>
                        <a:t>Patients</a:t>
                      </a:r>
                      <a:endParaRPr lang="en-US" sz="1100"/>
                    </a:p>
                  </a:txBody>
                  <a:tcPr marL="62230" marR="62230" marT="62230" marB="62230" anchor="t">
                    <a:lnL cmpd="sng" algn="ctr" cap="flat" w="12700">
                      <a:solidFill>
                        <a:srgbClr val="AB041A"/>
                      </a:solidFill>
                      <a:prstDash val="solid"/>
                      <a:round/>
                      <a:headEnd type="none" w="med" len="med"/>
                      <a:tailEnd type="none" w="med" len="med"/>
                    </a:lnL>
                    <a:lnR cmpd="sng" algn="ctr" cap="flat" w="12700">
                      <a:solidFill>
                        <a:srgbClr val="AB041A"/>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AB041A"/>
                      </a:solidFill>
                      <a:prstDash val="solid"/>
                      <a:round/>
                      <a:headEnd type="none" w="med" len="med"/>
                      <a:tailEnd type="none" w="med" len="med"/>
                    </a:lnB>
                    <a:solidFill>
                      <a:srgbClr val="D6001C"/>
                    </a:solidFill>
                  </a:tcPr>
                </a:tc>
                <a:tc>
                  <a:txBody>
                    <a:bodyPr anchor="t" rtlCol="false"/>
                    <a:lstStyle/>
                    <a:p>
                      <a:pPr algn="l">
                        <a:lnSpc>
                          <a:spcPts val="2940"/>
                        </a:lnSpc>
                        <a:defRPr/>
                      </a:pPr>
                      <a:r>
                        <a:rPr lang="en-US" sz="2100" b="true">
                          <a:solidFill>
                            <a:srgbClr val="FFFFFF"/>
                          </a:solidFill>
                          <a:latin typeface="Open Sans Bold"/>
                          <a:ea typeface="Open Sans Bold"/>
                          <a:cs typeface="Open Sans Bold"/>
                          <a:sym typeface="Open Sans Bold"/>
                        </a:rPr>
                        <a:t>Missing chol</a:t>
                      </a:r>
                      <a:endParaRPr lang="en-US" sz="1100"/>
                    </a:p>
                  </a:txBody>
                  <a:tcPr marL="62230" marR="62230" marT="62230" marB="62230" anchor="t">
                    <a:lnL cmpd="sng" algn="ctr" cap="flat" w="12700">
                      <a:solidFill>
                        <a:srgbClr val="AB041A"/>
                      </a:solidFill>
                      <a:prstDash val="solid"/>
                      <a:round/>
                      <a:headEnd type="none" w="med" len="med"/>
                      <a:tailEnd type="none" w="med" len="med"/>
                    </a:lnL>
                    <a:lnR cmpd="sng" algn="ctr" cap="flat" w="12700">
                      <a:solidFill>
                        <a:srgbClr val="AB041A"/>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AB041A"/>
                      </a:solidFill>
                      <a:prstDash val="solid"/>
                      <a:round/>
                      <a:headEnd type="none" w="med" len="med"/>
                      <a:tailEnd type="none" w="med" len="med"/>
                    </a:lnB>
                    <a:solidFill>
                      <a:srgbClr val="D6001C"/>
                    </a:solidFill>
                  </a:tcPr>
                </a:tc>
                <a:tc>
                  <a:txBody>
                    <a:bodyPr anchor="t" rtlCol="false"/>
                    <a:lstStyle/>
                    <a:p>
                      <a:pPr algn="l">
                        <a:lnSpc>
                          <a:spcPts val="2940"/>
                        </a:lnSpc>
                        <a:defRPr/>
                      </a:pPr>
                      <a:r>
                        <a:rPr lang="en-US" sz="2100" b="true">
                          <a:solidFill>
                            <a:srgbClr val="FFFFFF"/>
                          </a:solidFill>
                          <a:latin typeface="Open Sans Bold"/>
                          <a:ea typeface="Open Sans Bold"/>
                          <a:cs typeface="Open Sans Bold"/>
                          <a:sym typeface="Open Sans Bold"/>
                        </a:rPr>
                        <a:t>% diseased</a:t>
                      </a:r>
                      <a:endParaRPr lang="en-US" sz="1100"/>
                    </a:p>
                  </a:txBody>
                  <a:tcPr marL="62230" marR="62230" marT="62230" marB="62230" anchor="t">
                    <a:lnL cmpd="sng" algn="ctr" cap="flat" w="12700">
                      <a:solidFill>
                        <a:srgbClr val="AB041A"/>
                      </a:solidFill>
                      <a:prstDash val="solid"/>
                      <a:round/>
                      <a:headEnd type="none" w="med" len="med"/>
                      <a:tailEnd type="none" w="med" len="med"/>
                    </a:lnL>
                    <a:lnR cmpd="sng" algn="ctr" cap="flat" w="12700">
                      <a:solidFill>
                        <a:srgbClr val="AB041A"/>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AB041A"/>
                      </a:solidFill>
                      <a:prstDash val="solid"/>
                      <a:round/>
                      <a:headEnd type="none" w="med" len="med"/>
                      <a:tailEnd type="none" w="med" len="med"/>
                    </a:lnB>
                    <a:solidFill>
                      <a:srgbClr val="D6001C"/>
                    </a:solidFill>
                  </a:tcPr>
                </a:tc>
              </a:tr>
              <a:tr h="571500">
                <a:tc>
                  <a:txBody>
                    <a:bodyPr anchor="t" rtlCol="false"/>
                    <a:lstStyle/>
                    <a:p>
                      <a:pPr algn="l">
                        <a:lnSpc>
                          <a:spcPts val="2940"/>
                        </a:lnSpc>
                        <a:defRPr/>
                      </a:pPr>
                      <a:r>
                        <a:rPr lang="en-US" sz="2100">
                          <a:solidFill>
                            <a:srgbClr val="111111"/>
                          </a:solidFill>
                          <a:latin typeface="Open Sans"/>
                          <a:ea typeface="Open Sans"/>
                          <a:cs typeface="Open Sans"/>
                          <a:sym typeface="Open Sans"/>
                        </a:rPr>
                        <a:t>Cleveland</a:t>
                      </a:r>
                      <a:endParaRPr lang="en-US" sz="1100"/>
                    </a:p>
                  </a:txBody>
                  <a:tcPr marL="62230" marR="62230" marT="62230" marB="6223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AB041A"/>
                      </a:solidFill>
                      <a:prstDash val="solid"/>
                      <a:round/>
                      <a:headEnd type="none" w="med" len="med"/>
                      <a:tailEnd type="none" w="med" len="med"/>
                    </a:lnT>
                    <a:lnB cmpd="sng" algn="ctr" cap="flat" w="12700">
                      <a:solidFill>
                        <a:srgbClr val="CBCBCB"/>
                      </a:solidFill>
                      <a:prstDash val="solid"/>
                      <a:round/>
                      <a:headEnd type="none" w="med" len="med"/>
                      <a:tailEnd type="none" w="med" len="med"/>
                    </a:lnB>
                    <a:solidFill>
                      <a:srgbClr val="FFFFFF"/>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304</a:t>
                      </a:r>
                      <a:endParaRPr lang="en-US" sz="1100"/>
                    </a:p>
                  </a:txBody>
                  <a:tcPr marL="62230" marR="62230" marT="62230" marB="6223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AB041A"/>
                      </a:solidFill>
                      <a:prstDash val="solid"/>
                      <a:round/>
                      <a:headEnd type="none" w="med" len="med"/>
                      <a:tailEnd type="none" w="med" len="med"/>
                    </a:lnT>
                    <a:lnB cmpd="sng" algn="ctr" cap="flat" w="12700">
                      <a:solidFill>
                        <a:srgbClr val="CBCBCB"/>
                      </a:solidFill>
                      <a:prstDash val="solid"/>
                      <a:round/>
                      <a:headEnd type="none" w="med" len="med"/>
                      <a:tailEnd type="none" w="med" len="med"/>
                    </a:lnB>
                    <a:solidFill>
                      <a:srgbClr val="FFFFFF"/>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0</a:t>
                      </a:r>
                      <a:endParaRPr lang="en-US" sz="1100"/>
                    </a:p>
                  </a:txBody>
                  <a:tcPr marL="62230" marR="62230" marT="62230" marB="6223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AB041A"/>
                      </a:solidFill>
                      <a:prstDash val="solid"/>
                      <a:round/>
                      <a:headEnd type="none" w="med" len="med"/>
                      <a:tailEnd type="none" w="med" len="med"/>
                    </a:lnT>
                    <a:lnB cmpd="sng" algn="ctr" cap="flat" w="12700">
                      <a:solidFill>
                        <a:srgbClr val="CBCBCB"/>
                      </a:solidFill>
                      <a:prstDash val="solid"/>
                      <a:round/>
                      <a:headEnd type="none" w="med" len="med"/>
                      <a:tailEnd type="none" w="med" len="med"/>
                    </a:lnB>
                    <a:solidFill>
                      <a:srgbClr val="FFFFFF"/>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45.7</a:t>
                      </a:r>
                      <a:endParaRPr lang="en-US" sz="1100"/>
                    </a:p>
                  </a:txBody>
                  <a:tcPr marL="62230" marR="62230" marT="62230" marB="6223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AB041A"/>
                      </a:solidFill>
                      <a:prstDash val="solid"/>
                      <a:round/>
                      <a:headEnd type="none" w="med" len="med"/>
                      <a:tailEnd type="none" w="med" len="med"/>
                    </a:lnT>
                    <a:lnB cmpd="sng" algn="ctr" cap="flat" w="12700">
                      <a:solidFill>
                        <a:srgbClr val="CBCBCB"/>
                      </a:solidFill>
                      <a:prstDash val="solid"/>
                      <a:round/>
                      <a:headEnd type="none" w="med" len="med"/>
                      <a:tailEnd type="none" w="med" len="med"/>
                    </a:lnB>
                    <a:solidFill>
                      <a:srgbClr val="FFFFFF"/>
                    </a:solidFill>
                  </a:tcPr>
                </a:tc>
              </a:tr>
              <a:tr h="571500">
                <a:tc>
                  <a:txBody>
                    <a:bodyPr anchor="t" rtlCol="false"/>
                    <a:lstStyle/>
                    <a:p>
                      <a:pPr algn="l">
                        <a:lnSpc>
                          <a:spcPts val="2940"/>
                        </a:lnSpc>
                        <a:defRPr/>
                      </a:pPr>
                      <a:r>
                        <a:rPr lang="en-US" sz="2100">
                          <a:solidFill>
                            <a:srgbClr val="111111"/>
                          </a:solidFill>
                          <a:latin typeface="Open Sans"/>
                          <a:ea typeface="Open Sans"/>
                          <a:cs typeface="Open Sans"/>
                          <a:sym typeface="Open Sans"/>
                        </a:rPr>
                        <a:t>Hungary</a:t>
                      </a:r>
                      <a:endParaRPr lang="en-US" sz="1100"/>
                    </a:p>
                  </a:txBody>
                  <a:tcPr marL="62230" marR="62230" marT="62230" marB="62230" anchor="t">
                    <a:lnL cmpd="sng" algn="ctr" cap="flat" w="12700">
                      <a:solidFill>
                        <a:srgbClr val="CBCBCB"/>
                      </a:solidFill>
                      <a:prstDash val="solid"/>
                      <a:round/>
                      <a:headEnd type="none" w="med" len="med"/>
                      <a:tailEnd type="none" w="med" len="med"/>
                    </a:lnL>
                    <a:lnR cmpd="sng" algn="ctr" cap="flat" w="12700">
                      <a:solidFill>
                        <a:srgbClr val="C0C0BF"/>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0C0BF"/>
                      </a:solidFill>
                      <a:prstDash val="solid"/>
                      <a:round/>
                      <a:headEnd type="none" w="med" len="med"/>
                      <a:tailEnd type="none" w="med" len="med"/>
                    </a:lnB>
                    <a:solidFill>
                      <a:srgbClr val="F0F0F0"/>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293</a:t>
                      </a:r>
                      <a:endParaRPr lang="en-US" sz="1100"/>
                    </a:p>
                  </a:txBody>
                  <a:tcPr marL="62230" marR="62230" marT="62230" marB="62230" anchor="t">
                    <a:lnL cmpd="sng" algn="ctr" cap="flat" w="12700">
                      <a:solidFill>
                        <a:srgbClr val="C0C0BF"/>
                      </a:solidFill>
                      <a:prstDash val="solid"/>
                      <a:round/>
                      <a:headEnd type="none" w="med" len="med"/>
                      <a:tailEnd type="none" w="med" len="med"/>
                    </a:lnL>
                    <a:lnR cmpd="sng" algn="ctr" cap="flat" w="12700">
                      <a:solidFill>
                        <a:srgbClr val="C0C0BF"/>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0C0BF"/>
                      </a:solidFill>
                      <a:prstDash val="solid"/>
                      <a:round/>
                      <a:headEnd type="none" w="med" len="med"/>
                      <a:tailEnd type="none" w="med" len="med"/>
                    </a:lnB>
                    <a:solidFill>
                      <a:srgbClr val="F0F0F0"/>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23</a:t>
                      </a:r>
                      <a:endParaRPr lang="en-US" sz="1100"/>
                    </a:p>
                  </a:txBody>
                  <a:tcPr marL="62230" marR="62230" marT="62230" marB="62230" anchor="t">
                    <a:lnL cmpd="sng" algn="ctr" cap="flat" w="12700">
                      <a:solidFill>
                        <a:srgbClr val="C0C0BF"/>
                      </a:solidFill>
                      <a:prstDash val="solid"/>
                      <a:round/>
                      <a:headEnd type="none" w="med" len="med"/>
                      <a:tailEnd type="none" w="med" len="med"/>
                    </a:lnL>
                    <a:lnR cmpd="sng" algn="ctr" cap="flat" w="12700">
                      <a:solidFill>
                        <a:srgbClr val="C0C0BF"/>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0C0BF"/>
                      </a:solidFill>
                      <a:prstDash val="solid"/>
                      <a:round/>
                      <a:headEnd type="none" w="med" len="med"/>
                      <a:tailEnd type="none" w="med" len="med"/>
                    </a:lnB>
                    <a:solidFill>
                      <a:srgbClr val="F0F0F0"/>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36.2</a:t>
                      </a:r>
                      <a:endParaRPr lang="en-US" sz="1100"/>
                    </a:p>
                  </a:txBody>
                  <a:tcPr marL="62230" marR="62230" marT="62230" marB="62230" anchor="t">
                    <a:lnL cmpd="sng" algn="ctr" cap="flat" w="12700">
                      <a:solidFill>
                        <a:srgbClr val="C0C0BF"/>
                      </a:solidFill>
                      <a:prstDash val="solid"/>
                      <a:round/>
                      <a:headEnd type="none" w="med" len="med"/>
                      <a:tailEnd type="none" w="med" len="med"/>
                    </a:lnL>
                    <a:lnR cmpd="sng" algn="ctr" cap="flat" w="12700">
                      <a:solidFill>
                        <a:srgbClr val="C0C0BF"/>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0C0BF"/>
                      </a:solidFill>
                      <a:prstDash val="solid"/>
                      <a:round/>
                      <a:headEnd type="none" w="med" len="med"/>
                      <a:tailEnd type="none" w="med" len="med"/>
                    </a:lnB>
                    <a:solidFill>
                      <a:srgbClr val="F0F0F0"/>
                    </a:solidFill>
                  </a:tcPr>
                </a:tc>
              </a:tr>
              <a:tr h="571500">
                <a:tc>
                  <a:txBody>
                    <a:bodyPr anchor="t" rtlCol="false"/>
                    <a:lstStyle/>
                    <a:p>
                      <a:pPr algn="l">
                        <a:lnSpc>
                          <a:spcPts val="2940"/>
                        </a:lnSpc>
                        <a:defRPr/>
                      </a:pPr>
                      <a:r>
                        <a:rPr lang="en-US" sz="2100">
                          <a:solidFill>
                            <a:srgbClr val="111111"/>
                          </a:solidFill>
                          <a:latin typeface="Open Sans"/>
                          <a:ea typeface="Open Sans"/>
                          <a:cs typeface="Open Sans"/>
                          <a:sym typeface="Open Sans"/>
                        </a:rPr>
                        <a:t>Switzerland</a:t>
                      </a:r>
                      <a:endParaRPr lang="en-US" sz="1100"/>
                    </a:p>
                  </a:txBody>
                  <a:tcPr marL="62230" marR="62230" marT="62230" marB="62230" anchor="t">
                    <a:lnL cmpd="sng" algn="ctr" cap="flat" w="12700">
                      <a:solidFill>
                        <a:srgbClr val="CBCBCB"/>
                      </a:solidFill>
                      <a:prstDash val="solid"/>
                      <a:round/>
                      <a:headEnd type="none" w="med" len="med"/>
                      <a:tailEnd type="none" w="med" len="med"/>
                    </a:lnL>
                    <a:lnR cmpd="sng" algn="ctr" cap="flat" w="12700">
                      <a:solidFill>
                        <a:srgbClr val="CBC090"/>
                      </a:solidFill>
                      <a:prstDash val="solid"/>
                      <a:round/>
                      <a:headEnd type="none" w="med" len="med"/>
                      <a:tailEnd type="none" w="med" len="med"/>
                    </a:lnR>
                    <a:lnT cmpd="sng" algn="ctr" cap="flat" w="12700">
                      <a:solidFill>
                        <a:srgbClr val="C0C0BF"/>
                      </a:solidFill>
                      <a:prstDash val="solid"/>
                      <a:round/>
                      <a:headEnd type="none" w="med" len="med"/>
                      <a:tailEnd type="none" w="med" len="med"/>
                    </a:lnT>
                    <a:lnB cmpd="sng" algn="ctr" cap="flat" w="12700">
                      <a:solidFill>
                        <a:srgbClr val="CBC090"/>
                      </a:solidFill>
                      <a:prstDash val="solid"/>
                      <a:round/>
                      <a:headEnd type="none" w="med" len="med"/>
                      <a:tailEnd type="none" w="med" len="med"/>
                    </a:lnB>
                    <a:solidFill>
                      <a:srgbClr val="FFF0B3"/>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123</a:t>
                      </a:r>
                      <a:endParaRPr lang="en-US" sz="1100"/>
                    </a:p>
                  </a:txBody>
                  <a:tcPr marL="62230" marR="62230" marT="62230" marB="62230" anchor="t">
                    <a:lnL cmpd="sng" algn="ctr" cap="flat" w="12700">
                      <a:solidFill>
                        <a:srgbClr val="CBC090"/>
                      </a:solidFill>
                      <a:prstDash val="solid"/>
                      <a:round/>
                      <a:headEnd type="none" w="med" len="med"/>
                      <a:tailEnd type="none" w="med" len="med"/>
                    </a:lnL>
                    <a:lnR cmpd="sng" algn="ctr" cap="flat" w="12700">
                      <a:solidFill>
                        <a:srgbClr val="CBC090"/>
                      </a:solidFill>
                      <a:prstDash val="solid"/>
                      <a:round/>
                      <a:headEnd type="none" w="med" len="med"/>
                      <a:tailEnd type="none" w="med" len="med"/>
                    </a:lnR>
                    <a:lnT cmpd="sng" algn="ctr" cap="flat" w="12700">
                      <a:solidFill>
                        <a:srgbClr val="C0C0BF"/>
                      </a:solidFill>
                      <a:prstDash val="solid"/>
                      <a:round/>
                      <a:headEnd type="none" w="med" len="med"/>
                      <a:tailEnd type="none" w="med" len="med"/>
                    </a:lnT>
                    <a:lnB cmpd="sng" algn="ctr" cap="flat" w="12700">
                      <a:solidFill>
                        <a:srgbClr val="CBC090"/>
                      </a:solidFill>
                      <a:prstDash val="solid"/>
                      <a:round/>
                      <a:headEnd type="none" w="med" len="med"/>
                      <a:tailEnd type="none" w="med" len="med"/>
                    </a:lnB>
                    <a:solidFill>
                      <a:srgbClr val="FFF0B3"/>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123 (all)</a:t>
                      </a:r>
                      <a:endParaRPr lang="en-US" sz="1100"/>
                    </a:p>
                  </a:txBody>
                  <a:tcPr marL="62230" marR="62230" marT="62230" marB="62230" anchor="t">
                    <a:lnL cmpd="sng" algn="ctr" cap="flat" w="12700">
                      <a:solidFill>
                        <a:srgbClr val="CBC090"/>
                      </a:solidFill>
                      <a:prstDash val="solid"/>
                      <a:round/>
                      <a:headEnd type="none" w="med" len="med"/>
                      <a:tailEnd type="none" w="med" len="med"/>
                    </a:lnL>
                    <a:lnR cmpd="sng" algn="ctr" cap="flat" w="12700">
                      <a:solidFill>
                        <a:srgbClr val="CBC090"/>
                      </a:solidFill>
                      <a:prstDash val="solid"/>
                      <a:round/>
                      <a:headEnd type="none" w="med" len="med"/>
                      <a:tailEnd type="none" w="med" len="med"/>
                    </a:lnR>
                    <a:lnT cmpd="sng" algn="ctr" cap="flat" w="12700">
                      <a:solidFill>
                        <a:srgbClr val="C0C0BF"/>
                      </a:solidFill>
                      <a:prstDash val="solid"/>
                      <a:round/>
                      <a:headEnd type="none" w="med" len="med"/>
                      <a:tailEnd type="none" w="med" len="med"/>
                    </a:lnT>
                    <a:lnB cmpd="sng" algn="ctr" cap="flat" w="12700">
                      <a:solidFill>
                        <a:srgbClr val="CBC090"/>
                      </a:solidFill>
                      <a:prstDash val="solid"/>
                      <a:round/>
                      <a:headEnd type="none" w="med" len="med"/>
                      <a:tailEnd type="none" w="med" len="med"/>
                    </a:lnB>
                    <a:solidFill>
                      <a:srgbClr val="FFF0B3"/>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93.5</a:t>
                      </a:r>
                      <a:endParaRPr lang="en-US" sz="1100"/>
                    </a:p>
                  </a:txBody>
                  <a:tcPr marL="62230" marR="62230" marT="62230" marB="62230" anchor="t">
                    <a:lnL cmpd="sng" algn="ctr" cap="flat" w="12700">
                      <a:solidFill>
                        <a:srgbClr val="CBC090"/>
                      </a:solidFill>
                      <a:prstDash val="solid"/>
                      <a:round/>
                      <a:headEnd type="none" w="med" len="med"/>
                      <a:tailEnd type="none" w="med" len="med"/>
                    </a:lnL>
                    <a:lnR cmpd="sng" algn="ctr" cap="flat" w="12700">
                      <a:solidFill>
                        <a:srgbClr val="CBC090"/>
                      </a:solidFill>
                      <a:prstDash val="solid"/>
                      <a:round/>
                      <a:headEnd type="none" w="med" len="med"/>
                      <a:tailEnd type="none" w="med" len="med"/>
                    </a:lnR>
                    <a:lnT cmpd="sng" algn="ctr" cap="flat" w="12700">
                      <a:solidFill>
                        <a:srgbClr val="C0C0BF"/>
                      </a:solidFill>
                      <a:prstDash val="solid"/>
                      <a:round/>
                      <a:headEnd type="none" w="med" len="med"/>
                      <a:tailEnd type="none" w="med" len="med"/>
                    </a:lnT>
                    <a:lnB cmpd="sng" algn="ctr" cap="flat" w="12700">
                      <a:solidFill>
                        <a:srgbClr val="CBC090"/>
                      </a:solidFill>
                      <a:prstDash val="solid"/>
                      <a:round/>
                      <a:headEnd type="none" w="med" len="med"/>
                      <a:tailEnd type="none" w="med" len="med"/>
                    </a:lnB>
                    <a:solidFill>
                      <a:srgbClr val="FFF0B3"/>
                    </a:solidFill>
                  </a:tcPr>
                </a:tc>
              </a:tr>
              <a:tr h="571500">
                <a:tc>
                  <a:txBody>
                    <a:bodyPr anchor="t" rtlCol="false"/>
                    <a:lstStyle/>
                    <a:p>
                      <a:pPr algn="l">
                        <a:lnSpc>
                          <a:spcPts val="2940"/>
                        </a:lnSpc>
                        <a:defRPr/>
                      </a:pPr>
                      <a:r>
                        <a:rPr lang="en-US" sz="2100">
                          <a:solidFill>
                            <a:srgbClr val="111111"/>
                          </a:solidFill>
                          <a:latin typeface="Open Sans"/>
                          <a:ea typeface="Open Sans"/>
                          <a:cs typeface="Open Sans"/>
                          <a:sym typeface="Open Sans"/>
                        </a:rPr>
                        <a:t>VA Long Beach</a:t>
                      </a:r>
                      <a:endParaRPr lang="en-US" sz="1100"/>
                    </a:p>
                  </a:txBody>
                  <a:tcPr marL="62230" marR="62230" marT="62230" marB="62230" anchor="t">
                    <a:lnL cmpd="sng" algn="ctr" cap="flat" w="12700">
                      <a:solidFill>
                        <a:srgbClr val="CBCBCB"/>
                      </a:solidFill>
                      <a:prstDash val="solid"/>
                      <a:round/>
                      <a:headEnd type="none" w="med" len="med"/>
                      <a:tailEnd type="none" w="med" len="med"/>
                    </a:lnL>
                    <a:lnR cmpd="sng" algn="ctr" cap="flat" w="12700">
                      <a:solidFill>
                        <a:srgbClr val="C0C0BF"/>
                      </a:solidFill>
                      <a:prstDash val="solid"/>
                      <a:round/>
                      <a:headEnd type="none" w="med" len="med"/>
                      <a:tailEnd type="none" w="med" len="med"/>
                    </a:lnR>
                    <a:lnT cmpd="sng" algn="ctr" cap="flat" w="12700">
                      <a:solidFill>
                        <a:srgbClr val="CBC090"/>
                      </a:solidFill>
                      <a:prstDash val="solid"/>
                      <a:round/>
                      <a:headEnd type="none" w="med" len="med"/>
                      <a:tailEnd type="none" w="med" len="med"/>
                    </a:lnT>
                    <a:lnB cmpd="sng" algn="ctr" cap="flat" w="12700">
                      <a:solidFill>
                        <a:srgbClr val="C0C0BF"/>
                      </a:solidFill>
                      <a:prstDash val="solid"/>
                      <a:round/>
                      <a:headEnd type="none" w="med" len="med"/>
                      <a:tailEnd type="none" w="med" len="med"/>
                    </a:lnB>
                    <a:solidFill>
                      <a:srgbClr val="F0F0F0"/>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200</a:t>
                      </a:r>
                      <a:endParaRPr lang="en-US" sz="1100"/>
                    </a:p>
                  </a:txBody>
                  <a:tcPr marL="62230" marR="62230" marT="62230" marB="62230" anchor="t">
                    <a:lnL cmpd="sng" algn="ctr" cap="flat" w="12700">
                      <a:solidFill>
                        <a:srgbClr val="C0C0BF"/>
                      </a:solidFill>
                      <a:prstDash val="solid"/>
                      <a:round/>
                      <a:headEnd type="none" w="med" len="med"/>
                      <a:tailEnd type="none" w="med" len="med"/>
                    </a:lnL>
                    <a:lnR cmpd="sng" algn="ctr" cap="flat" w="12700">
                      <a:solidFill>
                        <a:srgbClr val="C0C0BF"/>
                      </a:solidFill>
                      <a:prstDash val="solid"/>
                      <a:round/>
                      <a:headEnd type="none" w="med" len="med"/>
                      <a:tailEnd type="none" w="med" len="med"/>
                    </a:lnR>
                    <a:lnT cmpd="sng" algn="ctr" cap="flat" w="12700">
                      <a:solidFill>
                        <a:srgbClr val="CBC090"/>
                      </a:solidFill>
                      <a:prstDash val="solid"/>
                      <a:round/>
                      <a:headEnd type="none" w="med" len="med"/>
                      <a:tailEnd type="none" w="med" len="med"/>
                    </a:lnT>
                    <a:lnB cmpd="sng" algn="ctr" cap="flat" w="12700">
                      <a:solidFill>
                        <a:srgbClr val="C0C0BF"/>
                      </a:solidFill>
                      <a:prstDash val="solid"/>
                      <a:round/>
                      <a:headEnd type="none" w="med" len="med"/>
                      <a:tailEnd type="none" w="med" len="med"/>
                    </a:lnB>
                    <a:solidFill>
                      <a:srgbClr val="F0F0F0"/>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56</a:t>
                      </a:r>
                      <a:endParaRPr lang="en-US" sz="1100"/>
                    </a:p>
                  </a:txBody>
                  <a:tcPr marL="62230" marR="62230" marT="62230" marB="62230" anchor="t">
                    <a:lnL cmpd="sng" algn="ctr" cap="flat" w="12700">
                      <a:solidFill>
                        <a:srgbClr val="C0C0BF"/>
                      </a:solidFill>
                      <a:prstDash val="solid"/>
                      <a:round/>
                      <a:headEnd type="none" w="med" len="med"/>
                      <a:tailEnd type="none" w="med" len="med"/>
                    </a:lnL>
                    <a:lnR cmpd="sng" algn="ctr" cap="flat" w="12700">
                      <a:solidFill>
                        <a:srgbClr val="C0C0BF"/>
                      </a:solidFill>
                      <a:prstDash val="solid"/>
                      <a:round/>
                      <a:headEnd type="none" w="med" len="med"/>
                      <a:tailEnd type="none" w="med" len="med"/>
                    </a:lnR>
                    <a:lnT cmpd="sng" algn="ctr" cap="flat" w="12700">
                      <a:solidFill>
                        <a:srgbClr val="CBC090"/>
                      </a:solidFill>
                      <a:prstDash val="solid"/>
                      <a:round/>
                      <a:headEnd type="none" w="med" len="med"/>
                      <a:tailEnd type="none" w="med" len="med"/>
                    </a:lnT>
                    <a:lnB cmpd="sng" algn="ctr" cap="flat" w="12700">
                      <a:solidFill>
                        <a:srgbClr val="C0C0BF"/>
                      </a:solidFill>
                      <a:prstDash val="solid"/>
                      <a:round/>
                      <a:headEnd type="none" w="med" len="med"/>
                      <a:tailEnd type="none" w="med" len="med"/>
                    </a:lnB>
                    <a:solidFill>
                      <a:srgbClr val="F0F0F0"/>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74.5</a:t>
                      </a:r>
                      <a:endParaRPr lang="en-US" sz="1100"/>
                    </a:p>
                  </a:txBody>
                  <a:tcPr marL="62230" marR="62230" marT="62230" marB="62230" anchor="t">
                    <a:lnL cmpd="sng" algn="ctr" cap="flat" w="12700">
                      <a:solidFill>
                        <a:srgbClr val="C0C0BF"/>
                      </a:solidFill>
                      <a:prstDash val="solid"/>
                      <a:round/>
                      <a:headEnd type="none" w="med" len="med"/>
                      <a:tailEnd type="none" w="med" len="med"/>
                    </a:lnL>
                    <a:lnR cmpd="sng" algn="ctr" cap="flat" w="12700">
                      <a:solidFill>
                        <a:srgbClr val="C0C0BF"/>
                      </a:solidFill>
                      <a:prstDash val="solid"/>
                      <a:round/>
                      <a:headEnd type="none" w="med" len="med"/>
                      <a:tailEnd type="none" w="med" len="med"/>
                    </a:lnR>
                    <a:lnT cmpd="sng" algn="ctr" cap="flat" w="12700">
                      <a:solidFill>
                        <a:srgbClr val="CBC090"/>
                      </a:solidFill>
                      <a:prstDash val="solid"/>
                      <a:round/>
                      <a:headEnd type="none" w="med" len="med"/>
                      <a:tailEnd type="none" w="med" len="med"/>
                    </a:lnT>
                    <a:lnB cmpd="sng" algn="ctr" cap="flat" w="12700">
                      <a:solidFill>
                        <a:srgbClr val="C0C0BF"/>
                      </a:solidFill>
                      <a:prstDash val="solid"/>
                      <a:round/>
                      <a:headEnd type="none" w="med" len="med"/>
                      <a:tailEnd type="none" w="med" len="med"/>
                    </a:lnB>
                    <a:solidFill>
                      <a:srgbClr val="F0F0F0"/>
                    </a:solidFill>
                  </a:tcPr>
                </a:tc>
              </a:tr>
            </a:tbl>
          </a:graphicData>
        </a:graphic>
      </p:graphicFrame>
      <p:grpSp>
        <p:nvGrpSpPr>
          <p:cNvPr name="Group 8" id="8"/>
          <p:cNvGrpSpPr/>
          <p:nvPr/>
        </p:nvGrpSpPr>
        <p:grpSpPr>
          <a:xfrm rot="0">
            <a:off x="10654789" y="2625100"/>
            <a:ext cx="6414021" cy="2148840"/>
            <a:chOff x="0" y="0"/>
            <a:chExt cx="8552028" cy="2865120"/>
          </a:xfrm>
        </p:grpSpPr>
        <p:sp>
          <p:nvSpPr>
            <p:cNvPr name="Freeform 9" id="9"/>
            <p:cNvSpPr/>
            <p:nvPr/>
          </p:nvSpPr>
          <p:spPr>
            <a:xfrm flipH="false" flipV="false" rot="0">
              <a:off x="0" y="0"/>
              <a:ext cx="8551926" cy="2865120"/>
            </a:xfrm>
            <a:custGeom>
              <a:avLst/>
              <a:gdLst/>
              <a:ahLst/>
              <a:cxnLst/>
              <a:rect r="r" b="b" t="t" l="l"/>
              <a:pathLst>
                <a:path h="2865120" w="8551926">
                  <a:moveTo>
                    <a:pt x="0" y="192151"/>
                  </a:moveTo>
                  <a:cubicBezTo>
                    <a:pt x="0" y="86106"/>
                    <a:pt x="86106" y="0"/>
                    <a:pt x="192151" y="0"/>
                  </a:cubicBezTo>
                  <a:lnTo>
                    <a:pt x="8359775" y="0"/>
                  </a:lnTo>
                  <a:cubicBezTo>
                    <a:pt x="8465947" y="0"/>
                    <a:pt x="8551926" y="86106"/>
                    <a:pt x="8551926" y="192151"/>
                  </a:cubicBezTo>
                  <a:lnTo>
                    <a:pt x="8551926" y="2672969"/>
                  </a:lnTo>
                  <a:cubicBezTo>
                    <a:pt x="8551926" y="2779141"/>
                    <a:pt x="8465820" y="2865120"/>
                    <a:pt x="8359775" y="2865120"/>
                  </a:cubicBezTo>
                  <a:lnTo>
                    <a:pt x="192151" y="2865120"/>
                  </a:lnTo>
                  <a:cubicBezTo>
                    <a:pt x="86106" y="2865120"/>
                    <a:pt x="0" y="2779014"/>
                    <a:pt x="0" y="2672969"/>
                  </a:cubicBezTo>
                  <a:close/>
                </a:path>
              </a:pathLst>
            </a:custGeom>
            <a:solidFill>
              <a:srgbClr val="FFFFFF"/>
            </a:solidFill>
            <a:ln w="19050" cap="sq">
              <a:solidFill>
                <a:srgbClr val="CFCFCF"/>
              </a:solidFill>
              <a:prstDash val="solid"/>
              <a:miter/>
            </a:ln>
          </p:spPr>
        </p:sp>
      </p:grpSp>
      <p:sp>
        <p:nvSpPr>
          <p:cNvPr name="TextBox 10" id="10"/>
          <p:cNvSpPr txBox="true"/>
          <p:nvPr/>
        </p:nvSpPr>
        <p:spPr>
          <a:xfrm rot="0">
            <a:off x="11051029" y="2983230"/>
            <a:ext cx="5790181" cy="502920"/>
          </a:xfrm>
          <a:prstGeom prst="rect">
            <a:avLst/>
          </a:prstGeom>
        </p:spPr>
        <p:txBody>
          <a:bodyPr anchor="t" rtlCol="false" tIns="0" lIns="0" bIns="0" rIns="0">
            <a:spAutoFit/>
          </a:bodyPr>
          <a:lstStyle/>
          <a:p>
            <a:pPr algn="l">
              <a:lnSpc>
                <a:spcPts val="3359"/>
              </a:lnSpc>
            </a:pPr>
            <a:r>
              <a:rPr lang="en-US" sz="2400" b="true">
                <a:solidFill>
                  <a:srgbClr val="D6001C"/>
                </a:solidFill>
                <a:latin typeface="Open Sans Bold"/>
                <a:ea typeface="Open Sans Bold"/>
                <a:cs typeface="Open Sans Bold"/>
                <a:sym typeface="Open Sans Bold"/>
              </a:rPr>
              <a:t>Equal spread</a:t>
            </a:r>
          </a:p>
        </p:txBody>
      </p:sp>
      <p:sp>
        <p:nvSpPr>
          <p:cNvPr name="TextBox 11" id="11"/>
          <p:cNvSpPr txBox="true"/>
          <p:nvPr/>
        </p:nvSpPr>
        <p:spPr>
          <a:xfrm rot="0">
            <a:off x="11051029" y="3486150"/>
            <a:ext cx="5790181" cy="92964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SDs of 60.6 and 55.8 mg/dl (ratio 1.09): pooled t-test.</a:t>
            </a:r>
          </a:p>
        </p:txBody>
      </p:sp>
      <p:grpSp>
        <p:nvGrpSpPr>
          <p:cNvPr name="Group 12" id="12"/>
          <p:cNvGrpSpPr/>
          <p:nvPr/>
        </p:nvGrpSpPr>
        <p:grpSpPr>
          <a:xfrm rot="0">
            <a:off x="10654789" y="5002530"/>
            <a:ext cx="6414021" cy="2148840"/>
            <a:chOff x="0" y="0"/>
            <a:chExt cx="8552028" cy="2865120"/>
          </a:xfrm>
        </p:grpSpPr>
        <p:sp>
          <p:nvSpPr>
            <p:cNvPr name="Freeform 13" id="13"/>
            <p:cNvSpPr/>
            <p:nvPr/>
          </p:nvSpPr>
          <p:spPr>
            <a:xfrm flipH="false" flipV="false" rot="0">
              <a:off x="0" y="0"/>
              <a:ext cx="8551926" cy="2865120"/>
            </a:xfrm>
            <a:custGeom>
              <a:avLst/>
              <a:gdLst/>
              <a:ahLst/>
              <a:cxnLst/>
              <a:rect r="r" b="b" t="t" l="l"/>
              <a:pathLst>
                <a:path h="2865120" w="8551926">
                  <a:moveTo>
                    <a:pt x="0" y="192151"/>
                  </a:moveTo>
                  <a:cubicBezTo>
                    <a:pt x="0" y="86106"/>
                    <a:pt x="86106" y="0"/>
                    <a:pt x="192151" y="0"/>
                  </a:cubicBezTo>
                  <a:lnTo>
                    <a:pt x="8359775" y="0"/>
                  </a:lnTo>
                  <a:cubicBezTo>
                    <a:pt x="8465947" y="0"/>
                    <a:pt x="8551926" y="86106"/>
                    <a:pt x="8551926" y="192151"/>
                  </a:cubicBezTo>
                  <a:lnTo>
                    <a:pt x="8551926" y="2672969"/>
                  </a:lnTo>
                  <a:cubicBezTo>
                    <a:pt x="8551926" y="2779141"/>
                    <a:pt x="8465820" y="2865120"/>
                    <a:pt x="8359775" y="2865120"/>
                  </a:cubicBezTo>
                  <a:lnTo>
                    <a:pt x="192151" y="2865120"/>
                  </a:lnTo>
                  <a:cubicBezTo>
                    <a:pt x="86106" y="2865120"/>
                    <a:pt x="0" y="2779014"/>
                    <a:pt x="0" y="2672969"/>
                  </a:cubicBezTo>
                  <a:close/>
                </a:path>
              </a:pathLst>
            </a:custGeom>
            <a:solidFill>
              <a:srgbClr val="FFFFFF"/>
            </a:solidFill>
            <a:ln w="19050" cap="sq">
              <a:solidFill>
                <a:srgbClr val="CFCFCF"/>
              </a:solidFill>
              <a:prstDash val="solid"/>
              <a:miter/>
            </a:ln>
          </p:spPr>
        </p:sp>
      </p:grpSp>
      <p:sp>
        <p:nvSpPr>
          <p:cNvPr name="TextBox 14" id="14"/>
          <p:cNvSpPr txBox="true"/>
          <p:nvPr/>
        </p:nvSpPr>
        <p:spPr>
          <a:xfrm rot="0">
            <a:off x="11051029" y="5360670"/>
            <a:ext cx="5790181" cy="502920"/>
          </a:xfrm>
          <a:prstGeom prst="rect">
            <a:avLst/>
          </a:prstGeom>
        </p:spPr>
        <p:txBody>
          <a:bodyPr anchor="t" rtlCol="false" tIns="0" lIns="0" bIns="0" rIns="0">
            <a:spAutoFit/>
          </a:bodyPr>
          <a:lstStyle/>
          <a:p>
            <a:pPr algn="l">
              <a:lnSpc>
                <a:spcPts val="3359"/>
              </a:lnSpc>
            </a:pPr>
            <a:r>
              <a:rPr lang="en-US" sz="2400" b="true">
                <a:solidFill>
                  <a:srgbClr val="D6001C"/>
                </a:solidFill>
                <a:latin typeface="Open Sans Bold"/>
                <a:ea typeface="Open Sans Bold"/>
                <a:cs typeface="Open Sans Bold"/>
                <a:sym typeface="Open Sans Bold"/>
              </a:rPr>
              <a:t>Right skew</a:t>
            </a:r>
          </a:p>
        </p:txBody>
      </p:sp>
      <p:sp>
        <p:nvSpPr>
          <p:cNvPr name="TextBox 15" id="15"/>
          <p:cNvSpPr txBox="true"/>
          <p:nvPr/>
        </p:nvSpPr>
        <p:spPr>
          <a:xfrm rot="0">
            <a:off x="11051029" y="5863600"/>
            <a:ext cx="5790181" cy="92964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Long upper tails, so the bootstrap is our check.</a:t>
            </a:r>
          </a:p>
        </p:txBody>
      </p:sp>
      <p:sp>
        <p:nvSpPr>
          <p:cNvPr name="TextBox 16" id="16"/>
          <p:cNvSpPr txBox="true"/>
          <p:nvPr/>
        </p:nvSpPr>
        <p:spPr>
          <a:xfrm rot="0">
            <a:off x="1219200" y="9328785"/>
            <a:ext cx="11772900" cy="386715"/>
          </a:xfrm>
          <a:prstGeom prst="rect">
            <a:avLst/>
          </a:prstGeom>
        </p:spPr>
        <p:txBody>
          <a:bodyPr anchor="t" rtlCol="false" tIns="0" lIns="0" bIns="0" rIns="0">
            <a:spAutoFit/>
          </a:bodyPr>
          <a:lstStyle/>
          <a:p>
            <a:pPr algn="l">
              <a:lnSpc>
                <a:spcPts val="2520"/>
              </a:lnSpc>
            </a:pPr>
            <a:r>
              <a:rPr lang="en-US" sz="1800">
                <a:solidFill>
                  <a:srgbClr val="4D4D4D"/>
                </a:solidFill>
                <a:latin typeface="Open Sans"/>
                <a:ea typeface="Open Sans"/>
                <a:cs typeface="Open Sans"/>
                <a:sym typeface="Open Sans"/>
              </a:rPr>
              <a:t>DATA 602 · Detecting Heart Disease</a:t>
            </a:r>
          </a:p>
        </p:txBody>
      </p:sp>
      <p:sp>
        <p:nvSpPr>
          <p:cNvPr name="TextBox 17" id="17"/>
          <p:cNvSpPr txBox="true"/>
          <p:nvPr/>
        </p:nvSpPr>
        <p:spPr>
          <a:xfrm rot="0">
            <a:off x="15087600" y="9328785"/>
            <a:ext cx="1981200" cy="386715"/>
          </a:xfrm>
          <a:prstGeom prst="rect">
            <a:avLst/>
          </a:prstGeom>
        </p:spPr>
        <p:txBody>
          <a:bodyPr anchor="t" rtlCol="false" tIns="0" lIns="0" bIns="0" rIns="0">
            <a:spAutoFit/>
          </a:bodyPr>
          <a:lstStyle/>
          <a:p>
            <a:pPr algn="r">
              <a:lnSpc>
                <a:spcPts val="2520"/>
              </a:lnSpc>
            </a:pPr>
            <a:r>
              <a:rPr lang="en-US" sz="1800">
                <a:solidFill>
                  <a:srgbClr val="4D4D4D"/>
                </a:solidFill>
                <a:latin typeface="Open Sans"/>
                <a:ea typeface="Open Sans"/>
                <a:cs typeface="Open Sans"/>
                <a:sym typeface="Open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19200" y="1190625"/>
            <a:ext cx="16325088" cy="386715"/>
          </a:xfrm>
          <a:prstGeom prst="rect">
            <a:avLst/>
          </a:prstGeom>
        </p:spPr>
        <p:txBody>
          <a:bodyPr anchor="t" rtlCol="false" tIns="0" lIns="0" bIns="0" rIns="0">
            <a:spAutoFit/>
          </a:bodyPr>
          <a:lstStyle/>
          <a:p>
            <a:pPr algn="l">
              <a:lnSpc>
                <a:spcPts val="2520"/>
              </a:lnSpc>
            </a:pPr>
            <a:r>
              <a:rPr lang="en-US" b="true" sz="1800" spc="149">
                <a:solidFill>
                  <a:srgbClr val="D6001C"/>
                </a:solidFill>
                <a:latin typeface="Open Sans Bold"/>
                <a:ea typeface="Open Sans Bold"/>
                <a:cs typeface="Open Sans Bold"/>
                <a:sym typeface="Open Sans Bold"/>
              </a:rPr>
              <a:t>2 · SERUM CHOLESTEROL (CHOL)</a:t>
            </a:r>
          </a:p>
        </p:txBody>
      </p:sp>
      <p:sp>
        <p:nvSpPr>
          <p:cNvPr name="TextBox 3" id="3"/>
          <p:cNvSpPr txBox="true"/>
          <p:nvPr/>
        </p:nvSpPr>
        <p:spPr>
          <a:xfrm rot="0">
            <a:off x="1219200" y="1663075"/>
            <a:ext cx="16325088" cy="619125"/>
          </a:xfrm>
          <a:prstGeom prst="rect">
            <a:avLst/>
          </a:prstGeom>
        </p:spPr>
        <p:txBody>
          <a:bodyPr anchor="t" rtlCol="false" tIns="0" lIns="0" bIns="0" rIns="0">
            <a:spAutoFit/>
          </a:bodyPr>
          <a:lstStyle/>
          <a:p>
            <a:pPr algn="l">
              <a:lnSpc>
                <a:spcPts val="4950"/>
              </a:lnSpc>
            </a:pPr>
            <a:r>
              <a:rPr lang="en-US" sz="4500" b="true">
                <a:solidFill>
                  <a:srgbClr val="111111"/>
                </a:solidFill>
                <a:latin typeface="Open Sans Bold"/>
                <a:ea typeface="Open Sans Bold"/>
                <a:cs typeface="Open Sans Bold"/>
                <a:sym typeface="Open Sans Bold"/>
              </a:rPr>
              <a:t>Similar spread, but right-skewed</a:t>
            </a:r>
          </a:p>
        </p:txBody>
      </p:sp>
      <p:grpSp>
        <p:nvGrpSpPr>
          <p:cNvPr name="Group 4" id="4"/>
          <p:cNvGrpSpPr/>
          <p:nvPr/>
        </p:nvGrpSpPr>
        <p:grpSpPr>
          <a:xfrm rot="0">
            <a:off x="1219200" y="2587000"/>
            <a:ext cx="5076825" cy="3143250"/>
            <a:chOff x="0" y="0"/>
            <a:chExt cx="6769100" cy="4191000"/>
          </a:xfrm>
        </p:grpSpPr>
        <p:sp>
          <p:nvSpPr>
            <p:cNvPr name="Freeform 5" id="5"/>
            <p:cNvSpPr/>
            <p:nvPr/>
          </p:nvSpPr>
          <p:spPr>
            <a:xfrm flipH="false" flipV="false" rot="0">
              <a:off x="0" y="0"/>
              <a:ext cx="6769100" cy="4191000"/>
            </a:xfrm>
            <a:custGeom>
              <a:avLst/>
              <a:gdLst/>
              <a:ahLst/>
              <a:cxnLst/>
              <a:rect r="r" b="b" t="t" l="l"/>
              <a:pathLst>
                <a:path h="4191000" w="6769100">
                  <a:moveTo>
                    <a:pt x="0" y="152400"/>
                  </a:moveTo>
                  <a:cubicBezTo>
                    <a:pt x="0" y="68199"/>
                    <a:pt x="68199" y="0"/>
                    <a:pt x="152400" y="0"/>
                  </a:cubicBezTo>
                  <a:lnTo>
                    <a:pt x="6616700" y="0"/>
                  </a:lnTo>
                  <a:cubicBezTo>
                    <a:pt x="6700901" y="0"/>
                    <a:pt x="6769100" y="68199"/>
                    <a:pt x="6769100" y="152400"/>
                  </a:cubicBezTo>
                  <a:lnTo>
                    <a:pt x="6769100" y="4038600"/>
                  </a:lnTo>
                  <a:cubicBezTo>
                    <a:pt x="6769100" y="4122801"/>
                    <a:pt x="6700901" y="4191000"/>
                    <a:pt x="6616700" y="4191000"/>
                  </a:cubicBezTo>
                  <a:lnTo>
                    <a:pt x="152400" y="4191000"/>
                  </a:lnTo>
                  <a:cubicBezTo>
                    <a:pt x="68199" y="4191000"/>
                    <a:pt x="0" y="4122801"/>
                    <a:pt x="0" y="4038600"/>
                  </a:cubicBezTo>
                  <a:close/>
                </a:path>
              </a:pathLst>
            </a:custGeom>
            <a:solidFill>
              <a:srgbClr val="FFFFFF"/>
            </a:solidFill>
          </p:spPr>
        </p:sp>
      </p:grpSp>
      <p:grpSp>
        <p:nvGrpSpPr>
          <p:cNvPr name="Group 6" id="6"/>
          <p:cNvGrpSpPr/>
          <p:nvPr/>
        </p:nvGrpSpPr>
        <p:grpSpPr>
          <a:xfrm rot="0">
            <a:off x="1238250" y="2606050"/>
            <a:ext cx="5038725" cy="3105150"/>
            <a:chOff x="0" y="0"/>
            <a:chExt cx="6718300" cy="4140200"/>
          </a:xfrm>
        </p:grpSpPr>
        <p:sp>
          <p:nvSpPr>
            <p:cNvPr name="Freeform 7" id="7" descr="Violin and box plots of serum cholesterol for diseased and not diseased patients"/>
            <p:cNvSpPr/>
            <p:nvPr/>
          </p:nvSpPr>
          <p:spPr>
            <a:xfrm flipH="false" flipV="false" rot="0">
              <a:off x="0" y="0"/>
              <a:ext cx="6718300" cy="4140200"/>
            </a:xfrm>
            <a:custGeom>
              <a:avLst/>
              <a:gdLst/>
              <a:ahLst/>
              <a:cxnLst/>
              <a:rect r="r" b="b" t="t" l="l"/>
              <a:pathLst>
                <a:path h="4140200" w="6718300">
                  <a:moveTo>
                    <a:pt x="0" y="0"/>
                  </a:moveTo>
                  <a:lnTo>
                    <a:pt x="6718300" y="0"/>
                  </a:lnTo>
                  <a:lnTo>
                    <a:pt x="6718300" y="4140200"/>
                  </a:lnTo>
                  <a:lnTo>
                    <a:pt x="0" y="4140200"/>
                  </a:lnTo>
                  <a:lnTo>
                    <a:pt x="0" y="0"/>
                  </a:lnTo>
                  <a:close/>
                </a:path>
              </a:pathLst>
            </a:custGeom>
            <a:blipFill>
              <a:blip r:embed="rId3"/>
              <a:stretch>
                <a:fillRect l="71" t="0" r="71" b="0"/>
              </a:stretch>
            </a:blipFill>
          </p:spPr>
        </p:sp>
      </p:grpSp>
      <p:grpSp>
        <p:nvGrpSpPr>
          <p:cNvPr name="Group 8" id="8"/>
          <p:cNvGrpSpPr/>
          <p:nvPr/>
        </p:nvGrpSpPr>
        <p:grpSpPr>
          <a:xfrm rot="0">
            <a:off x="1219200" y="2587000"/>
            <a:ext cx="5076825" cy="3143250"/>
            <a:chOff x="0" y="0"/>
            <a:chExt cx="6769100" cy="4191000"/>
          </a:xfrm>
        </p:grpSpPr>
        <p:sp>
          <p:nvSpPr>
            <p:cNvPr name="Freeform 9" id="9"/>
            <p:cNvSpPr/>
            <p:nvPr/>
          </p:nvSpPr>
          <p:spPr>
            <a:xfrm flipH="false" flipV="false" rot="0">
              <a:off x="0" y="0"/>
              <a:ext cx="6769100" cy="4191000"/>
            </a:xfrm>
            <a:custGeom>
              <a:avLst/>
              <a:gdLst/>
              <a:ahLst/>
              <a:cxnLst/>
              <a:rect r="r" b="b" t="t" l="l"/>
              <a:pathLst>
                <a:path h="4191000" w="6769100">
                  <a:moveTo>
                    <a:pt x="0" y="140589"/>
                  </a:moveTo>
                  <a:cubicBezTo>
                    <a:pt x="0" y="62992"/>
                    <a:pt x="62992" y="0"/>
                    <a:pt x="140589" y="0"/>
                  </a:cubicBezTo>
                  <a:lnTo>
                    <a:pt x="6628511" y="0"/>
                  </a:lnTo>
                  <a:cubicBezTo>
                    <a:pt x="6706108" y="0"/>
                    <a:pt x="6769100" y="62992"/>
                    <a:pt x="6769100" y="140589"/>
                  </a:cubicBezTo>
                  <a:lnTo>
                    <a:pt x="6769100" y="4050411"/>
                  </a:lnTo>
                  <a:cubicBezTo>
                    <a:pt x="6769100" y="4128008"/>
                    <a:pt x="6706108" y="4191000"/>
                    <a:pt x="6628511" y="4191000"/>
                  </a:cubicBezTo>
                  <a:lnTo>
                    <a:pt x="140589" y="4191000"/>
                  </a:lnTo>
                  <a:cubicBezTo>
                    <a:pt x="62992" y="4191000"/>
                    <a:pt x="0" y="4128008"/>
                    <a:pt x="0" y="4050411"/>
                  </a:cubicBezTo>
                  <a:close/>
                </a:path>
              </a:pathLst>
            </a:custGeom>
            <a:blipFill>
              <a:blip r:embed="rId4">
                <a:alphaModFix amt="0"/>
              </a:blip>
              <a:stretch>
                <a:fillRect l="-29437" t="0" r="-29437" b="0"/>
              </a:stretch>
            </a:blipFill>
            <a:ln w="19050" cap="sq">
              <a:solidFill>
                <a:srgbClr val="CFCFCF"/>
              </a:solidFill>
              <a:prstDash val="solid"/>
              <a:miter/>
            </a:ln>
          </p:spPr>
        </p:sp>
      </p:grpSp>
      <p:sp>
        <p:nvSpPr>
          <p:cNvPr name="TextBox 10" id="10"/>
          <p:cNvSpPr txBox="true"/>
          <p:nvPr/>
        </p:nvSpPr>
        <p:spPr>
          <a:xfrm rot="0">
            <a:off x="1219200" y="5806450"/>
            <a:ext cx="6228474" cy="449580"/>
          </a:xfrm>
          <a:prstGeom prst="rect">
            <a:avLst/>
          </a:prstGeom>
        </p:spPr>
        <p:txBody>
          <a:bodyPr anchor="t" rtlCol="false" tIns="0" lIns="0" bIns="0" rIns="0">
            <a:spAutoFit/>
          </a:bodyPr>
          <a:lstStyle/>
          <a:p>
            <a:pPr algn="l">
              <a:lnSpc>
                <a:spcPts val="2940"/>
              </a:lnSpc>
            </a:pPr>
            <a:r>
              <a:rPr lang="en-US" sz="2100" b="true">
                <a:solidFill>
                  <a:srgbClr val="111111"/>
                </a:solidFill>
                <a:latin typeface="Open Sans Bold"/>
                <a:ea typeface="Open Sans Bold"/>
                <a:cs typeface="Open Sans Bold"/>
                <a:sym typeface="Open Sans Bold"/>
              </a:rPr>
              <a:t>Similar spread</a:t>
            </a:r>
          </a:p>
        </p:txBody>
      </p:sp>
      <p:sp>
        <p:nvSpPr>
          <p:cNvPr name="TextBox 11" id="11"/>
          <p:cNvSpPr txBox="true"/>
          <p:nvPr/>
        </p:nvSpPr>
        <p:spPr>
          <a:xfrm rot="0">
            <a:off x="1219200" y="6294120"/>
            <a:ext cx="6228474" cy="822960"/>
          </a:xfrm>
          <a:prstGeom prst="rect">
            <a:avLst/>
          </a:prstGeom>
        </p:spPr>
        <p:txBody>
          <a:bodyPr anchor="t" rtlCol="false" tIns="0" lIns="0" bIns="0" rIns="0">
            <a:spAutoFit/>
          </a:bodyPr>
          <a:lstStyle/>
          <a:p>
            <a:pPr algn="l">
              <a:lnSpc>
                <a:spcPts val="2940"/>
              </a:lnSpc>
            </a:pPr>
            <a:r>
              <a:rPr lang="en-US" sz="2100">
                <a:solidFill>
                  <a:srgbClr val="333333"/>
                </a:solidFill>
                <a:latin typeface="Open Sans"/>
                <a:ea typeface="Open Sans"/>
                <a:cs typeface="Open Sans"/>
                <a:sym typeface="Open Sans"/>
              </a:rPr>
              <a:t>Standard deviations of 60.6 and 55.8 mg/dl (ratio 1.09).</a:t>
            </a:r>
          </a:p>
        </p:txBody>
      </p:sp>
      <p:grpSp>
        <p:nvGrpSpPr>
          <p:cNvPr name="Group 12" id="12"/>
          <p:cNvGrpSpPr/>
          <p:nvPr/>
        </p:nvGrpSpPr>
        <p:grpSpPr>
          <a:xfrm rot="0">
            <a:off x="7571070" y="2587000"/>
            <a:ext cx="5076825" cy="3143250"/>
            <a:chOff x="0" y="0"/>
            <a:chExt cx="6769100" cy="4191000"/>
          </a:xfrm>
        </p:grpSpPr>
        <p:sp>
          <p:nvSpPr>
            <p:cNvPr name="Freeform 13" id="13"/>
            <p:cNvSpPr/>
            <p:nvPr/>
          </p:nvSpPr>
          <p:spPr>
            <a:xfrm flipH="false" flipV="false" rot="0">
              <a:off x="0" y="0"/>
              <a:ext cx="6769100" cy="4191000"/>
            </a:xfrm>
            <a:custGeom>
              <a:avLst/>
              <a:gdLst/>
              <a:ahLst/>
              <a:cxnLst/>
              <a:rect r="r" b="b" t="t" l="l"/>
              <a:pathLst>
                <a:path h="4191000" w="6769100">
                  <a:moveTo>
                    <a:pt x="0" y="152400"/>
                  </a:moveTo>
                  <a:cubicBezTo>
                    <a:pt x="0" y="68199"/>
                    <a:pt x="68199" y="0"/>
                    <a:pt x="152400" y="0"/>
                  </a:cubicBezTo>
                  <a:lnTo>
                    <a:pt x="6616700" y="0"/>
                  </a:lnTo>
                  <a:cubicBezTo>
                    <a:pt x="6700901" y="0"/>
                    <a:pt x="6769100" y="68199"/>
                    <a:pt x="6769100" y="152400"/>
                  </a:cubicBezTo>
                  <a:lnTo>
                    <a:pt x="6769100" y="4038600"/>
                  </a:lnTo>
                  <a:cubicBezTo>
                    <a:pt x="6769100" y="4122801"/>
                    <a:pt x="6700901" y="4191000"/>
                    <a:pt x="6616700" y="4191000"/>
                  </a:cubicBezTo>
                  <a:lnTo>
                    <a:pt x="152400" y="4191000"/>
                  </a:lnTo>
                  <a:cubicBezTo>
                    <a:pt x="68199" y="4191000"/>
                    <a:pt x="0" y="4122801"/>
                    <a:pt x="0" y="4038600"/>
                  </a:cubicBezTo>
                  <a:close/>
                </a:path>
              </a:pathLst>
            </a:custGeom>
            <a:solidFill>
              <a:srgbClr val="FFFFFF"/>
            </a:solidFill>
          </p:spPr>
        </p:sp>
      </p:grpSp>
      <p:grpSp>
        <p:nvGrpSpPr>
          <p:cNvPr name="Group 14" id="14"/>
          <p:cNvGrpSpPr/>
          <p:nvPr/>
        </p:nvGrpSpPr>
        <p:grpSpPr>
          <a:xfrm rot="0">
            <a:off x="7590120" y="2606050"/>
            <a:ext cx="5038725" cy="3105150"/>
            <a:chOff x="0" y="0"/>
            <a:chExt cx="6718300" cy="4140200"/>
          </a:xfrm>
        </p:grpSpPr>
        <p:sp>
          <p:nvSpPr>
            <p:cNvPr name="Freeform 15" id="15" descr="Normal QQ plots of serum cholesterol by disease status"/>
            <p:cNvSpPr/>
            <p:nvPr/>
          </p:nvSpPr>
          <p:spPr>
            <a:xfrm flipH="false" flipV="false" rot="0">
              <a:off x="0" y="0"/>
              <a:ext cx="6718300" cy="4140200"/>
            </a:xfrm>
            <a:custGeom>
              <a:avLst/>
              <a:gdLst/>
              <a:ahLst/>
              <a:cxnLst/>
              <a:rect r="r" b="b" t="t" l="l"/>
              <a:pathLst>
                <a:path h="4140200" w="6718300">
                  <a:moveTo>
                    <a:pt x="0" y="0"/>
                  </a:moveTo>
                  <a:lnTo>
                    <a:pt x="6718300" y="0"/>
                  </a:lnTo>
                  <a:lnTo>
                    <a:pt x="6718300" y="4140200"/>
                  </a:lnTo>
                  <a:lnTo>
                    <a:pt x="0" y="4140200"/>
                  </a:lnTo>
                  <a:lnTo>
                    <a:pt x="0" y="0"/>
                  </a:lnTo>
                  <a:close/>
                </a:path>
              </a:pathLst>
            </a:custGeom>
            <a:blipFill>
              <a:blip r:embed="rId5"/>
              <a:stretch>
                <a:fillRect l="71" t="0" r="71" b="0"/>
              </a:stretch>
            </a:blipFill>
          </p:spPr>
        </p:sp>
      </p:grpSp>
      <p:grpSp>
        <p:nvGrpSpPr>
          <p:cNvPr name="Group 16" id="16"/>
          <p:cNvGrpSpPr/>
          <p:nvPr/>
        </p:nvGrpSpPr>
        <p:grpSpPr>
          <a:xfrm rot="0">
            <a:off x="7571070" y="2587000"/>
            <a:ext cx="5076825" cy="3143250"/>
            <a:chOff x="0" y="0"/>
            <a:chExt cx="6769100" cy="4191000"/>
          </a:xfrm>
        </p:grpSpPr>
        <p:sp>
          <p:nvSpPr>
            <p:cNvPr name="Freeform 17" id="17"/>
            <p:cNvSpPr/>
            <p:nvPr/>
          </p:nvSpPr>
          <p:spPr>
            <a:xfrm flipH="false" flipV="false" rot="0">
              <a:off x="0" y="0"/>
              <a:ext cx="6769100" cy="4191000"/>
            </a:xfrm>
            <a:custGeom>
              <a:avLst/>
              <a:gdLst/>
              <a:ahLst/>
              <a:cxnLst/>
              <a:rect r="r" b="b" t="t" l="l"/>
              <a:pathLst>
                <a:path h="4191000" w="6769100">
                  <a:moveTo>
                    <a:pt x="0" y="140589"/>
                  </a:moveTo>
                  <a:cubicBezTo>
                    <a:pt x="0" y="62992"/>
                    <a:pt x="62992" y="0"/>
                    <a:pt x="140589" y="0"/>
                  </a:cubicBezTo>
                  <a:lnTo>
                    <a:pt x="6628511" y="0"/>
                  </a:lnTo>
                  <a:cubicBezTo>
                    <a:pt x="6706108" y="0"/>
                    <a:pt x="6769100" y="62992"/>
                    <a:pt x="6769100" y="140589"/>
                  </a:cubicBezTo>
                  <a:lnTo>
                    <a:pt x="6769100" y="4050411"/>
                  </a:lnTo>
                  <a:cubicBezTo>
                    <a:pt x="6769100" y="4128008"/>
                    <a:pt x="6706108" y="4191000"/>
                    <a:pt x="6628511" y="4191000"/>
                  </a:cubicBezTo>
                  <a:lnTo>
                    <a:pt x="140589" y="4191000"/>
                  </a:lnTo>
                  <a:cubicBezTo>
                    <a:pt x="62992" y="4191000"/>
                    <a:pt x="0" y="4128008"/>
                    <a:pt x="0" y="4050411"/>
                  </a:cubicBezTo>
                  <a:close/>
                </a:path>
              </a:pathLst>
            </a:custGeom>
            <a:blipFill>
              <a:blip r:embed="rId4">
                <a:alphaModFix amt="0"/>
              </a:blip>
              <a:stretch>
                <a:fillRect l="-29437" t="0" r="-29437" b="0"/>
              </a:stretch>
            </a:blipFill>
            <a:ln w="19050" cap="sq">
              <a:solidFill>
                <a:srgbClr val="CFCFCF"/>
              </a:solidFill>
              <a:prstDash val="solid"/>
              <a:miter/>
            </a:ln>
          </p:spPr>
        </p:sp>
      </p:grpSp>
      <p:sp>
        <p:nvSpPr>
          <p:cNvPr name="TextBox 18" id="18"/>
          <p:cNvSpPr txBox="true"/>
          <p:nvPr/>
        </p:nvSpPr>
        <p:spPr>
          <a:xfrm rot="0">
            <a:off x="7571070" y="5806450"/>
            <a:ext cx="4819536" cy="449580"/>
          </a:xfrm>
          <a:prstGeom prst="rect">
            <a:avLst/>
          </a:prstGeom>
        </p:spPr>
        <p:txBody>
          <a:bodyPr anchor="t" rtlCol="false" tIns="0" lIns="0" bIns="0" rIns="0">
            <a:spAutoFit/>
          </a:bodyPr>
          <a:lstStyle/>
          <a:p>
            <a:pPr algn="l">
              <a:lnSpc>
                <a:spcPts val="2940"/>
              </a:lnSpc>
            </a:pPr>
            <a:r>
              <a:rPr lang="en-US" sz="2100" b="true">
                <a:solidFill>
                  <a:srgbClr val="111111"/>
                </a:solidFill>
                <a:latin typeface="Open Sans Bold"/>
                <a:ea typeface="Open Sans Bold"/>
                <a:cs typeface="Open Sans Bold"/>
                <a:sym typeface="Open Sans Bold"/>
              </a:rPr>
              <a:t>Right skew</a:t>
            </a:r>
          </a:p>
        </p:txBody>
      </p:sp>
      <p:sp>
        <p:nvSpPr>
          <p:cNvPr name="TextBox 19" id="19"/>
          <p:cNvSpPr txBox="true"/>
          <p:nvPr/>
        </p:nvSpPr>
        <p:spPr>
          <a:xfrm rot="0">
            <a:off x="7571070" y="6294120"/>
            <a:ext cx="4819536" cy="822960"/>
          </a:xfrm>
          <a:prstGeom prst="rect">
            <a:avLst/>
          </a:prstGeom>
        </p:spPr>
        <p:txBody>
          <a:bodyPr anchor="t" rtlCol="false" tIns="0" lIns="0" bIns="0" rIns="0">
            <a:spAutoFit/>
          </a:bodyPr>
          <a:lstStyle/>
          <a:p>
            <a:pPr algn="l">
              <a:lnSpc>
                <a:spcPts val="2940"/>
              </a:lnSpc>
            </a:pPr>
            <a:r>
              <a:rPr lang="en-US" sz="2100">
                <a:solidFill>
                  <a:srgbClr val="333333"/>
                </a:solidFill>
                <a:latin typeface="Open Sans"/>
                <a:ea typeface="Open Sans"/>
                <a:cs typeface="Open Sans"/>
                <a:sym typeface="Open Sans"/>
              </a:rPr>
              <a:t>Upper tails curve above the reference line.</a:t>
            </a:r>
          </a:p>
        </p:txBody>
      </p:sp>
      <p:grpSp>
        <p:nvGrpSpPr>
          <p:cNvPr name="Group 20" id="20"/>
          <p:cNvGrpSpPr/>
          <p:nvPr/>
        </p:nvGrpSpPr>
        <p:grpSpPr>
          <a:xfrm rot="0">
            <a:off x="12555026" y="2587000"/>
            <a:ext cx="5076825" cy="3143250"/>
            <a:chOff x="0" y="0"/>
            <a:chExt cx="6769100" cy="4191000"/>
          </a:xfrm>
        </p:grpSpPr>
        <p:sp>
          <p:nvSpPr>
            <p:cNvPr name="Freeform 21" id="21"/>
            <p:cNvSpPr/>
            <p:nvPr/>
          </p:nvSpPr>
          <p:spPr>
            <a:xfrm flipH="false" flipV="false" rot="0">
              <a:off x="0" y="0"/>
              <a:ext cx="6769100" cy="4191000"/>
            </a:xfrm>
            <a:custGeom>
              <a:avLst/>
              <a:gdLst/>
              <a:ahLst/>
              <a:cxnLst/>
              <a:rect r="r" b="b" t="t" l="l"/>
              <a:pathLst>
                <a:path h="4191000" w="6769100">
                  <a:moveTo>
                    <a:pt x="0" y="152400"/>
                  </a:moveTo>
                  <a:cubicBezTo>
                    <a:pt x="0" y="68199"/>
                    <a:pt x="68199" y="0"/>
                    <a:pt x="152400" y="0"/>
                  </a:cubicBezTo>
                  <a:lnTo>
                    <a:pt x="6616700" y="0"/>
                  </a:lnTo>
                  <a:cubicBezTo>
                    <a:pt x="6700901" y="0"/>
                    <a:pt x="6769100" y="68199"/>
                    <a:pt x="6769100" y="152400"/>
                  </a:cubicBezTo>
                  <a:lnTo>
                    <a:pt x="6769100" y="4038600"/>
                  </a:lnTo>
                  <a:cubicBezTo>
                    <a:pt x="6769100" y="4122801"/>
                    <a:pt x="6700901" y="4191000"/>
                    <a:pt x="6616700" y="4191000"/>
                  </a:cubicBezTo>
                  <a:lnTo>
                    <a:pt x="152400" y="4191000"/>
                  </a:lnTo>
                  <a:cubicBezTo>
                    <a:pt x="68199" y="4191000"/>
                    <a:pt x="0" y="4122801"/>
                    <a:pt x="0" y="4038600"/>
                  </a:cubicBezTo>
                  <a:close/>
                </a:path>
              </a:pathLst>
            </a:custGeom>
            <a:solidFill>
              <a:srgbClr val="FFFFFF"/>
            </a:solidFill>
          </p:spPr>
        </p:sp>
      </p:grpSp>
      <p:grpSp>
        <p:nvGrpSpPr>
          <p:cNvPr name="Group 22" id="22"/>
          <p:cNvGrpSpPr/>
          <p:nvPr/>
        </p:nvGrpSpPr>
        <p:grpSpPr>
          <a:xfrm rot="0">
            <a:off x="12574076" y="2606050"/>
            <a:ext cx="5038725" cy="3105150"/>
            <a:chOff x="0" y="0"/>
            <a:chExt cx="6718300" cy="4140200"/>
          </a:xfrm>
        </p:grpSpPr>
        <p:sp>
          <p:nvSpPr>
            <p:cNvPr name="Freeform 23" id="23" descr="Histograms of serum cholesterol by disease status"/>
            <p:cNvSpPr/>
            <p:nvPr/>
          </p:nvSpPr>
          <p:spPr>
            <a:xfrm flipH="false" flipV="false" rot="0">
              <a:off x="0" y="0"/>
              <a:ext cx="6718300" cy="4140200"/>
            </a:xfrm>
            <a:custGeom>
              <a:avLst/>
              <a:gdLst/>
              <a:ahLst/>
              <a:cxnLst/>
              <a:rect r="r" b="b" t="t" l="l"/>
              <a:pathLst>
                <a:path h="4140200" w="6718300">
                  <a:moveTo>
                    <a:pt x="0" y="0"/>
                  </a:moveTo>
                  <a:lnTo>
                    <a:pt x="6718300" y="0"/>
                  </a:lnTo>
                  <a:lnTo>
                    <a:pt x="6718300" y="4140200"/>
                  </a:lnTo>
                  <a:lnTo>
                    <a:pt x="0" y="4140200"/>
                  </a:lnTo>
                  <a:lnTo>
                    <a:pt x="0" y="0"/>
                  </a:lnTo>
                  <a:close/>
                </a:path>
              </a:pathLst>
            </a:custGeom>
            <a:blipFill>
              <a:blip r:embed="rId6"/>
              <a:stretch>
                <a:fillRect l="71" t="0" r="71" b="0"/>
              </a:stretch>
            </a:blipFill>
          </p:spPr>
        </p:sp>
      </p:grpSp>
      <p:grpSp>
        <p:nvGrpSpPr>
          <p:cNvPr name="Group 24" id="24"/>
          <p:cNvGrpSpPr/>
          <p:nvPr/>
        </p:nvGrpSpPr>
        <p:grpSpPr>
          <a:xfrm rot="0">
            <a:off x="12555026" y="2587000"/>
            <a:ext cx="5076825" cy="3143250"/>
            <a:chOff x="0" y="0"/>
            <a:chExt cx="6769100" cy="4191000"/>
          </a:xfrm>
        </p:grpSpPr>
        <p:sp>
          <p:nvSpPr>
            <p:cNvPr name="Freeform 25" id="25"/>
            <p:cNvSpPr/>
            <p:nvPr/>
          </p:nvSpPr>
          <p:spPr>
            <a:xfrm flipH="false" flipV="false" rot="0">
              <a:off x="0" y="0"/>
              <a:ext cx="6769100" cy="4191000"/>
            </a:xfrm>
            <a:custGeom>
              <a:avLst/>
              <a:gdLst/>
              <a:ahLst/>
              <a:cxnLst/>
              <a:rect r="r" b="b" t="t" l="l"/>
              <a:pathLst>
                <a:path h="4191000" w="6769100">
                  <a:moveTo>
                    <a:pt x="0" y="140589"/>
                  </a:moveTo>
                  <a:cubicBezTo>
                    <a:pt x="0" y="62992"/>
                    <a:pt x="62992" y="0"/>
                    <a:pt x="140589" y="0"/>
                  </a:cubicBezTo>
                  <a:lnTo>
                    <a:pt x="6628511" y="0"/>
                  </a:lnTo>
                  <a:cubicBezTo>
                    <a:pt x="6706108" y="0"/>
                    <a:pt x="6769100" y="62992"/>
                    <a:pt x="6769100" y="140589"/>
                  </a:cubicBezTo>
                  <a:lnTo>
                    <a:pt x="6769100" y="4050411"/>
                  </a:lnTo>
                  <a:cubicBezTo>
                    <a:pt x="6769100" y="4128008"/>
                    <a:pt x="6706108" y="4191000"/>
                    <a:pt x="6628511" y="4191000"/>
                  </a:cubicBezTo>
                  <a:lnTo>
                    <a:pt x="140589" y="4191000"/>
                  </a:lnTo>
                  <a:cubicBezTo>
                    <a:pt x="62992" y="4191000"/>
                    <a:pt x="0" y="4128008"/>
                    <a:pt x="0" y="4050411"/>
                  </a:cubicBezTo>
                  <a:close/>
                </a:path>
              </a:pathLst>
            </a:custGeom>
            <a:blipFill>
              <a:blip r:embed="rId4">
                <a:alphaModFix amt="0"/>
              </a:blip>
              <a:stretch>
                <a:fillRect l="-29437" t="0" r="-29437" b="0"/>
              </a:stretch>
            </a:blipFill>
            <a:ln w="19050" cap="sq">
              <a:solidFill>
                <a:srgbClr val="CFCFCF"/>
              </a:solidFill>
              <a:prstDash val="solid"/>
              <a:miter/>
            </a:ln>
          </p:spPr>
        </p:sp>
      </p:grpSp>
      <p:sp>
        <p:nvSpPr>
          <p:cNvPr name="TextBox 26" id="26"/>
          <p:cNvSpPr txBox="true"/>
          <p:nvPr/>
        </p:nvSpPr>
        <p:spPr>
          <a:xfrm rot="0">
            <a:off x="12555026" y="5806450"/>
            <a:ext cx="4649191" cy="449580"/>
          </a:xfrm>
          <a:prstGeom prst="rect">
            <a:avLst/>
          </a:prstGeom>
        </p:spPr>
        <p:txBody>
          <a:bodyPr anchor="t" rtlCol="false" tIns="0" lIns="0" bIns="0" rIns="0">
            <a:spAutoFit/>
          </a:bodyPr>
          <a:lstStyle/>
          <a:p>
            <a:pPr algn="l">
              <a:lnSpc>
                <a:spcPts val="2940"/>
              </a:lnSpc>
            </a:pPr>
            <a:r>
              <a:rPr lang="en-US" sz="2100" b="true">
                <a:solidFill>
                  <a:srgbClr val="111111"/>
                </a:solidFill>
                <a:latin typeface="Open Sans Bold"/>
                <a:ea typeface="Open Sans Bold"/>
                <a:cs typeface="Open Sans Bold"/>
                <a:sym typeface="Open Sans Bold"/>
              </a:rPr>
              <a:t>A few very high readings</a:t>
            </a:r>
          </a:p>
        </p:txBody>
      </p:sp>
      <p:sp>
        <p:nvSpPr>
          <p:cNvPr name="TextBox 27" id="27"/>
          <p:cNvSpPr txBox="true"/>
          <p:nvPr/>
        </p:nvSpPr>
        <p:spPr>
          <a:xfrm rot="0">
            <a:off x="12555026" y="6294120"/>
            <a:ext cx="4649191" cy="449580"/>
          </a:xfrm>
          <a:prstGeom prst="rect">
            <a:avLst/>
          </a:prstGeom>
        </p:spPr>
        <p:txBody>
          <a:bodyPr anchor="t" rtlCol="false" tIns="0" lIns="0" bIns="0" rIns="0">
            <a:spAutoFit/>
          </a:bodyPr>
          <a:lstStyle/>
          <a:p>
            <a:pPr algn="l">
              <a:lnSpc>
                <a:spcPts val="2940"/>
              </a:lnSpc>
            </a:pPr>
            <a:r>
              <a:rPr lang="en-US" sz="2100">
                <a:solidFill>
                  <a:srgbClr val="333333"/>
                </a:solidFill>
                <a:latin typeface="Open Sans"/>
                <a:ea typeface="Open Sans"/>
                <a:cs typeface="Open Sans"/>
                <a:sym typeface="Open Sans"/>
              </a:rPr>
              <a:t>The largest value is 603 mg/dl.</a:t>
            </a:r>
          </a:p>
        </p:txBody>
      </p:sp>
      <p:sp>
        <p:nvSpPr>
          <p:cNvPr name="TextBox 28" id="28"/>
          <p:cNvSpPr txBox="true"/>
          <p:nvPr/>
        </p:nvSpPr>
        <p:spPr>
          <a:xfrm rot="0">
            <a:off x="1219200" y="7383780"/>
            <a:ext cx="16325088" cy="502920"/>
          </a:xfrm>
          <a:prstGeom prst="rect">
            <a:avLst/>
          </a:prstGeom>
        </p:spPr>
        <p:txBody>
          <a:bodyPr anchor="t" rtlCol="false" tIns="0" lIns="0" bIns="0" rIns="0">
            <a:spAutoFit/>
          </a:bodyPr>
          <a:lstStyle/>
          <a:p>
            <a:pPr algn="l">
              <a:lnSpc>
                <a:spcPts val="3359"/>
              </a:lnSpc>
            </a:pPr>
            <a:r>
              <a:rPr lang="en-US" sz="2400">
                <a:solidFill>
                  <a:srgbClr val="111111"/>
                </a:solidFill>
                <a:latin typeface="Open Sans"/>
                <a:ea typeface="Open Sans"/>
                <a:cs typeface="Open Sans"/>
                <a:sym typeface="Open Sans"/>
              </a:rPr>
              <a:t>Both groups are large (346 and 372), and the bootstrap gives a further check.</a:t>
            </a:r>
          </a:p>
        </p:txBody>
      </p:sp>
      <p:sp>
        <p:nvSpPr>
          <p:cNvPr name="TextBox 29" id="29"/>
          <p:cNvSpPr txBox="true"/>
          <p:nvPr/>
        </p:nvSpPr>
        <p:spPr>
          <a:xfrm rot="0">
            <a:off x="1219200" y="9328785"/>
            <a:ext cx="11772900" cy="386715"/>
          </a:xfrm>
          <a:prstGeom prst="rect">
            <a:avLst/>
          </a:prstGeom>
        </p:spPr>
        <p:txBody>
          <a:bodyPr anchor="t" rtlCol="false" tIns="0" lIns="0" bIns="0" rIns="0">
            <a:spAutoFit/>
          </a:bodyPr>
          <a:lstStyle/>
          <a:p>
            <a:pPr algn="l">
              <a:lnSpc>
                <a:spcPts val="2520"/>
              </a:lnSpc>
            </a:pPr>
            <a:r>
              <a:rPr lang="en-US" sz="1800">
                <a:solidFill>
                  <a:srgbClr val="4D4D4D"/>
                </a:solidFill>
                <a:latin typeface="Open Sans"/>
                <a:ea typeface="Open Sans"/>
                <a:cs typeface="Open Sans"/>
                <a:sym typeface="Open Sans"/>
              </a:rPr>
              <a:t>DATA 602 · Detecting Heart Disease</a:t>
            </a:r>
          </a:p>
        </p:txBody>
      </p:sp>
      <p:sp>
        <p:nvSpPr>
          <p:cNvPr name="TextBox 30" id="30"/>
          <p:cNvSpPr txBox="true"/>
          <p:nvPr/>
        </p:nvSpPr>
        <p:spPr>
          <a:xfrm rot="0">
            <a:off x="15087600" y="9328785"/>
            <a:ext cx="1981200" cy="386715"/>
          </a:xfrm>
          <a:prstGeom prst="rect">
            <a:avLst/>
          </a:prstGeom>
        </p:spPr>
        <p:txBody>
          <a:bodyPr anchor="t" rtlCol="false" tIns="0" lIns="0" bIns="0" rIns="0">
            <a:spAutoFit/>
          </a:bodyPr>
          <a:lstStyle/>
          <a:p>
            <a:pPr algn="r">
              <a:lnSpc>
                <a:spcPts val="2520"/>
              </a:lnSpc>
            </a:pPr>
            <a:r>
              <a:rPr lang="en-US" sz="1800">
                <a:solidFill>
                  <a:srgbClr val="4D4D4D"/>
                </a:solidFill>
                <a:latin typeface="Open Sans"/>
                <a:ea typeface="Open Sans"/>
                <a:cs typeface="Open Sans"/>
                <a:sym typeface="Open Sa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sp>
        <p:nvSpPr>
          <p:cNvPr name="TextBox 2" id="2"/>
          <p:cNvSpPr txBox="true"/>
          <p:nvPr/>
        </p:nvSpPr>
        <p:spPr>
          <a:xfrm rot="0">
            <a:off x="1219200" y="1190625"/>
            <a:ext cx="16325088" cy="386715"/>
          </a:xfrm>
          <a:prstGeom prst="rect">
            <a:avLst/>
          </a:prstGeom>
        </p:spPr>
        <p:txBody>
          <a:bodyPr anchor="t" rtlCol="false" tIns="0" lIns="0" bIns="0" rIns="0">
            <a:spAutoFit/>
          </a:bodyPr>
          <a:lstStyle/>
          <a:p>
            <a:pPr algn="l">
              <a:lnSpc>
                <a:spcPts val="2520"/>
              </a:lnSpc>
            </a:pPr>
            <a:r>
              <a:rPr lang="en-US" b="true" sz="1800" spc="149">
                <a:solidFill>
                  <a:srgbClr val="D6001C"/>
                </a:solidFill>
                <a:latin typeface="Open Sans Bold"/>
                <a:ea typeface="Open Sans Bold"/>
                <a:cs typeface="Open Sans Bold"/>
                <a:sym typeface="Open Sans Bold"/>
              </a:rPr>
              <a:t>2 · SERUM CHOLESTEROL (CHOL)</a:t>
            </a:r>
          </a:p>
        </p:txBody>
      </p:sp>
      <p:sp>
        <p:nvSpPr>
          <p:cNvPr name="TextBox 3" id="3"/>
          <p:cNvSpPr txBox="true"/>
          <p:nvPr/>
        </p:nvSpPr>
        <p:spPr>
          <a:xfrm rot="0">
            <a:off x="1219200" y="1663075"/>
            <a:ext cx="16325088" cy="619125"/>
          </a:xfrm>
          <a:prstGeom prst="rect">
            <a:avLst/>
          </a:prstGeom>
        </p:spPr>
        <p:txBody>
          <a:bodyPr anchor="t" rtlCol="false" tIns="0" lIns="0" bIns="0" rIns="0">
            <a:spAutoFit/>
          </a:bodyPr>
          <a:lstStyle/>
          <a:p>
            <a:pPr algn="l">
              <a:lnSpc>
                <a:spcPts val="4950"/>
              </a:lnSpc>
            </a:pPr>
            <a:r>
              <a:rPr lang="en-US" sz="4500" b="true">
                <a:solidFill>
                  <a:srgbClr val="111111"/>
                </a:solidFill>
                <a:latin typeface="Open Sans Bold"/>
                <a:ea typeface="Open Sans Bold"/>
                <a:cs typeface="Open Sans Bold"/>
                <a:sym typeface="Open Sans Bold"/>
              </a:rPr>
              <a:t>Heart disease: higher cholesterol</a:t>
            </a:r>
          </a:p>
        </p:txBody>
      </p:sp>
      <p:sp>
        <p:nvSpPr>
          <p:cNvPr name="TextBox 4" id="4"/>
          <p:cNvSpPr txBox="true"/>
          <p:nvPr/>
        </p:nvSpPr>
        <p:spPr>
          <a:xfrm rot="0">
            <a:off x="1219200" y="2548900"/>
            <a:ext cx="7730871" cy="50292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Mean serum cholesterol (mg/dl)</a:t>
            </a:r>
          </a:p>
        </p:txBody>
      </p:sp>
      <p:grpSp>
        <p:nvGrpSpPr>
          <p:cNvPr name="Group 5" id="5"/>
          <p:cNvGrpSpPr/>
          <p:nvPr/>
        </p:nvGrpSpPr>
        <p:grpSpPr>
          <a:xfrm rot="0">
            <a:off x="1219200" y="3204210"/>
            <a:ext cx="3638550" cy="1783080"/>
            <a:chOff x="0" y="0"/>
            <a:chExt cx="4851400" cy="2377440"/>
          </a:xfrm>
        </p:grpSpPr>
        <p:sp>
          <p:nvSpPr>
            <p:cNvPr name="Freeform 6" id="6"/>
            <p:cNvSpPr/>
            <p:nvPr/>
          </p:nvSpPr>
          <p:spPr>
            <a:xfrm flipH="false" flipV="false" rot="0">
              <a:off x="0" y="0"/>
              <a:ext cx="4851400" cy="2377440"/>
            </a:xfrm>
            <a:custGeom>
              <a:avLst/>
              <a:gdLst/>
              <a:ahLst/>
              <a:cxnLst/>
              <a:rect r="r" b="b" t="t" l="l"/>
              <a:pathLst>
                <a:path h="2377440" w="4851400">
                  <a:moveTo>
                    <a:pt x="0" y="192532"/>
                  </a:moveTo>
                  <a:cubicBezTo>
                    <a:pt x="0" y="86233"/>
                    <a:pt x="86233" y="0"/>
                    <a:pt x="192532" y="0"/>
                  </a:cubicBezTo>
                  <a:lnTo>
                    <a:pt x="4658868" y="0"/>
                  </a:lnTo>
                  <a:cubicBezTo>
                    <a:pt x="4765167" y="0"/>
                    <a:pt x="4851400" y="86233"/>
                    <a:pt x="4851400" y="192532"/>
                  </a:cubicBezTo>
                  <a:lnTo>
                    <a:pt x="4851400" y="2184908"/>
                  </a:lnTo>
                  <a:cubicBezTo>
                    <a:pt x="4851400" y="2291207"/>
                    <a:pt x="4765167" y="2377440"/>
                    <a:pt x="4658868" y="2377440"/>
                  </a:cubicBezTo>
                  <a:lnTo>
                    <a:pt x="192532" y="2377440"/>
                  </a:lnTo>
                  <a:cubicBezTo>
                    <a:pt x="86233" y="2377440"/>
                    <a:pt x="0" y="2291207"/>
                    <a:pt x="0" y="2184908"/>
                  </a:cubicBezTo>
                  <a:close/>
                </a:path>
              </a:pathLst>
            </a:custGeom>
            <a:solidFill>
              <a:srgbClr val="FFFFFF"/>
            </a:solidFill>
            <a:ln w="19050" cap="sq">
              <a:solidFill>
                <a:srgbClr val="CFCFCF"/>
              </a:solidFill>
              <a:prstDash val="solid"/>
              <a:miter/>
            </a:ln>
          </p:spPr>
        </p:sp>
      </p:grpSp>
      <p:sp>
        <p:nvSpPr>
          <p:cNvPr name="TextBox 7" id="7"/>
          <p:cNvSpPr txBox="true"/>
          <p:nvPr/>
        </p:nvSpPr>
        <p:spPr>
          <a:xfrm rot="0">
            <a:off x="1501140" y="3533775"/>
            <a:ext cx="3166910" cy="744855"/>
          </a:xfrm>
          <a:prstGeom prst="rect">
            <a:avLst/>
          </a:prstGeom>
        </p:spPr>
        <p:txBody>
          <a:bodyPr anchor="t" rtlCol="false" tIns="0" lIns="0" bIns="0" rIns="0">
            <a:spAutoFit/>
          </a:bodyPr>
          <a:lstStyle/>
          <a:p>
            <a:pPr algn="l">
              <a:lnSpc>
                <a:spcPts val="5940"/>
              </a:lnSpc>
            </a:pPr>
            <a:r>
              <a:rPr lang="en-US" sz="5400" b="true">
                <a:solidFill>
                  <a:srgbClr val="D6001C"/>
                </a:solidFill>
                <a:latin typeface="Open Sans Bold"/>
                <a:ea typeface="Open Sans Bold"/>
                <a:cs typeface="Open Sans Bold"/>
                <a:sym typeface="Open Sans Bold"/>
              </a:rPr>
              <a:t>254.0</a:t>
            </a:r>
          </a:p>
        </p:txBody>
      </p:sp>
      <p:sp>
        <p:nvSpPr>
          <p:cNvPr name="TextBox 8" id="8"/>
          <p:cNvSpPr txBox="true"/>
          <p:nvPr/>
        </p:nvSpPr>
        <p:spPr>
          <a:xfrm rot="0">
            <a:off x="1501140" y="4240530"/>
            <a:ext cx="3166910" cy="50292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Diseased</a:t>
            </a:r>
          </a:p>
        </p:txBody>
      </p:sp>
      <p:grpSp>
        <p:nvGrpSpPr>
          <p:cNvPr name="Group 9" id="9"/>
          <p:cNvGrpSpPr/>
          <p:nvPr/>
        </p:nvGrpSpPr>
        <p:grpSpPr>
          <a:xfrm rot="0">
            <a:off x="5086350" y="3204210"/>
            <a:ext cx="3638550" cy="1783080"/>
            <a:chOff x="0" y="0"/>
            <a:chExt cx="4851400" cy="2377440"/>
          </a:xfrm>
        </p:grpSpPr>
        <p:sp>
          <p:nvSpPr>
            <p:cNvPr name="Freeform 10" id="10"/>
            <p:cNvSpPr/>
            <p:nvPr/>
          </p:nvSpPr>
          <p:spPr>
            <a:xfrm flipH="false" flipV="false" rot="0">
              <a:off x="0" y="0"/>
              <a:ext cx="4851400" cy="2377440"/>
            </a:xfrm>
            <a:custGeom>
              <a:avLst/>
              <a:gdLst/>
              <a:ahLst/>
              <a:cxnLst/>
              <a:rect r="r" b="b" t="t" l="l"/>
              <a:pathLst>
                <a:path h="2377440" w="4851400">
                  <a:moveTo>
                    <a:pt x="0" y="192532"/>
                  </a:moveTo>
                  <a:cubicBezTo>
                    <a:pt x="0" y="86233"/>
                    <a:pt x="86233" y="0"/>
                    <a:pt x="192532" y="0"/>
                  </a:cubicBezTo>
                  <a:lnTo>
                    <a:pt x="4658868" y="0"/>
                  </a:lnTo>
                  <a:cubicBezTo>
                    <a:pt x="4765167" y="0"/>
                    <a:pt x="4851400" y="86233"/>
                    <a:pt x="4851400" y="192532"/>
                  </a:cubicBezTo>
                  <a:lnTo>
                    <a:pt x="4851400" y="2184908"/>
                  </a:lnTo>
                  <a:cubicBezTo>
                    <a:pt x="4851400" y="2291207"/>
                    <a:pt x="4765167" y="2377440"/>
                    <a:pt x="4658868" y="2377440"/>
                  </a:cubicBezTo>
                  <a:lnTo>
                    <a:pt x="192532" y="2377440"/>
                  </a:lnTo>
                  <a:cubicBezTo>
                    <a:pt x="86233" y="2377440"/>
                    <a:pt x="0" y="2291207"/>
                    <a:pt x="0" y="2184908"/>
                  </a:cubicBezTo>
                  <a:close/>
                </a:path>
              </a:pathLst>
            </a:custGeom>
            <a:solidFill>
              <a:srgbClr val="FFFFFF"/>
            </a:solidFill>
            <a:ln w="19050" cap="sq">
              <a:solidFill>
                <a:srgbClr val="CFCFCF"/>
              </a:solidFill>
              <a:prstDash val="solid"/>
              <a:miter/>
            </a:ln>
          </p:spPr>
        </p:sp>
      </p:grpSp>
      <p:sp>
        <p:nvSpPr>
          <p:cNvPr name="TextBox 11" id="11"/>
          <p:cNvSpPr txBox="true"/>
          <p:nvPr/>
        </p:nvSpPr>
        <p:spPr>
          <a:xfrm rot="0">
            <a:off x="5368290" y="3533775"/>
            <a:ext cx="3166910" cy="744855"/>
          </a:xfrm>
          <a:prstGeom prst="rect">
            <a:avLst/>
          </a:prstGeom>
        </p:spPr>
        <p:txBody>
          <a:bodyPr anchor="t" rtlCol="false" tIns="0" lIns="0" bIns="0" rIns="0">
            <a:spAutoFit/>
          </a:bodyPr>
          <a:lstStyle/>
          <a:p>
            <a:pPr algn="l">
              <a:lnSpc>
                <a:spcPts val="5940"/>
              </a:lnSpc>
            </a:pPr>
            <a:r>
              <a:rPr lang="en-US" sz="5400" b="true">
                <a:solidFill>
                  <a:srgbClr val="111111"/>
                </a:solidFill>
                <a:latin typeface="Open Sans Bold"/>
                <a:ea typeface="Open Sans Bold"/>
                <a:cs typeface="Open Sans Bold"/>
                <a:sym typeface="Open Sans Bold"/>
              </a:rPr>
              <a:t>240.2</a:t>
            </a:r>
          </a:p>
        </p:txBody>
      </p:sp>
      <p:sp>
        <p:nvSpPr>
          <p:cNvPr name="TextBox 12" id="12"/>
          <p:cNvSpPr txBox="true"/>
          <p:nvPr/>
        </p:nvSpPr>
        <p:spPr>
          <a:xfrm rot="0">
            <a:off x="5368290" y="4240530"/>
            <a:ext cx="3166910" cy="50292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Not diseased</a:t>
            </a:r>
          </a:p>
        </p:txBody>
      </p:sp>
      <p:sp>
        <p:nvSpPr>
          <p:cNvPr name="TextBox 13" id="13"/>
          <p:cNvSpPr txBox="true"/>
          <p:nvPr/>
        </p:nvSpPr>
        <p:spPr>
          <a:xfrm rot="0">
            <a:off x="1219200" y="5177800"/>
            <a:ext cx="4554855" cy="495300"/>
          </a:xfrm>
          <a:prstGeom prst="rect">
            <a:avLst/>
          </a:prstGeom>
        </p:spPr>
        <p:txBody>
          <a:bodyPr anchor="t" rtlCol="false" tIns="0" lIns="0" bIns="0" rIns="0">
            <a:spAutoFit/>
          </a:bodyPr>
          <a:lstStyle/>
          <a:p>
            <a:pPr algn="l">
              <a:lnSpc>
                <a:spcPts val="3960"/>
              </a:lnSpc>
            </a:pPr>
            <a:r>
              <a:rPr lang="en-US" sz="3300">
                <a:solidFill>
                  <a:srgbClr val="111111"/>
                </a:solidFill>
                <a:latin typeface="Open Sans"/>
                <a:ea typeface="Open Sans"/>
                <a:cs typeface="Open Sans"/>
                <a:sym typeface="Open Sans"/>
              </a:rPr>
              <a:t>Difference: +13.8 mg/dl</a:t>
            </a:r>
          </a:p>
        </p:txBody>
      </p:sp>
      <p:sp>
        <p:nvSpPr>
          <p:cNvPr name="TextBox 14" id="14"/>
          <p:cNvSpPr txBox="true"/>
          <p:nvPr/>
        </p:nvSpPr>
        <p:spPr>
          <a:xfrm rot="0">
            <a:off x="1219200" y="5833110"/>
            <a:ext cx="7730871" cy="50292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t = 3.19, df = 716, p = 0.0015. We reject H₀.</a:t>
            </a:r>
          </a:p>
        </p:txBody>
      </p:sp>
      <p:sp>
        <p:nvSpPr>
          <p:cNvPr name="TextBox 15" id="15"/>
          <p:cNvSpPr txBox="true"/>
          <p:nvPr/>
        </p:nvSpPr>
        <p:spPr>
          <a:xfrm rot="0">
            <a:off x="1219200" y="6450330"/>
            <a:ext cx="7730871" cy="92964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Pooled t interval: 5.32 to 22.38. Bootstrap interval: 5.27 to 22.34.</a:t>
            </a:r>
          </a:p>
        </p:txBody>
      </p:sp>
      <p:grpSp>
        <p:nvGrpSpPr>
          <p:cNvPr name="Group 16" id="16"/>
          <p:cNvGrpSpPr/>
          <p:nvPr/>
        </p:nvGrpSpPr>
        <p:grpSpPr>
          <a:xfrm rot="0">
            <a:off x="9258300" y="2587000"/>
            <a:ext cx="7810500" cy="4838700"/>
            <a:chOff x="0" y="0"/>
            <a:chExt cx="10414000" cy="6451600"/>
          </a:xfrm>
        </p:grpSpPr>
        <p:sp>
          <p:nvSpPr>
            <p:cNvPr name="Freeform 17" id="17"/>
            <p:cNvSpPr/>
            <p:nvPr/>
          </p:nvSpPr>
          <p:spPr>
            <a:xfrm flipH="false" flipV="false" rot="0">
              <a:off x="0" y="0"/>
              <a:ext cx="10414000" cy="6451600"/>
            </a:xfrm>
            <a:custGeom>
              <a:avLst/>
              <a:gdLst/>
              <a:ahLst/>
              <a:cxnLst/>
              <a:rect r="r" b="b" t="t" l="l"/>
              <a:pathLst>
                <a:path h="6451600" w="10414000">
                  <a:moveTo>
                    <a:pt x="0" y="152400"/>
                  </a:moveTo>
                  <a:cubicBezTo>
                    <a:pt x="0" y="68199"/>
                    <a:pt x="68199" y="0"/>
                    <a:pt x="152400" y="0"/>
                  </a:cubicBezTo>
                  <a:lnTo>
                    <a:pt x="10261600" y="0"/>
                  </a:lnTo>
                  <a:cubicBezTo>
                    <a:pt x="10345801" y="0"/>
                    <a:pt x="10414000" y="68199"/>
                    <a:pt x="10414000" y="152400"/>
                  </a:cubicBezTo>
                  <a:lnTo>
                    <a:pt x="10414000" y="6299200"/>
                  </a:lnTo>
                  <a:cubicBezTo>
                    <a:pt x="10414000" y="6383401"/>
                    <a:pt x="10345801" y="6451600"/>
                    <a:pt x="10261600" y="6451600"/>
                  </a:cubicBezTo>
                  <a:lnTo>
                    <a:pt x="152400" y="6451600"/>
                  </a:lnTo>
                  <a:cubicBezTo>
                    <a:pt x="68199" y="6451600"/>
                    <a:pt x="0" y="6383401"/>
                    <a:pt x="0" y="6299200"/>
                  </a:cubicBezTo>
                  <a:close/>
                </a:path>
              </a:pathLst>
            </a:custGeom>
            <a:solidFill>
              <a:srgbClr val="FFFFFF"/>
            </a:solidFill>
          </p:spPr>
        </p:sp>
      </p:grpSp>
      <p:grpSp>
        <p:nvGrpSpPr>
          <p:cNvPr name="Group 18" id="18"/>
          <p:cNvGrpSpPr/>
          <p:nvPr/>
        </p:nvGrpSpPr>
        <p:grpSpPr>
          <a:xfrm rot="0">
            <a:off x="9277350" y="2606050"/>
            <a:ext cx="7772400" cy="4800600"/>
            <a:chOff x="0" y="0"/>
            <a:chExt cx="10363200" cy="6400800"/>
          </a:xfrm>
        </p:grpSpPr>
        <p:sp>
          <p:nvSpPr>
            <p:cNvPr name="Freeform 19" id="19" descr="Bootstrap distribution of the mean difference in cholesterol with the 95% interval marked by dashed lines"/>
            <p:cNvSpPr/>
            <p:nvPr/>
          </p:nvSpPr>
          <p:spPr>
            <a:xfrm flipH="false" flipV="false" rot="0">
              <a:off x="0" y="0"/>
              <a:ext cx="10363200" cy="6400800"/>
            </a:xfrm>
            <a:custGeom>
              <a:avLst/>
              <a:gdLst/>
              <a:ahLst/>
              <a:cxnLst/>
              <a:rect r="r" b="b" t="t" l="l"/>
              <a:pathLst>
                <a:path h="6400800" w="10363200">
                  <a:moveTo>
                    <a:pt x="0" y="0"/>
                  </a:moveTo>
                  <a:lnTo>
                    <a:pt x="10363200" y="0"/>
                  </a:lnTo>
                  <a:lnTo>
                    <a:pt x="10363200" y="6400800"/>
                  </a:lnTo>
                  <a:lnTo>
                    <a:pt x="0" y="6400800"/>
                  </a:lnTo>
                  <a:lnTo>
                    <a:pt x="0" y="0"/>
                  </a:lnTo>
                  <a:close/>
                </a:path>
              </a:pathLst>
            </a:custGeom>
            <a:blipFill>
              <a:blip r:embed="rId3"/>
              <a:stretch>
                <a:fillRect l="0" t="40" r="0" b="40"/>
              </a:stretch>
            </a:blipFill>
          </p:spPr>
        </p:sp>
      </p:grpSp>
      <p:grpSp>
        <p:nvGrpSpPr>
          <p:cNvPr name="Group 20" id="20"/>
          <p:cNvGrpSpPr/>
          <p:nvPr/>
        </p:nvGrpSpPr>
        <p:grpSpPr>
          <a:xfrm rot="0">
            <a:off x="9258300" y="2587000"/>
            <a:ext cx="7810500" cy="4838700"/>
            <a:chOff x="0" y="0"/>
            <a:chExt cx="10414000" cy="6451600"/>
          </a:xfrm>
        </p:grpSpPr>
        <p:sp>
          <p:nvSpPr>
            <p:cNvPr name="Freeform 21" id="21"/>
            <p:cNvSpPr/>
            <p:nvPr/>
          </p:nvSpPr>
          <p:spPr>
            <a:xfrm flipH="false" flipV="false" rot="0">
              <a:off x="0" y="0"/>
              <a:ext cx="10414000" cy="6451600"/>
            </a:xfrm>
            <a:custGeom>
              <a:avLst/>
              <a:gdLst/>
              <a:ahLst/>
              <a:cxnLst/>
              <a:rect r="r" b="b" t="t" l="l"/>
              <a:pathLst>
                <a:path h="6451600" w="10414000">
                  <a:moveTo>
                    <a:pt x="0" y="140208"/>
                  </a:moveTo>
                  <a:cubicBezTo>
                    <a:pt x="0" y="62738"/>
                    <a:pt x="62738" y="0"/>
                    <a:pt x="140208" y="0"/>
                  </a:cubicBezTo>
                  <a:lnTo>
                    <a:pt x="10273792" y="0"/>
                  </a:lnTo>
                  <a:cubicBezTo>
                    <a:pt x="10351262" y="0"/>
                    <a:pt x="10414000" y="62738"/>
                    <a:pt x="10414000" y="140208"/>
                  </a:cubicBezTo>
                  <a:lnTo>
                    <a:pt x="10414000" y="6311392"/>
                  </a:lnTo>
                  <a:cubicBezTo>
                    <a:pt x="10414000" y="6388862"/>
                    <a:pt x="10351262" y="6451600"/>
                    <a:pt x="10273792" y="6451600"/>
                  </a:cubicBezTo>
                  <a:lnTo>
                    <a:pt x="140208" y="6451600"/>
                  </a:lnTo>
                  <a:cubicBezTo>
                    <a:pt x="62738" y="6451600"/>
                    <a:pt x="0" y="6388862"/>
                    <a:pt x="0" y="6311392"/>
                  </a:cubicBezTo>
                  <a:close/>
                </a:path>
              </a:pathLst>
            </a:custGeom>
            <a:blipFill>
              <a:blip r:embed="rId4">
                <a:alphaModFix amt="0"/>
              </a:blip>
              <a:stretch>
                <a:fillRect l="-29485" t="0" r="-29485" b="0"/>
              </a:stretch>
            </a:blipFill>
            <a:ln w="19050" cap="sq">
              <a:solidFill>
                <a:srgbClr val="CFCFCF"/>
              </a:solidFill>
              <a:prstDash val="solid"/>
              <a:miter/>
            </a:ln>
          </p:spPr>
        </p:sp>
      </p:grpSp>
      <p:sp>
        <p:nvSpPr>
          <p:cNvPr name="TextBox 22" id="22"/>
          <p:cNvSpPr txBox="true"/>
          <p:nvPr/>
        </p:nvSpPr>
        <p:spPr>
          <a:xfrm rot="0">
            <a:off x="9258300" y="7501900"/>
            <a:ext cx="8044815" cy="822960"/>
          </a:xfrm>
          <a:prstGeom prst="rect">
            <a:avLst/>
          </a:prstGeom>
        </p:spPr>
        <p:txBody>
          <a:bodyPr anchor="t" rtlCol="false" tIns="0" lIns="0" bIns="0" rIns="0">
            <a:spAutoFit/>
          </a:bodyPr>
          <a:lstStyle/>
          <a:p>
            <a:pPr algn="l">
              <a:lnSpc>
                <a:spcPts val="2940"/>
              </a:lnSpc>
            </a:pPr>
            <a:r>
              <a:rPr lang="en-US" sz="2100">
                <a:solidFill>
                  <a:srgbClr val="333333"/>
                </a:solidFill>
                <a:latin typeface="Open Sans"/>
                <a:ea typeface="Open Sans"/>
                <a:cs typeface="Open Sans"/>
                <a:sym typeface="Open Sans"/>
              </a:rPr>
              <a:t>Bootstrap distribution of the mean difference. Dashed lines mark the 95% interval.</a:t>
            </a:r>
          </a:p>
        </p:txBody>
      </p:sp>
      <p:sp>
        <p:nvSpPr>
          <p:cNvPr name="TextBox 23" id="23"/>
          <p:cNvSpPr txBox="true"/>
          <p:nvPr/>
        </p:nvSpPr>
        <p:spPr>
          <a:xfrm rot="0">
            <a:off x="1219200" y="9328785"/>
            <a:ext cx="11772900" cy="386715"/>
          </a:xfrm>
          <a:prstGeom prst="rect">
            <a:avLst/>
          </a:prstGeom>
        </p:spPr>
        <p:txBody>
          <a:bodyPr anchor="t" rtlCol="false" tIns="0" lIns="0" bIns="0" rIns="0">
            <a:spAutoFit/>
          </a:bodyPr>
          <a:lstStyle/>
          <a:p>
            <a:pPr algn="l">
              <a:lnSpc>
                <a:spcPts val="2520"/>
              </a:lnSpc>
            </a:pPr>
            <a:r>
              <a:rPr lang="en-US" sz="1800">
                <a:solidFill>
                  <a:srgbClr val="4D4D4D"/>
                </a:solidFill>
                <a:latin typeface="Open Sans"/>
                <a:ea typeface="Open Sans"/>
                <a:cs typeface="Open Sans"/>
                <a:sym typeface="Open Sans"/>
              </a:rPr>
              <a:t>DATA 602 · Detecting Heart Disease</a:t>
            </a:r>
          </a:p>
        </p:txBody>
      </p:sp>
      <p:sp>
        <p:nvSpPr>
          <p:cNvPr name="TextBox 24" id="24"/>
          <p:cNvSpPr txBox="true"/>
          <p:nvPr/>
        </p:nvSpPr>
        <p:spPr>
          <a:xfrm rot="0">
            <a:off x="15087600" y="9328785"/>
            <a:ext cx="1981200" cy="386715"/>
          </a:xfrm>
          <a:prstGeom prst="rect">
            <a:avLst/>
          </a:prstGeom>
        </p:spPr>
        <p:txBody>
          <a:bodyPr anchor="t" rtlCol="false" tIns="0" lIns="0" bIns="0" rIns="0">
            <a:spAutoFit/>
          </a:bodyPr>
          <a:lstStyle/>
          <a:p>
            <a:pPr algn="r">
              <a:lnSpc>
                <a:spcPts val="2520"/>
              </a:lnSpc>
            </a:pPr>
            <a:r>
              <a:rPr lang="en-US" sz="1800">
                <a:solidFill>
                  <a:srgbClr val="4D4D4D"/>
                </a:solidFill>
                <a:latin typeface="Open Sans"/>
                <a:ea typeface="Open Sans"/>
                <a:cs typeface="Open Sans"/>
                <a:sym typeface="Open Sans"/>
              </a:rPr>
              <a:t>11</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0F0F0"/>
        </a:solidFill>
      </p:bgPr>
    </p:bg>
    <p:spTree>
      <p:nvGrpSpPr>
        <p:cNvPr id="1" name=""/>
        <p:cNvGrpSpPr/>
        <p:nvPr/>
      </p:nvGrpSpPr>
      <p:grpSpPr>
        <a:xfrm>
          <a:off x="0" y="0"/>
          <a:ext cx="0" cy="0"/>
          <a:chOff x="0" y="0"/>
          <a:chExt cx="0" cy="0"/>
        </a:xfrm>
      </p:grpSpPr>
      <p:sp>
        <p:nvSpPr>
          <p:cNvPr name="TextBox 2" id="2"/>
          <p:cNvSpPr txBox="true"/>
          <p:nvPr/>
        </p:nvSpPr>
        <p:spPr>
          <a:xfrm rot="0">
            <a:off x="1219200" y="1190625"/>
            <a:ext cx="16325088" cy="386715"/>
          </a:xfrm>
          <a:prstGeom prst="rect">
            <a:avLst/>
          </a:prstGeom>
        </p:spPr>
        <p:txBody>
          <a:bodyPr anchor="t" rtlCol="false" tIns="0" lIns="0" bIns="0" rIns="0">
            <a:spAutoFit/>
          </a:bodyPr>
          <a:lstStyle/>
          <a:p>
            <a:pPr algn="l">
              <a:lnSpc>
                <a:spcPts val="2520"/>
              </a:lnSpc>
            </a:pPr>
            <a:r>
              <a:rPr lang="en-US" b="true" sz="1800" spc="149">
                <a:solidFill>
                  <a:srgbClr val="D6001C"/>
                </a:solidFill>
                <a:latin typeface="Open Sans Bold"/>
                <a:ea typeface="Open Sans Bold"/>
                <a:cs typeface="Open Sans Bold"/>
                <a:sym typeface="Open Sans Bold"/>
              </a:rPr>
              <a:t>2 · SERUM CHOLESTEROL (CHOL)</a:t>
            </a:r>
          </a:p>
        </p:txBody>
      </p:sp>
      <p:sp>
        <p:nvSpPr>
          <p:cNvPr name="TextBox 3" id="3"/>
          <p:cNvSpPr txBox="true"/>
          <p:nvPr/>
        </p:nvSpPr>
        <p:spPr>
          <a:xfrm rot="0">
            <a:off x="1219200" y="1663075"/>
            <a:ext cx="16325088" cy="619125"/>
          </a:xfrm>
          <a:prstGeom prst="rect">
            <a:avLst/>
          </a:prstGeom>
        </p:spPr>
        <p:txBody>
          <a:bodyPr anchor="t" rtlCol="false" tIns="0" lIns="0" bIns="0" rIns="0">
            <a:spAutoFit/>
          </a:bodyPr>
          <a:lstStyle/>
          <a:p>
            <a:pPr algn="l">
              <a:lnSpc>
                <a:spcPts val="4950"/>
              </a:lnSpc>
            </a:pPr>
            <a:r>
              <a:rPr lang="en-US" sz="4500" b="true">
                <a:solidFill>
                  <a:srgbClr val="111111"/>
                </a:solidFill>
                <a:latin typeface="Open Sans Bold"/>
                <a:ea typeface="Open Sans Bold"/>
                <a:cs typeface="Open Sans Bold"/>
                <a:sym typeface="Open Sans Bold"/>
              </a:rPr>
              <a:t>Consistent direction, small difference</a:t>
            </a:r>
          </a:p>
        </p:txBody>
      </p:sp>
      <p:sp>
        <p:nvSpPr>
          <p:cNvPr name="TextBox 4" id="4"/>
          <p:cNvSpPr txBox="true"/>
          <p:nvPr/>
        </p:nvSpPr>
        <p:spPr>
          <a:xfrm rot="0">
            <a:off x="1219200" y="2587000"/>
            <a:ext cx="16325088" cy="50292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Mean difference in cholesterol (Diseased − Not Diseased) at each hospital with data:</a:t>
            </a:r>
          </a:p>
        </p:txBody>
      </p:sp>
      <p:grpSp>
        <p:nvGrpSpPr>
          <p:cNvPr name="Group 5" id="5"/>
          <p:cNvGrpSpPr/>
          <p:nvPr/>
        </p:nvGrpSpPr>
        <p:grpSpPr>
          <a:xfrm rot="0">
            <a:off x="1219200" y="3432810"/>
            <a:ext cx="5079921" cy="2049780"/>
            <a:chOff x="0" y="0"/>
            <a:chExt cx="6773228" cy="2733040"/>
          </a:xfrm>
        </p:grpSpPr>
        <p:sp>
          <p:nvSpPr>
            <p:cNvPr name="Freeform 6" id="6"/>
            <p:cNvSpPr/>
            <p:nvPr/>
          </p:nvSpPr>
          <p:spPr>
            <a:xfrm flipH="false" flipV="false" rot="0">
              <a:off x="0" y="0"/>
              <a:ext cx="6773164" cy="2733040"/>
            </a:xfrm>
            <a:custGeom>
              <a:avLst/>
              <a:gdLst/>
              <a:ahLst/>
              <a:cxnLst/>
              <a:rect r="r" b="b" t="t" l="l"/>
              <a:pathLst>
                <a:path h="2733040" w="6773164">
                  <a:moveTo>
                    <a:pt x="0" y="192278"/>
                  </a:moveTo>
                  <a:cubicBezTo>
                    <a:pt x="0" y="86106"/>
                    <a:pt x="86106" y="0"/>
                    <a:pt x="192278" y="0"/>
                  </a:cubicBezTo>
                  <a:lnTo>
                    <a:pt x="6580886" y="0"/>
                  </a:lnTo>
                  <a:cubicBezTo>
                    <a:pt x="6687058" y="0"/>
                    <a:pt x="6773164" y="86106"/>
                    <a:pt x="6773164" y="192278"/>
                  </a:cubicBezTo>
                  <a:lnTo>
                    <a:pt x="6773164" y="2540762"/>
                  </a:lnTo>
                  <a:cubicBezTo>
                    <a:pt x="6773164" y="2646934"/>
                    <a:pt x="6687058" y="2733040"/>
                    <a:pt x="6580886" y="2733040"/>
                  </a:cubicBezTo>
                  <a:lnTo>
                    <a:pt x="192278" y="2733040"/>
                  </a:lnTo>
                  <a:cubicBezTo>
                    <a:pt x="86106" y="2733040"/>
                    <a:pt x="0" y="2646934"/>
                    <a:pt x="0" y="2540762"/>
                  </a:cubicBezTo>
                  <a:close/>
                </a:path>
              </a:pathLst>
            </a:custGeom>
            <a:solidFill>
              <a:srgbClr val="FFFFFF"/>
            </a:solidFill>
            <a:ln w="19050" cap="sq">
              <a:solidFill>
                <a:srgbClr val="CFCFCF"/>
              </a:solidFill>
              <a:prstDash val="solid"/>
              <a:miter/>
            </a:ln>
          </p:spPr>
        </p:sp>
      </p:grpSp>
      <p:sp>
        <p:nvSpPr>
          <p:cNvPr name="TextBox 7" id="7"/>
          <p:cNvSpPr txBox="true"/>
          <p:nvPr/>
        </p:nvSpPr>
        <p:spPr>
          <a:xfrm rot="0">
            <a:off x="1615440" y="3876675"/>
            <a:ext cx="4416066" cy="744855"/>
          </a:xfrm>
          <a:prstGeom prst="rect">
            <a:avLst/>
          </a:prstGeom>
        </p:spPr>
        <p:txBody>
          <a:bodyPr anchor="t" rtlCol="false" tIns="0" lIns="0" bIns="0" rIns="0">
            <a:spAutoFit/>
          </a:bodyPr>
          <a:lstStyle/>
          <a:p>
            <a:pPr algn="l">
              <a:lnSpc>
                <a:spcPts val="5940"/>
              </a:lnSpc>
            </a:pPr>
            <a:r>
              <a:rPr lang="en-US" sz="5400" b="true">
                <a:solidFill>
                  <a:srgbClr val="D6001C"/>
                </a:solidFill>
                <a:latin typeface="Open Sans Bold"/>
                <a:ea typeface="Open Sans Bold"/>
                <a:cs typeface="Open Sans Bold"/>
                <a:sym typeface="Open Sans Bold"/>
              </a:rPr>
              <a:t>+9.5</a:t>
            </a:r>
          </a:p>
        </p:txBody>
      </p:sp>
      <p:sp>
        <p:nvSpPr>
          <p:cNvPr name="TextBox 8" id="8"/>
          <p:cNvSpPr txBox="true"/>
          <p:nvPr/>
        </p:nvSpPr>
        <p:spPr>
          <a:xfrm rot="0">
            <a:off x="1615440" y="4621530"/>
            <a:ext cx="4416066" cy="50292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Cleveland (mg/dl)</a:t>
            </a:r>
          </a:p>
        </p:txBody>
      </p:sp>
      <p:grpSp>
        <p:nvGrpSpPr>
          <p:cNvPr name="Group 9" id="9"/>
          <p:cNvGrpSpPr/>
          <p:nvPr/>
        </p:nvGrpSpPr>
        <p:grpSpPr>
          <a:xfrm rot="0">
            <a:off x="6603921" y="3432810"/>
            <a:ext cx="5080035" cy="2049780"/>
            <a:chOff x="0" y="0"/>
            <a:chExt cx="6773380" cy="2733040"/>
          </a:xfrm>
        </p:grpSpPr>
        <p:sp>
          <p:nvSpPr>
            <p:cNvPr name="Freeform 10" id="10"/>
            <p:cNvSpPr/>
            <p:nvPr/>
          </p:nvSpPr>
          <p:spPr>
            <a:xfrm flipH="false" flipV="false" rot="0">
              <a:off x="0" y="0"/>
              <a:ext cx="6773418" cy="2733040"/>
            </a:xfrm>
            <a:custGeom>
              <a:avLst/>
              <a:gdLst/>
              <a:ahLst/>
              <a:cxnLst/>
              <a:rect r="r" b="b" t="t" l="l"/>
              <a:pathLst>
                <a:path h="2733040" w="6773418">
                  <a:moveTo>
                    <a:pt x="0" y="192278"/>
                  </a:moveTo>
                  <a:cubicBezTo>
                    <a:pt x="0" y="86106"/>
                    <a:pt x="86106" y="0"/>
                    <a:pt x="192278" y="0"/>
                  </a:cubicBezTo>
                  <a:lnTo>
                    <a:pt x="6581140" y="0"/>
                  </a:lnTo>
                  <a:cubicBezTo>
                    <a:pt x="6687312" y="0"/>
                    <a:pt x="6773418" y="86106"/>
                    <a:pt x="6773418" y="192278"/>
                  </a:cubicBezTo>
                  <a:lnTo>
                    <a:pt x="6773418" y="2540762"/>
                  </a:lnTo>
                  <a:cubicBezTo>
                    <a:pt x="6773418" y="2646934"/>
                    <a:pt x="6687312" y="2733040"/>
                    <a:pt x="6581140" y="2733040"/>
                  </a:cubicBezTo>
                  <a:lnTo>
                    <a:pt x="192278" y="2733040"/>
                  </a:lnTo>
                  <a:cubicBezTo>
                    <a:pt x="86106" y="2733040"/>
                    <a:pt x="0" y="2646934"/>
                    <a:pt x="0" y="2540762"/>
                  </a:cubicBezTo>
                  <a:close/>
                </a:path>
              </a:pathLst>
            </a:custGeom>
            <a:solidFill>
              <a:srgbClr val="FFFFFF"/>
            </a:solidFill>
            <a:ln w="19050" cap="sq">
              <a:solidFill>
                <a:srgbClr val="CFCFCF"/>
              </a:solidFill>
              <a:prstDash val="solid"/>
              <a:miter/>
            </a:ln>
          </p:spPr>
        </p:sp>
      </p:grpSp>
      <p:sp>
        <p:nvSpPr>
          <p:cNvPr name="TextBox 11" id="11"/>
          <p:cNvSpPr txBox="true"/>
          <p:nvPr/>
        </p:nvSpPr>
        <p:spPr>
          <a:xfrm rot="0">
            <a:off x="7000161" y="3876675"/>
            <a:ext cx="4416190" cy="744855"/>
          </a:xfrm>
          <a:prstGeom prst="rect">
            <a:avLst/>
          </a:prstGeom>
        </p:spPr>
        <p:txBody>
          <a:bodyPr anchor="t" rtlCol="false" tIns="0" lIns="0" bIns="0" rIns="0">
            <a:spAutoFit/>
          </a:bodyPr>
          <a:lstStyle/>
          <a:p>
            <a:pPr algn="l">
              <a:lnSpc>
                <a:spcPts val="5940"/>
              </a:lnSpc>
            </a:pPr>
            <a:r>
              <a:rPr lang="en-US" sz="5400" b="true">
                <a:solidFill>
                  <a:srgbClr val="D6001C"/>
                </a:solidFill>
                <a:latin typeface="Open Sans Bold"/>
                <a:ea typeface="Open Sans Bold"/>
                <a:cs typeface="Open Sans Bold"/>
                <a:sym typeface="Open Sans Bold"/>
              </a:rPr>
              <a:t>+28.6</a:t>
            </a:r>
          </a:p>
        </p:txBody>
      </p:sp>
      <p:sp>
        <p:nvSpPr>
          <p:cNvPr name="TextBox 12" id="12"/>
          <p:cNvSpPr txBox="true"/>
          <p:nvPr/>
        </p:nvSpPr>
        <p:spPr>
          <a:xfrm rot="0">
            <a:off x="7000161" y="4621530"/>
            <a:ext cx="4416190" cy="50292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Hungary (mg/dl)</a:t>
            </a:r>
          </a:p>
        </p:txBody>
      </p:sp>
      <p:grpSp>
        <p:nvGrpSpPr>
          <p:cNvPr name="Group 13" id="13"/>
          <p:cNvGrpSpPr/>
          <p:nvPr/>
        </p:nvGrpSpPr>
        <p:grpSpPr>
          <a:xfrm rot="0">
            <a:off x="11988765" y="3432810"/>
            <a:ext cx="5080035" cy="2049780"/>
            <a:chOff x="0" y="0"/>
            <a:chExt cx="6773380" cy="2733040"/>
          </a:xfrm>
        </p:grpSpPr>
        <p:sp>
          <p:nvSpPr>
            <p:cNvPr name="Freeform 14" id="14"/>
            <p:cNvSpPr/>
            <p:nvPr/>
          </p:nvSpPr>
          <p:spPr>
            <a:xfrm flipH="false" flipV="false" rot="0">
              <a:off x="0" y="0"/>
              <a:ext cx="6773418" cy="2733040"/>
            </a:xfrm>
            <a:custGeom>
              <a:avLst/>
              <a:gdLst/>
              <a:ahLst/>
              <a:cxnLst/>
              <a:rect r="r" b="b" t="t" l="l"/>
              <a:pathLst>
                <a:path h="2733040" w="6773418">
                  <a:moveTo>
                    <a:pt x="0" y="192278"/>
                  </a:moveTo>
                  <a:cubicBezTo>
                    <a:pt x="0" y="86106"/>
                    <a:pt x="86106" y="0"/>
                    <a:pt x="192278" y="0"/>
                  </a:cubicBezTo>
                  <a:lnTo>
                    <a:pt x="6581140" y="0"/>
                  </a:lnTo>
                  <a:cubicBezTo>
                    <a:pt x="6687312" y="0"/>
                    <a:pt x="6773418" y="86106"/>
                    <a:pt x="6773418" y="192278"/>
                  </a:cubicBezTo>
                  <a:lnTo>
                    <a:pt x="6773418" y="2540762"/>
                  </a:lnTo>
                  <a:cubicBezTo>
                    <a:pt x="6773418" y="2646934"/>
                    <a:pt x="6687312" y="2733040"/>
                    <a:pt x="6581140" y="2733040"/>
                  </a:cubicBezTo>
                  <a:lnTo>
                    <a:pt x="192278" y="2733040"/>
                  </a:lnTo>
                  <a:cubicBezTo>
                    <a:pt x="86106" y="2733040"/>
                    <a:pt x="0" y="2646934"/>
                    <a:pt x="0" y="2540762"/>
                  </a:cubicBezTo>
                  <a:close/>
                </a:path>
              </a:pathLst>
            </a:custGeom>
            <a:solidFill>
              <a:srgbClr val="FFFFFF"/>
            </a:solidFill>
            <a:ln w="19050" cap="sq">
              <a:solidFill>
                <a:srgbClr val="CFCFCF"/>
              </a:solidFill>
              <a:prstDash val="solid"/>
              <a:miter/>
            </a:ln>
          </p:spPr>
        </p:sp>
      </p:grpSp>
      <p:sp>
        <p:nvSpPr>
          <p:cNvPr name="TextBox 15" id="15"/>
          <p:cNvSpPr txBox="true"/>
          <p:nvPr/>
        </p:nvSpPr>
        <p:spPr>
          <a:xfrm rot="0">
            <a:off x="12385005" y="3876675"/>
            <a:ext cx="4416190" cy="744855"/>
          </a:xfrm>
          <a:prstGeom prst="rect">
            <a:avLst/>
          </a:prstGeom>
        </p:spPr>
        <p:txBody>
          <a:bodyPr anchor="t" rtlCol="false" tIns="0" lIns="0" bIns="0" rIns="0">
            <a:spAutoFit/>
          </a:bodyPr>
          <a:lstStyle/>
          <a:p>
            <a:pPr algn="l">
              <a:lnSpc>
                <a:spcPts val="5940"/>
              </a:lnSpc>
            </a:pPr>
            <a:r>
              <a:rPr lang="en-US" sz="5400" b="true">
                <a:solidFill>
                  <a:srgbClr val="D6001C"/>
                </a:solidFill>
                <a:latin typeface="Open Sans Bold"/>
                <a:ea typeface="Open Sans Bold"/>
                <a:cs typeface="Open Sans Bold"/>
                <a:sym typeface="Open Sans Bold"/>
              </a:rPr>
              <a:t>+12.5</a:t>
            </a:r>
          </a:p>
        </p:txBody>
      </p:sp>
      <p:sp>
        <p:nvSpPr>
          <p:cNvPr name="TextBox 16" id="16"/>
          <p:cNvSpPr txBox="true"/>
          <p:nvPr/>
        </p:nvSpPr>
        <p:spPr>
          <a:xfrm rot="0">
            <a:off x="12385005" y="4621530"/>
            <a:ext cx="4416190" cy="50292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VA Long Beach (mg/dl)</a:t>
            </a:r>
          </a:p>
        </p:txBody>
      </p:sp>
      <p:grpSp>
        <p:nvGrpSpPr>
          <p:cNvPr name="Group 17" id="17"/>
          <p:cNvGrpSpPr/>
          <p:nvPr/>
        </p:nvGrpSpPr>
        <p:grpSpPr>
          <a:xfrm rot="0">
            <a:off x="1219200" y="5863600"/>
            <a:ext cx="15849600" cy="1691640"/>
            <a:chOff x="0" y="0"/>
            <a:chExt cx="21132800" cy="2255520"/>
          </a:xfrm>
        </p:grpSpPr>
        <p:sp>
          <p:nvSpPr>
            <p:cNvPr name="Freeform 18" id="18"/>
            <p:cNvSpPr/>
            <p:nvPr/>
          </p:nvSpPr>
          <p:spPr>
            <a:xfrm flipH="false" flipV="false" rot="0">
              <a:off x="0" y="0"/>
              <a:ext cx="21132800" cy="2255520"/>
            </a:xfrm>
            <a:custGeom>
              <a:avLst/>
              <a:gdLst/>
              <a:ahLst/>
              <a:cxnLst/>
              <a:rect r="r" b="b" t="t" l="l"/>
              <a:pathLst>
                <a:path h="2255520" w="21132800">
                  <a:moveTo>
                    <a:pt x="0" y="203200"/>
                  </a:moveTo>
                  <a:cubicBezTo>
                    <a:pt x="0" y="90932"/>
                    <a:pt x="90932" y="0"/>
                    <a:pt x="203200" y="0"/>
                  </a:cubicBezTo>
                  <a:lnTo>
                    <a:pt x="20929600" y="0"/>
                  </a:lnTo>
                  <a:cubicBezTo>
                    <a:pt x="21041868" y="0"/>
                    <a:pt x="21132800" y="90932"/>
                    <a:pt x="21132800" y="203200"/>
                  </a:cubicBezTo>
                  <a:lnTo>
                    <a:pt x="21132800" y="2052320"/>
                  </a:lnTo>
                  <a:cubicBezTo>
                    <a:pt x="21132800" y="2164588"/>
                    <a:pt x="21041868" y="2255520"/>
                    <a:pt x="20929600" y="2255520"/>
                  </a:cubicBezTo>
                  <a:lnTo>
                    <a:pt x="203200" y="2255520"/>
                  </a:lnTo>
                  <a:cubicBezTo>
                    <a:pt x="90932" y="2255520"/>
                    <a:pt x="0" y="2164588"/>
                    <a:pt x="0" y="2052320"/>
                  </a:cubicBezTo>
                  <a:close/>
                </a:path>
              </a:pathLst>
            </a:custGeom>
            <a:solidFill>
              <a:srgbClr val="111111"/>
            </a:solidFill>
          </p:spPr>
        </p:sp>
      </p:grpSp>
      <p:sp>
        <p:nvSpPr>
          <p:cNvPr name="TextBox 19" id="19"/>
          <p:cNvSpPr txBox="true"/>
          <p:nvPr/>
        </p:nvSpPr>
        <p:spPr>
          <a:xfrm rot="0">
            <a:off x="1600200" y="6206500"/>
            <a:ext cx="15540228" cy="502920"/>
          </a:xfrm>
          <a:prstGeom prst="rect">
            <a:avLst/>
          </a:prstGeom>
        </p:spPr>
        <p:txBody>
          <a:bodyPr anchor="t" rtlCol="false" tIns="0" lIns="0" bIns="0" rIns="0">
            <a:spAutoFit/>
          </a:bodyPr>
          <a:lstStyle/>
          <a:p>
            <a:pPr algn="l">
              <a:lnSpc>
                <a:spcPts val="3359"/>
              </a:lnSpc>
            </a:pPr>
            <a:r>
              <a:rPr lang="en-US" sz="2400" b="true">
                <a:solidFill>
                  <a:srgbClr val="FFCD00"/>
                </a:solidFill>
                <a:latin typeface="Open Sans Bold"/>
                <a:ea typeface="Open Sans Bold"/>
                <a:cs typeface="Open Sans Bold"/>
                <a:sym typeface="Open Sans Bold"/>
              </a:rPr>
              <a:t>A weak screening marker on its own</a:t>
            </a:r>
          </a:p>
        </p:txBody>
      </p:sp>
      <p:sp>
        <p:nvSpPr>
          <p:cNvPr name="TextBox 20" id="20"/>
          <p:cNvSpPr txBox="true"/>
          <p:nvPr/>
        </p:nvSpPr>
        <p:spPr>
          <a:xfrm rot="0">
            <a:off x="1600200" y="6709410"/>
            <a:ext cx="15540228" cy="502920"/>
          </a:xfrm>
          <a:prstGeom prst="rect">
            <a:avLst/>
          </a:prstGeom>
        </p:spPr>
        <p:txBody>
          <a:bodyPr anchor="t" rtlCol="false" tIns="0" lIns="0" bIns="0" rIns="0">
            <a:spAutoFit/>
          </a:bodyPr>
          <a:lstStyle/>
          <a:p>
            <a:pPr algn="l">
              <a:lnSpc>
                <a:spcPts val="3359"/>
              </a:lnSpc>
            </a:pPr>
            <a:r>
              <a:rPr lang="en-US" sz="2400">
                <a:solidFill>
                  <a:srgbClr val="FFFFFF"/>
                </a:solidFill>
                <a:latin typeface="Open Sans"/>
                <a:ea typeface="Open Sans"/>
                <a:cs typeface="Open Sans"/>
                <a:sym typeface="Open Sans"/>
              </a:rPr>
              <a:t>The gap is small next to standard deviations of about 56 to 61 mg/dl, so the groups overlap heavily.</a:t>
            </a:r>
          </a:p>
        </p:txBody>
      </p:sp>
      <p:sp>
        <p:nvSpPr>
          <p:cNvPr name="TextBox 21" id="21"/>
          <p:cNvSpPr txBox="true"/>
          <p:nvPr/>
        </p:nvSpPr>
        <p:spPr>
          <a:xfrm rot="0">
            <a:off x="1219200" y="9328785"/>
            <a:ext cx="11772900" cy="386715"/>
          </a:xfrm>
          <a:prstGeom prst="rect">
            <a:avLst/>
          </a:prstGeom>
        </p:spPr>
        <p:txBody>
          <a:bodyPr anchor="t" rtlCol="false" tIns="0" lIns="0" bIns="0" rIns="0">
            <a:spAutoFit/>
          </a:bodyPr>
          <a:lstStyle/>
          <a:p>
            <a:pPr algn="l">
              <a:lnSpc>
                <a:spcPts val="2520"/>
              </a:lnSpc>
            </a:pPr>
            <a:r>
              <a:rPr lang="en-US" sz="1800">
                <a:solidFill>
                  <a:srgbClr val="4D4D4D"/>
                </a:solidFill>
                <a:latin typeface="Open Sans"/>
                <a:ea typeface="Open Sans"/>
                <a:cs typeface="Open Sans"/>
                <a:sym typeface="Open Sans"/>
              </a:rPr>
              <a:t>DATA 602 · Detecting Heart Disease</a:t>
            </a:r>
          </a:p>
        </p:txBody>
      </p:sp>
      <p:sp>
        <p:nvSpPr>
          <p:cNvPr name="TextBox 22" id="22"/>
          <p:cNvSpPr txBox="true"/>
          <p:nvPr/>
        </p:nvSpPr>
        <p:spPr>
          <a:xfrm rot="0">
            <a:off x="15087600" y="9328785"/>
            <a:ext cx="1981200" cy="386715"/>
          </a:xfrm>
          <a:prstGeom prst="rect">
            <a:avLst/>
          </a:prstGeom>
        </p:spPr>
        <p:txBody>
          <a:bodyPr anchor="t" rtlCol="false" tIns="0" lIns="0" bIns="0" rIns="0">
            <a:spAutoFit/>
          </a:bodyPr>
          <a:lstStyle/>
          <a:p>
            <a:pPr algn="r">
              <a:lnSpc>
                <a:spcPts val="2520"/>
              </a:lnSpc>
            </a:pPr>
            <a:r>
              <a:rPr lang="en-US" sz="1800">
                <a:solidFill>
                  <a:srgbClr val="4D4D4D"/>
                </a:solidFill>
                <a:latin typeface="Open Sans"/>
                <a:ea typeface="Open Sans"/>
                <a:cs typeface="Open Sans"/>
                <a:sym typeface="Open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19200" y="1190625"/>
            <a:ext cx="16325088" cy="386715"/>
          </a:xfrm>
          <a:prstGeom prst="rect">
            <a:avLst/>
          </a:prstGeom>
        </p:spPr>
        <p:txBody>
          <a:bodyPr anchor="t" rtlCol="false" tIns="0" lIns="0" bIns="0" rIns="0">
            <a:spAutoFit/>
          </a:bodyPr>
          <a:lstStyle/>
          <a:p>
            <a:pPr algn="l">
              <a:lnSpc>
                <a:spcPts val="2520"/>
              </a:lnSpc>
            </a:pPr>
            <a:r>
              <a:rPr lang="en-US" b="true" sz="1800" spc="149">
                <a:solidFill>
                  <a:srgbClr val="D6001C"/>
                </a:solidFill>
                <a:latin typeface="Open Sans Bold"/>
                <a:ea typeface="Open Sans Bold"/>
                <a:cs typeface="Open Sans Bold"/>
                <a:sym typeface="Open Sans Bold"/>
              </a:rPr>
              <a:t>3 · EXERCISE-INDUCED ANGINA (EXANG)</a:t>
            </a:r>
          </a:p>
        </p:txBody>
      </p:sp>
      <p:sp>
        <p:nvSpPr>
          <p:cNvPr name="TextBox 3" id="3"/>
          <p:cNvSpPr txBox="true"/>
          <p:nvPr/>
        </p:nvSpPr>
        <p:spPr>
          <a:xfrm rot="0">
            <a:off x="1219200" y="1663075"/>
            <a:ext cx="16325088" cy="619125"/>
          </a:xfrm>
          <a:prstGeom prst="rect">
            <a:avLst/>
          </a:prstGeom>
        </p:spPr>
        <p:txBody>
          <a:bodyPr anchor="t" rtlCol="false" tIns="0" lIns="0" bIns="0" rIns="0">
            <a:spAutoFit/>
          </a:bodyPr>
          <a:lstStyle/>
          <a:p>
            <a:pPr algn="l">
              <a:lnSpc>
                <a:spcPts val="4950"/>
              </a:lnSpc>
            </a:pPr>
            <a:r>
              <a:rPr lang="en-US" sz="4500" b="true">
                <a:solidFill>
                  <a:srgbClr val="111111"/>
                </a:solidFill>
                <a:latin typeface="Open Sans Bold"/>
                <a:ea typeface="Open Sans Bold"/>
                <a:cs typeface="Open Sans Bold"/>
                <a:sym typeface="Open Sans Bold"/>
              </a:rPr>
              <a:t>Angina is far more common with disease</a:t>
            </a:r>
          </a:p>
        </p:txBody>
      </p:sp>
      <p:grpSp>
        <p:nvGrpSpPr>
          <p:cNvPr name="Group 4" id="4"/>
          <p:cNvGrpSpPr/>
          <p:nvPr/>
        </p:nvGrpSpPr>
        <p:grpSpPr>
          <a:xfrm rot="0">
            <a:off x="1219200" y="2587000"/>
            <a:ext cx="8572500" cy="5286375"/>
            <a:chOff x="0" y="0"/>
            <a:chExt cx="11430000" cy="7048500"/>
          </a:xfrm>
        </p:grpSpPr>
        <p:sp>
          <p:nvSpPr>
            <p:cNvPr name="Freeform 5" id="5"/>
            <p:cNvSpPr/>
            <p:nvPr/>
          </p:nvSpPr>
          <p:spPr>
            <a:xfrm flipH="false" flipV="false" rot="0">
              <a:off x="0" y="0"/>
              <a:ext cx="11430000" cy="7048500"/>
            </a:xfrm>
            <a:custGeom>
              <a:avLst/>
              <a:gdLst/>
              <a:ahLst/>
              <a:cxnLst/>
              <a:rect r="r" b="b" t="t" l="l"/>
              <a:pathLst>
                <a:path h="7048500" w="11430000">
                  <a:moveTo>
                    <a:pt x="0" y="152400"/>
                  </a:moveTo>
                  <a:cubicBezTo>
                    <a:pt x="0" y="68199"/>
                    <a:pt x="68199" y="0"/>
                    <a:pt x="152400" y="0"/>
                  </a:cubicBezTo>
                  <a:lnTo>
                    <a:pt x="11277600" y="0"/>
                  </a:lnTo>
                  <a:cubicBezTo>
                    <a:pt x="11361801" y="0"/>
                    <a:pt x="11430000" y="68199"/>
                    <a:pt x="11430000" y="152400"/>
                  </a:cubicBezTo>
                  <a:lnTo>
                    <a:pt x="11430000" y="6896100"/>
                  </a:lnTo>
                  <a:cubicBezTo>
                    <a:pt x="11430000" y="6980301"/>
                    <a:pt x="11361801" y="7048500"/>
                    <a:pt x="11277600" y="7048500"/>
                  </a:cubicBezTo>
                  <a:lnTo>
                    <a:pt x="152400" y="7048500"/>
                  </a:lnTo>
                  <a:cubicBezTo>
                    <a:pt x="68199" y="7048500"/>
                    <a:pt x="0" y="6980301"/>
                    <a:pt x="0" y="6896100"/>
                  </a:cubicBezTo>
                  <a:close/>
                </a:path>
              </a:pathLst>
            </a:custGeom>
            <a:solidFill>
              <a:srgbClr val="FFFFFF"/>
            </a:solidFill>
          </p:spPr>
        </p:sp>
      </p:grpSp>
      <p:grpSp>
        <p:nvGrpSpPr>
          <p:cNvPr name="Group 6" id="6"/>
          <p:cNvGrpSpPr/>
          <p:nvPr/>
        </p:nvGrpSpPr>
        <p:grpSpPr>
          <a:xfrm rot="0">
            <a:off x="1238250" y="2606050"/>
            <a:ext cx="8534400" cy="5248275"/>
            <a:chOff x="0" y="0"/>
            <a:chExt cx="11379200" cy="6997700"/>
          </a:xfrm>
        </p:grpSpPr>
        <p:sp>
          <p:nvSpPr>
            <p:cNvPr name="Freeform 7" id="7" descr="Stacked bar chart of the percentage of patients with and without exercise-induced angina, by disease status"/>
            <p:cNvSpPr/>
            <p:nvPr/>
          </p:nvSpPr>
          <p:spPr>
            <a:xfrm flipH="false" flipV="false" rot="0">
              <a:off x="0" y="0"/>
              <a:ext cx="11379200" cy="6997700"/>
            </a:xfrm>
            <a:custGeom>
              <a:avLst/>
              <a:gdLst/>
              <a:ahLst/>
              <a:cxnLst/>
              <a:rect r="r" b="b" t="t" l="l"/>
              <a:pathLst>
                <a:path h="6997700" w="11379200">
                  <a:moveTo>
                    <a:pt x="0" y="0"/>
                  </a:moveTo>
                  <a:lnTo>
                    <a:pt x="11379200" y="0"/>
                  </a:lnTo>
                  <a:lnTo>
                    <a:pt x="11379200" y="6997700"/>
                  </a:lnTo>
                  <a:lnTo>
                    <a:pt x="0" y="6997700"/>
                  </a:lnTo>
                  <a:lnTo>
                    <a:pt x="0" y="0"/>
                  </a:lnTo>
                  <a:close/>
                </a:path>
              </a:pathLst>
            </a:custGeom>
            <a:blipFill>
              <a:blip r:embed="rId3"/>
              <a:stretch>
                <a:fillRect l="127" t="0" r="127" b="0"/>
              </a:stretch>
            </a:blipFill>
          </p:spPr>
        </p:sp>
      </p:grpSp>
      <p:grpSp>
        <p:nvGrpSpPr>
          <p:cNvPr name="Group 8" id="8"/>
          <p:cNvGrpSpPr/>
          <p:nvPr/>
        </p:nvGrpSpPr>
        <p:grpSpPr>
          <a:xfrm rot="0">
            <a:off x="1219200" y="2587000"/>
            <a:ext cx="8572500" cy="5286375"/>
            <a:chOff x="0" y="0"/>
            <a:chExt cx="11430000" cy="7048500"/>
          </a:xfrm>
        </p:grpSpPr>
        <p:sp>
          <p:nvSpPr>
            <p:cNvPr name="Freeform 9" id="9"/>
            <p:cNvSpPr/>
            <p:nvPr/>
          </p:nvSpPr>
          <p:spPr>
            <a:xfrm flipH="false" flipV="false" rot="0">
              <a:off x="0" y="0"/>
              <a:ext cx="11430000" cy="7048500"/>
            </a:xfrm>
            <a:custGeom>
              <a:avLst/>
              <a:gdLst/>
              <a:ahLst/>
              <a:cxnLst/>
              <a:rect r="r" b="b" t="t" l="l"/>
              <a:pathLst>
                <a:path h="7048500" w="11430000">
                  <a:moveTo>
                    <a:pt x="0" y="140208"/>
                  </a:moveTo>
                  <a:cubicBezTo>
                    <a:pt x="0" y="62738"/>
                    <a:pt x="62738" y="0"/>
                    <a:pt x="140208" y="0"/>
                  </a:cubicBezTo>
                  <a:lnTo>
                    <a:pt x="11289792" y="0"/>
                  </a:lnTo>
                  <a:cubicBezTo>
                    <a:pt x="11367262" y="0"/>
                    <a:pt x="11430000" y="62738"/>
                    <a:pt x="11430000" y="140208"/>
                  </a:cubicBezTo>
                  <a:lnTo>
                    <a:pt x="11430000" y="6908292"/>
                  </a:lnTo>
                  <a:cubicBezTo>
                    <a:pt x="11430000" y="6985762"/>
                    <a:pt x="11367262" y="7048500"/>
                    <a:pt x="11289792" y="7048500"/>
                  </a:cubicBezTo>
                  <a:lnTo>
                    <a:pt x="140208" y="7048500"/>
                  </a:lnTo>
                  <a:cubicBezTo>
                    <a:pt x="62738" y="7048500"/>
                    <a:pt x="0" y="6985762"/>
                    <a:pt x="0" y="6908292"/>
                  </a:cubicBezTo>
                  <a:close/>
                </a:path>
              </a:pathLst>
            </a:custGeom>
            <a:blipFill>
              <a:blip r:embed="rId4">
                <a:alphaModFix amt="0"/>
              </a:blip>
              <a:stretch>
                <a:fillRect l="-29120" t="0" r="-29120" b="0"/>
              </a:stretch>
            </a:blipFill>
            <a:ln w="19050" cap="sq">
              <a:solidFill>
                <a:srgbClr val="CFCFCF"/>
              </a:solidFill>
              <a:prstDash val="solid"/>
              <a:miter/>
            </a:ln>
          </p:spPr>
        </p:sp>
      </p:grpSp>
      <p:grpSp>
        <p:nvGrpSpPr>
          <p:cNvPr name="Group 10" id="10"/>
          <p:cNvGrpSpPr/>
          <p:nvPr/>
        </p:nvGrpSpPr>
        <p:grpSpPr>
          <a:xfrm rot="0">
            <a:off x="10248900" y="2587000"/>
            <a:ext cx="6819900" cy="1783080"/>
            <a:chOff x="0" y="0"/>
            <a:chExt cx="9093200" cy="2377440"/>
          </a:xfrm>
        </p:grpSpPr>
        <p:sp>
          <p:nvSpPr>
            <p:cNvPr name="Freeform 11" id="11"/>
            <p:cNvSpPr/>
            <p:nvPr/>
          </p:nvSpPr>
          <p:spPr>
            <a:xfrm flipH="false" flipV="false" rot="0">
              <a:off x="0" y="0"/>
              <a:ext cx="9093200" cy="2377440"/>
            </a:xfrm>
            <a:custGeom>
              <a:avLst/>
              <a:gdLst/>
              <a:ahLst/>
              <a:cxnLst/>
              <a:rect r="r" b="b" t="t" l="l"/>
              <a:pathLst>
                <a:path h="2377440" w="9093200">
                  <a:moveTo>
                    <a:pt x="0" y="192532"/>
                  </a:moveTo>
                  <a:cubicBezTo>
                    <a:pt x="0" y="86233"/>
                    <a:pt x="86233" y="0"/>
                    <a:pt x="192532" y="0"/>
                  </a:cubicBezTo>
                  <a:lnTo>
                    <a:pt x="8900668" y="0"/>
                  </a:lnTo>
                  <a:cubicBezTo>
                    <a:pt x="9006967" y="0"/>
                    <a:pt x="9093200" y="86233"/>
                    <a:pt x="9093200" y="192532"/>
                  </a:cubicBezTo>
                  <a:lnTo>
                    <a:pt x="9093200" y="2184908"/>
                  </a:lnTo>
                  <a:cubicBezTo>
                    <a:pt x="9093200" y="2291207"/>
                    <a:pt x="9006967" y="2377440"/>
                    <a:pt x="8900668" y="2377440"/>
                  </a:cubicBezTo>
                  <a:lnTo>
                    <a:pt x="192532" y="2377440"/>
                  </a:lnTo>
                  <a:cubicBezTo>
                    <a:pt x="86233" y="2377440"/>
                    <a:pt x="0" y="2291207"/>
                    <a:pt x="0" y="2184908"/>
                  </a:cubicBezTo>
                  <a:close/>
                </a:path>
              </a:pathLst>
            </a:custGeom>
            <a:solidFill>
              <a:srgbClr val="FFFFFF"/>
            </a:solidFill>
            <a:ln w="19050" cap="sq">
              <a:solidFill>
                <a:srgbClr val="CFCFCF"/>
              </a:solidFill>
              <a:prstDash val="solid"/>
              <a:miter/>
            </a:ln>
          </p:spPr>
        </p:sp>
      </p:grpSp>
      <p:sp>
        <p:nvSpPr>
          <p:cNvPr name="TextBox 12" id="12"/>
          <p:cNvSpPr txBox="true"/>
          <p:nvPr/>
        </p:nvSpPr>
        <p:spPr>
          <a:xfrm rot="0">
            <a:off x="10530840" y="2916555"/>
            <a:ext cx="6443701" cy="744855"/>
          </a:xfrm>
          <a:prstGeom prst="rect">
            <a:avLst/>
          </a:prstGeom>
        </p:spPr>
        <p:txBody>
          <a:bodyPr anchor="t" rtlCol="false" tIns="0" lIns="0" bIns="0" rIns="0">
            <a:spAutoFit/>
          </a:bodyPr>
          <a:lstStyle/>
          <a:p>
            <a:pPr algn="l">
              <a:lnSpc>
                <a:spcPts val="5940"/>
              </a:lnSpc>
            </a:pPr>
            <a:r>
              <a:rPr lang="en-US" sz="5400" b="true">
                <a:solidFill>
                  <a:srgbClr val="D6001C"/>
                </a:solidFill>
                <a:latin typeface="Open Sans Bold"/>
                <a:ea typeface="Open Sans Bold"/>
                <a:cs typeface="Open Sans Bold"/>
                <a:sym typeface="Open Sans Bold"/>
              </a:rPr>
              <a:t>282 of 474</a:t>
            </a:r>
          </a:p>
        </p:txBody>
      </p:sp>
      <p:sp>
        <p:nvSpPr>
          <p:cNvPr name="TextBox 13" id="13"/>
          <p:cNvSpPr txBox="true"/>
          <p:nvPr/>
        </p:nvSpPr>
        <p:spPr>
          <a:xfrm rot="0">
            <a:off x="10530840" y="3623310"/>
            <a:ext cx="6443701" cy="50292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Diseased patients with angina (59.5%)</a:t>
            </a:r>
          </a:p>
        </p:txBody>
      </p:sp>
      <p:grpSp>
        <p:nvGrpSpPr>
          <p:cNvPr name="Group 14" id="14"/>
          <p:cNvGrpSpPr/>
          <p:nvPr/>
        </p:nvGrpSpPr>
        <p:grpSpPr>
          <a:xfrm rot="0">
            <a:off x="10248900" y="4560570"/>
            <a:ext cx="6819900" cy="1783080"/>
            <a:chOff x="0" y="0"/>
            <a:chExt cx="9093200" cy="2377440"/>
          </a:xfrm>
        </p:grpSpPr>
        <p:sp>
          <p:nvSpPr>
            <p:cNvPr name="Freeform 15" id="15"/>
            <p:cNvSpPr/>
            <p:nvPr/>
          </p:nvSpPr>
          <p:spPr>
            <a:xfrm flipH="false" flipV="false" rot="0">
              <a:off x="0" y="0"/>
              <a:ext cx="9093200" cy="2377440"/>
            </a:xfrm>
            <a:custGeom>
              <a:avLst/>
              <a:gdLst/>
              <a:ahLst/>
              <a:cxnLst/>
              <a:rect r="r" b="b" t="t" l="l"/>
              <a:pathLst>
                <a:path h="2377440" w="9093200">
                  <a:moveTo>
                    <a:pt x="0" y="192532"/>
                  </a:moveTo>
                  <a:cubicBezTo>
                    <a:pt x="0" y="86233"/>
                    <a:pt x="86233" y="0"/>
                    <a:pt x="192532" y="0"/>
                  </a:cubicBezTo>
                  <a:lnTo>
                    <a:pt x="8900668" y="0"/>
                  </a:lnTo>
                  <a:cubicBezTo>
                    <a:pt x="9006967" y="0"/>
                    <a:pt x="9093200" y="86233"/>
                    <a:pt x="9093200" y="192532"/>
                  </a:cubicBezTo>
                  <a:lnTo>
                    <a:pt x="9093200" y="2184908"/>
                  </a:lnTo>
                  <a:cubicBezTo>
                    <a:pt x="9093200" y="2291207"/>
                    <a:pt x="9006967" y="2377440"/>
                    <a:pt x="8900668" y="2377440"/>
                  </a:cubicBezTo>
                  <a:lnTo>
                    <a:pt x="192532" y="2377440"/>
                  </a:lnTo>
                  <a:cubicBezTo>
                    <a:pt x="86233" y="2377440"/>
                    <a:pt x="0" y="2291207"/>
                    <a:pt x="0" y="2184908"/>
                  </a:cubicBezTo>
                  <a:close/>
                </a:path>
              </a:pathLst>
            </a:custGeom>
            <a:solidFill>
              <a:srgbClr val="FFFFFF"/>
            </a:solidFill>
            <a:ln w="19050" cap="sq">
              <a:solidFill>
                <a:srgbClr val="CFCFCF"/>
              </a:solidFill>
              <a:prstDash val="solid"/>
              <a:miter/>
            </a:ln>
          </p:spPr>
        </p:sp>
      </p:grpSp>
      <p:sp>
        <p:nvSpPr>
          <p:cNvPr name="TextBox 16" id="16"/>
          <p:cNvSpPr txBox="true"/>
          <p:nvPr/>
        </p:nvSpPr>
        <p:spPr>
          <a:xfrm rot="0">
            <a:off x="10530840" y="4890135"/>
            <a:ext cx="6443701" cy="744855"/>
          </a:xfrm>
          <a:prstGeom prst="rect">
            <a:avLst/>
          </a:prstGeom>
        </p:spPr>
        <p:txBody>
          <a:bodyPr anchor="t" rtlCol="false" tIns="0" lIns="0" bIns="0" rIns="0">
            <a:spAutoFit/>
          </a:bodyPr>
          <a:lstStyle/>
          <a:p>
            <a:pPr algn="l">
              <a:lnSpc>
                <a:spcPts val="5940"/>
              </a:lnSpc>
            </a:pPr>
            <a:r>
              <a:rPr lang="en-US" sz="5400" b="true">
                <a:solidFill>
                  <a:srgbClr val="111111"/>
                </a:solidFill>
                <a:latin typeface="Open Sans Bold"/>
                <a:ea typeface="Open Sans Bold"/>
                <a:cs typeface="Open Sans Bold"/>
                <a:sym typeface="Open Sans Bold"/>
              </a:rPr>
              <a:t>55 of 391</a:t>
            </a:r>
          </a:p>
        </p:txBody>
      </p:sp>
      <p:sp>
        <p:nvSpPr>
          <p:cNvPr name="TextBox 17" id="17"/>
          <p:cNvSpPr txBox="true"/>
          <p:nvPr/>
        </p:nvSpPr>
        <p:spPr>
          <a:xfrm rot="0">
            <a:off x="10530840" y="5596900"/>
            <a:ext cx="6443701" cy="50292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Not diseased patients with angina (14.1%)</a:t>
            </a:r>
          </a:p>
        </p:txBody>
      </p:sp>
      <p:sp>
        <p:nvSpPr>
          <p:cNvPr name="TextBox 18" id="18"/>
          <p:cNvSpPr txBox="true"/>
          <p:nvPr/>
        </p:nvSpPr>
        <p:spPr>
          <a:xfrm rot="0">
            <a:off x="10248900" y="6496050"/>
            <a:ext cx="7024497" cy="1470660"/>
          </a:xfrm>
          <a:prstGeom prst="rect">
            <a:avLst/>
          </a:prstGeom>
        </p:spPr>
        <p:txBody>
          <a:bodyPr anchor="t" rtlCol="false" tIns="0" lIns="0" bIns="0" rIns="0">
            <a:spAutoFit/>
          </a:bodyPr>
          <a:lstStyle/>
          <a:p>
            <a:pPr algn="l">
              <a:lnSpc>
                <a:spcPts val="2940"/>
              </a:lnSpc>
            </a:pPr>
            <a:r>
              <a:rPr lang="en-US" sz="2100">
                <a:solidFill>
                  <a:srgbClr val="333333"/>
                </a:solidFill>
                <a:latin typeface="Open Sans"/>
                <a:ea typeface="Open Sans"/>
                <a:cs typeface="Open Sans"/>
                <a:sym typeface="Open Sans"/>
              </a:rPr>
              <a:t>Every group has at least 10</a:t>
            </a:r>
            <a:r>
              <a:rPr lang="en-US" sz="2100">
                <a:solidFill>
                  <a:srgbClr val="333333"/>
                </a:solidFill>
                <a:latin typeface="Open Sans"/>
                <a:ea typeface="Open Sans"/>
                <a:cs typeface="Open Sans"/>
                <a:sym typeface="Open Sans"/>
              </a:rPr>
              <a:t> patients with and without angina (282, 192, 55, 336), so the two-proportion test applies. 55 patients had no exang value, 53 of them from VA Long Beach.</a:t>
            </a:r>
          </a:p>
        </p:txBody>
      </p:sp>
      <p:sp>
        <p:nvSpPr>
          <p:cNvPr name="TextBox 19" id="19"/>
          <p:cNvSpPr txBox="true"/>
          <p:nvPr/>
        </p:nvSpPr>
        <p:spPr>
          <a:xfrm rot="0">
            <a:off x="1219200" y="9328785"/>
            <a:ext cx="11772900" cy="386715"/>
          </a:xfrm>
          <a:prstGeom prst="rect">
            <a:avLst/>
          </a:prstGeom>
        </p:spPr>
        <p:txBody>
          <a:bodyPr anchor="t" rtlCol="false" tIns="0" lIns="0" bIns="0" rIns="0">
            <a:spAutoFit/>
          </a:bodyPr>
          <a:lstStyle/>
          <a:p>
            <a:pPr algn="l">
              <a:lnSpc>
                <a:spcPts val="2520"/>
              </a:lnSpc>
            </a:pPr>
            <a:r>
              <a:rPr lang="en-US" sz="1800">
                <a:solidFill>
                  <a:srgbClr val="4D4D4D"/>
                </a:solidFill>
                <a:latin typeface="Open Sans"/>
                <a:ea typeface="Open Sans"/>
                <a:cs typeface="Open Sans"/>
                <a:sym typeface="Open Sans"/>
              </a:rPr>
              <a:t>DATA 602 · Detecting Heart Disease</a:t>
            </a:r>
          </a:p>
        </p:txBody>
      </p:sp>
      <p:sp>
        <p:nvSpPr>
          <p:cNvPr name="TextBox 20" id="20"/>
          <p:cNvSpPr txBox="true"/>
          <p:nvPr/>
        </p:nvSpPr>
        <p:spPr>
          <a:xfrm rot="0">
            <a:off x="15087600" y="9328785"/>
            <a:ext cx="1981200" cy="386715"/>
          </a:xfrm>
          <a:prstGeom prst="rect">
            <a:avLst/>
          </a:prstGeom>
        </p:spPr>
        <p:txBody>
          <a:bodyPr anchor="t" rtlCol="false" tIns="0" lIns="0" bIns="0" rIns="0">
            <a:spAutoFit/>
          </a:bodyPr>
          <a:lstStyle/>
          <a:p>
            <a:pPr algn="r">
              <a:lnSpc>
                <a:spcPts val="2520"/>
              </a:lnSpc>
            </a:pPr>
            <a:r>
              <a:rPr lang="en-US" sz="1800">
                <a:solidFill>
                  <a:srgbClr val="4D4D4D"/>
                </a:solidFill>
                <a:latin typeface="Open Sans"/>
                <a:ea typeface="Open Sans"/>
                <a:cs typeface="Open Sans"/>
                <a:sym typeface="Open San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sp>
        <p:nvSpPr>
          <p:cNvPr name="TextBox 2" id="2"/>
          <p:cNvSpPr txBox="true"/>
          <p:nvPr/>
        </p:nvSpPr>
        <p:spPr>
          <a:xfrm rot="0">
            <a:off x="1219200" y="1190625"/>
            <a:ext cx="16325088" cy="386715"/>
          </a:xfrm>
          <a:prstGeom prst="rect">
            <a:avLst/>
          </a:prstGeom>
        </p:spPr>
        <p:txBody>
          <a:bodyPr anchor="t" rtlCol="false" tIns="0" lIns="0" bIns="0" rIns="0">
            <a:spAutoFit/>
          </a:bodyPr>
          <a:lstStyle/>
          <a:p>
            <a:pPr algn="l">
              <a:lnSpc>
                <a:spcPts val="2520"/>
              </a:lnSpc>
            </a:pPr>
            <a:r>
              <a:rPr lang="en-US" b="true" sz="1800" spc="149">
                <a:solidFill>
                  <a:srgbClr val="D6001C"/>
                </a:solidFill>
                <a:latin typeface="Open Sans Bold"/>
                <a:ea typeface="Open Sans Bold"/>
                <a:cs typeface="Open Sans Bold"/>
                <a:sym typeface="Open Sans Bold"/>
              </a:rPr>
              <a:t>3 · EXERCISE-INDUCED ANGINA (EXANG)</a:t>
            </a:r>
          </a:p>
        </p:txBody>
      </p:sp>
      <p:sp>
        <p:nvSpPr>
          <p:cNvPr name="TextBox 3" id="3"/>
          <p:cNvSpPr txBox="true"/>
          <p:nvPr/>
        </p:nvSpPr>
        <p:spPr>
          <a:xfrm rot="0">
            <a:off x="1219200" y="1663075"/>
            <a:ext cx="16325088" cy="619125"/>
          </a:xfrm>
          <a:prstGeom prst="rect">
            <a:avLst/>
          </a:prstGeom>
        </p:spPr>
        <p:txBody>
          <a:bodyPr anchor="t" rtlCol="false" tIns="0" lIns="0" bIns="0" rIns="0">
            <a:spAutoFit/>
          </a:bodyPr>
          <a:lstStyle/>
          <a:p>
            <a:pPr algn="l">
              <a:lnSpc>
                <a:spcPts val="4950"/>
              </a:lnSpc>
            </a:pPr>
            <a:r>
              <a:rPr lang="en-US" sz="4500" b="true">
                <a:solidFill>
                  <a:srgbClr val="111111"/>
                </a:solidFill>
                <a:latin typeface="Open Sans Bold"/>
                <a:ea typeface="Open Sans Bold"/>
                <a:cs typeface="Open Sans Bold"/>
                <a:sym typeface="Open Sans Bold"/>
              </a:rPr>
              <a:t>Angina about four times as often</a:t>
            </a:r>
          </a:p>
        </p:txBody>
      </p:sp>
      <p:sp>
        <p:nvSpPr>
          <p:cNvPr name="TextBox 4" id="4"/>
          <p:cNvSpPr txBox="true"/>
          <p:nvPr/>
        </p:nvSpPr>
        <p:spPr>
          <a:xfrm rot="0">
            <a:off x="1219200" y="2510800"/>
            <a:ext cx="11700034" cy="495300"/>
          </a:xfrm>
          <a:prstGeom prst="rect">
            <a:avLst/>
          </a:prstGeom>
        </p:spPr>
        <p:txBody>
          <a:bodyPr anchor="t" rtlCol="false" tIns="0" lIns="0" bIns="0" rIns="0">
            <a:spAutoFit/>
          </a:bodyPr>
          <a:lstStyle/>
          <a:p>
            <a:pPr algn="l">
              <a:lnSpc>
                <a:spcPts val="3960"/>
              </a:lnSpc>
            </a:pPr>
            <a:r>
              <a:rPr lang="en-US" sz="3300">
                <a:solidFill>
                  <a:srgbClr val="111111"/>
                </a:solidFill>
                <a:latin typeface="Open Sans"/>
                <a:ea typeface="Open Sans"/>
                <a:cs typeface="Open Sans"/>
                <a:sym typeface="Open Sans"/>
              </a:rPr>
              <a:t>59.5% versus 14.1%: a difference of +45.4 percentage points</a:t>
            </a:r>
          </a:p>
        </p:txBody>
      </p:sp>
      <p:sp>
        <p:nvSpPr>
          <p:cNvPr name="TextBox 5" id="5"/>
          <p:cNvSpPr txBox="true"/>
          <p:nvPr/>
        </p:nvSpPr>
        <p:spPr>
          <a:xfrm rot="0">
            <a:off x="1219200" y="3196600"/>
            <a:ext cx="16325088" cy="39624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H₀: p₁ = p₂ vs Hₐ: p₁ ≠ p₂. </a:t>
            </a:r>
            <a:r>
              <a:rPr lang="en-US" sz="2400">
                <a:solidFill>
                  <a:srgbClr val="333333"/>
                </a:solidFill>
                <a:latin typeface="Open Sans"/>
                <a:ea typeface="Open Sans"/>
                <a:cs typeface="Open Sans"/>
                <a:sym typeface="Open Sans"/>
              </a:rPr>
              <a:t>X² = 185.93, df = 1 (z = 13.64), p &lt; 0.001. We reject H₀.</a:t>
            </a:r>
          </a:p>
        </p:txBody>
      </p:sp>
      <p:sp>
        <p:nvSpPr>
          <p:cNvPr name="TextBox 6" id="6"/>
          <p:cNvSpPr txBox="true"/>
          <p:nvPr/>
        </p:nvSpPr>
        <p:spPr>
          <a:xfrm rot="0">
            <a:off x="1219200" y="3670942"/>
            <a:ext cx="16325088" cy="349250"/>
          </a:xfrm>
          <a:prstGeom prst="rect">
            <a:avLst/>
          </a:prstGeom>
        </p:spPr>
        <p:txBody>
          <a:bodyPr anchor="t" rtlCol="false" tIns="0" lIns="0" bIns="0" rIns="0">
            <a:spAutoFit/>
          </a:bodyPr>
          <a:lstStyle/>
          <a:p>
            <a:pPr algn="l">
              <a:lnSpc>
                <a:spcPts val="2800"/>
              </a:lnSpc>
            </a:pPr>
            <a:r>
              <a:rPr lang="en-US" sz="2000">
                <a:solidFill>
                  <a:srgbClr val="333333"/>
                </a:solidFill>
                <a:latin typeface="Open Sans"/>
                <a:ea typeface="Open Sans"/>
                <a:cs typeface="Open Sans"/>
                <a:sym typeface="Open Sans"/>
              </a:rPr>
              <a:t>p₁ = Diseased, p₂= Non Diseased</a:t>
            </a:r>
          </a:p>
        </p:txBody>
      </p:sp>
      <p:grpSp>
        <p:nvGrpSpPr>
          <p:cNvPr name="Group 7" id="7"/>
          <p:cNvGrpSpPr/>
          <p:nvPr/>
        </p:nvGrpSpPr>
        <p:grpSpPr>
          <a:xfrm rot="0">
            <a:off x="1219200" y="4202435"/>
            <a:ext cx="6858000" cy="4229100"/>
            <a:chOff x="0" y="0"/>
            <a:chExt cx="9144000" cy="5638800"/>
          </a:xfrm>
        </p:grpSpPr>
        <p:sp>
          <p:nvSpPr>
            <p:cNvPr name="Freeform 8" id="8"/>
            <p:cNvSpPr/>
            <p:nvPr/>
          </p:nvSpPr>
          <p:spPr>
            <a:xfrm flipH="false" flipV="false" rot="0">
              <a:off x="0" y="0"/>
              <a:ext cx="9144000" cy="5638800"/>
            </a:xfrm>
            <a:custGeom>
              <a:avLst/>
              <a:gdLst/>
              <a:ahLst/>
              <a:cxnLst/>
              <a:rect r="r" b="b" t="t" l="l"/>
              <a:pathLst>
                <a:path h="5638800" w="9144000">
                  <a:moveTo>
                    <a:pt x="0" y="152400"/>
                  </a:moveTo>
                  <a:cubicBezTo>
                    <a:pt x="0" y="68199"/>
                    <a:pt x="68199" y="0"/>
                    <a:pt x="152400" y="0"/>
                  </a:cubicBezTo>
                  <a:lnTo>
                    <a:pt x="8991600" y="0"/>
                  </a:lnTo>
                  <a:cubicBezTo>
                    <a:pt x="9075801" y="0"/>
                    <a:pt x="9144000" y="68199"/>
                    <a:pt x="9144000" y="152400"/>
                  </a:cubicBezTo>
                  <a:lnTo>
                    <a:pt x="9144000" y="5486400"/>
                  </a:lnTo>
                  <a:cubicBezTo>
                    <a:pt x="9144000" y="5570601"/>
                    <a:pt x="9075801" y="5638800"/>
                    <a:pt x="8991600" y="5638800"/>
                  </a:cubicBezTo>
                  <a:lnTo>
                    <a:pt x="152400" y="5638800"/>
                  </a:lnTo>
                  <a:cubicBezTo>
                    <a:pt x="68199" y="5638800"/>
                    <a:pt x="0" y="5570601"/>
                    <a:pt x="0" y="5486400"/>
                  </a:cubicBezTo>
                  <a:close/>
                </a:path>
              </a:pathLst>
            </a:custGeom>
            <a:solidFill>
              <a:srgbClr val="FFFFFF"/>
            </a:solidFill>
          </p:spPr>
        </p:sp>
      </p:grpSp>
      <p:grpSp>
        <p:nvGrpSpPr>
          <p:cNvPr name="Group 9" id="9"/>
          <p:cNvGrpSpPr/>
          <p:nvPr/>
        </p:nvGrpSpPr>
        <p:grpSpPr>
          <a:xfrm rot="0">
            <a:off x="1238250" y="4221485"/>
            <a:ext cx="6819900" cy="4191000"/>
            <a:chOff x="0" y="0"/>
            <a:chExt cx="9093200" cy="5588000"/>
          </a:xfrm>
        </p:grpSpPr>
        <p:sp>
          <p:nvSpPr>
            <p:cNvPr name="Freeform 10" id="10" descr="Bootstrap distribution of the difference in angina proportions with the 95% interval marked by dashed lines"/>
            <p:cNvSpPr/>
            <p:nvPr/>
          </p:nvSpPr>
          <p:spPr>
            <a:xfrm flipH="false" flipV="false" rot="0">
              <a:off x="0" y="0"/>
              <a:ext cx="9093200" cy="5588000"/>
            </a:xfrm>
            <a:custGeom>
              <a:avLst/>
              <a:gdLst/>
              <a:ahLst/>
              <a:cxnLst/>
              <a:rect r="r" b="b" t="t" l="l"/>
              <a:pathLst>
                <a:path h="5588000" w="9093200">
                  <a:moveTo>
                    <a:pt x="0" y="0"/>
                  </a:moveTo>
                  <a:lnTo>
                    <a:pt x="9093200" y="0"/>
                  </a:lnTo>
                  <a:lnTo>
                    <a:pt x="9093200" y="5588000"/>
                  </a:lnTo>
                  <a:lnTo>
                    <a:pt x="0" y="5588000"/>
                  </a:lnTo>
                  <a:lnTo>
                    <a:pt x="0" y="0"/>
                  </a:lnTo>
                  <a:close/>
                </a:path>
              </a:pathLst>
            </a:custGeom>
            <a:blipFill>
              <a:blip r:embed="rId3"/>
              <a:stretch>
                <a:fillRect l="219" t="0" r="220" b="0"/>
              </a:stretch>
            </a:blipFill>
          </p:spPr>
        </p:sp>
      </p:grpSp>
      <p:grpSp>
        <p:nvGrpSpPr>
          <p:cNvPr name="Group 11" id="11"/>
          <p:cNvGrpSpPr/>
          <p:nvPr/>
        </p:nvGrpSpPr>
        <p:grpSpPr>
          <a:xfrm rot="0">
            <a:off x="1219200" y="4202435"/>
            <a:ext cx="6858000" cy="4229100"/>
            <a:chOff x="0" y="0"/>
            <a:chExt cx="9144000" cy="5638800"/>
          </a:xfrm>
        </p:grpSpPr>
        <p:sp>
          <p:nvSpPr>
            <p:cNvPr name="Freeform 12" id="12"/>
            <p:cNvSpPr/>
            <p:nvPr/>
          </p:nvSpPr>
          <p:spPr>
            <a:xfrm flipH="false" flipV="false" rot="0">
              <a:off x="0" y="0"/>
              <a:ext cx="9144000" cy="5638800"/>
            </a:xfrm>
            <a:custGeom>
              <a:avLst/>
              <a:gdLst/>
              <a:ahLst/>
              <a:cxnLst/>
              <a:rect r="r" b="b" t="t" l="l"/>
              <a:pathLst>
                <a:path h="5638800" w="9144000">
                  <a:moveTo>
                    <a:pt x="0" y="140335"/>
                  </a:moveTo>
                  <a:cubicBezTo>
                    <a:pt x="0" y="62865"/>
                    <a:pt x="62865" y="0"/>
                    <a:pt x="140335" y="0"/>
                  </a:cubicBezTo>
                  <a:lnTo>
                    <a:pt x="9003665" y="0"/>
                  </a:lnTo>
                  <a:cubicBezTo>
                    <a:pt x="9081135" y="0"/>
                    <a:pt x="9144000" y="62865"/>
                    <a:pt x="9144000" y="140335"/>
                  </a:cubicBezTo>
                  <a:lnTo>
                    <a:pt x="9144000" y="5498465"/>
                  </a:lnTo>
                  <a:cubicBezTo>
                    <a:pt x="9144000" y="5575935"/>
                    <a:pt x="9081135" y="5638800"/>
                    <a:pt x="9003665" y="5638800"/>
                  </a:cubicBezTo>
                  <a:lnTo>
                    <a:pt x="140335" y="5638800"/>
                  </a:lnTo>
                  <a:cubicBezTo>
                    <a:pt x="62865" y="5638800"/>
                    <a:pt x="0" y="5575935"/>
                    <a:pt x="0" y="5498465"/>
                  </a:cubicBezTo>
                  <a:close/>
                </a:path>
              </a:pathLst>
            </a:custGeom>
            <a:blipFill>
              <a:blip r:embed="rId4">
                <a:alphaModFix amt="0"/>
              </a:blip>
              <a:stretch>
                <a:fillRect l="-29120" t="0" r="-29120" b="0"/>
              </a:stretch>
            </a:blipFill>
            <a:ln w="19050" cap="sq">
              <a:solidFill>
                <a:srgbClr val="CFCFCF"/>
              </a:solidFill>
              <a:prstDash val="solid"/>
              <a:miter/>
            </a:ln>
          </p:spPr>
        </p:sp>
      </p:grpSp>
      <p:sp>
        <p:nvSpPr>
          <p:cNvPr name="TextBox 13" id="13"/>
          <p:cNvSpPr txBox="true"/>
          <p:nvPr/>
        </p:nvSpPr>
        <p:spPr>
          <a:xfrm rot="0">
            <a:off x="1219200" y="8469635"/>
            <a:ext cx="7063740" cy="449580"/>
          </a:xfrm>
          <a:prstGeom prst="rect">
            <a:avLst/>
          </a:prstGeom>
        </p:spPr>
        <p:txBody>
          <a:bodyPr anchor="t" rtlCol="false" tIns="0" lIns="0" bIns="0" rIns="0">
            <a:spAutoFit/>
          </a:bodyPr>
          <a:lstStyle/>
          <a:p>
            <a:pPr algn="l">
              <a:lnSpc>
                <a:spcPts val="2940"/>
              </a:lnSpc>
            </a:pPr>
            <a:r>
              <a:rPr lang="en-US" sz="2100">
                <a:solidFill>
                  <a:srgbClr val="333333"/>
                </a:solidFill>
                <a:latin typeface="Open Sans"/>
                <a:ea typeface="Open Sans"/>
                <a:cs typeface="Open Sans"/>
                <a:sym typeface="Open Sans"/>
              </a:rPr>
              <a:t>Bootstrap interval: 39.7 to 51.1 points</a:t>
            </a:r>
          </a:p>
        </p:txBody>
      </p:sp>
      <p:grpSp>
        <p:nvGrpSpPr>
          <p:cNvPr name="Group 14" id="14"/>
          <p:cNvGrpSpPr/>
          <p:nvPr/>
        </p:nvGrpSpPr>
        <p:grpSpPr>
          <a:xfrm rot="0">
            <a:off x="10210800" y="4202435"/>
            <a:ext cx="6858000" cy="4229100"/>
            <a:chOff x="0" y="0"/>
            <a:chExt cx="9144000" cy="5638800"/>
          </a:xfrm>
        </p:grpSpPr>
        <p:sp>
          <p:nvSpPr>
            <p:cNvPr name="Freeform 15" id="15"/>
            <p:cNvSpPr/>
            <p:nvPr/>
          </p:nvSpPr>
          <p:spPr>
            <a:xfrm flipH="false" flipV="false" rot="0">
              <a:off x="0" y="0"/>
              <a:ext cx="9144000" cy="5638800"/>
            </a:xfrm>
            <a:custGeom>
              <a:avLst/>
              <a:gdLst/>
              <a:ahLst/>
              <a:cxnLst/>
              <a:rect r="r" b="b" t="t" l="l"/>
              <a:pathLst>
                <a:path h="5638800" w="9144000">
                  <a:moveTo>
                    <a:pt x="0" y="152400"/>
                  </a:moveTo>
                  <a:cubicBezTo>
                    <a:pt x="0" y="68199"/>
                    <a:pt x="68199" y="0"/>
                    <a:pt x="152400" y="0"/>
                  </a:cubicBezTo>
                  <a:lnTo>
                    <a:pt x="8991600" y="0"/>
                  </a:lnTo>
                  <a:cubicBezTo>
                    <a:pt x="9075801" y="0"/>
                    <a:pt x="9144000" y="68199"/>
                    <a:pt x="9144000" y="152400"/>
                  </a:cubicBezTo>
                  <a:lnTo>
                    <a:pt x="9144000" y="5486400"/>
                  </a:lnTo>
                  <a:cubicBezTo>
                    <a:pt x="9144000" y="5570601"/>
                    <a:pt x="9075801" y="5638800"/>
                    <a:pt x="8991600" y="5638800"/>
                  </a:cubicBezTo>
                  <a:lnTo>
                    <a:pt x="152400" y="5638800"/>
                  </a:lnTo>
                  <a:cubicBezTo>
                    <a:pt x="68199" y="5638800"/>
                    <a:pt x="0" y="5570601"/>
                    <a:pt x="0" y="5486400"/>
                  </a:cubicBezTo>
                  <a:close/>
                </a:path>
              </a:pathLst>
            </a:custGeom>
            <a:solidFill>
              <a:srgbClr val="FFFFFF"/>
            </a:solidFill>
          </p:spPr>
        </p:sp>
      </p:grpSp>
      <p:grpSp>
        <p:nvGrpSpPr>
          <p:cNvPr name="Group 16" id="16"/>
          <p:cNvGrpSpPr/>
          <p:nvPr/>
        </p:nvGrpSpPr>
        <p:grpSpPr>
          <a:xfrm rot="0">
            <a:off x="10229850" y="4221485"/>
            <a:ext cx="6819900" cy="4191000"/>
            <a:chOff x="0" y="0"/>
            <a:chExt cx="9093200" cy="5588000"/>
          </a:xfrm>
        </p:grpSpPr>
        <p:sp>
          <p:nvSpPr>
            <p:cNvPr name="Freeform 17" id="17" descr="Dot-and-whisker plot comparing the prop.test and bootstrap 95% intervals for the difference in angina proportions"/>
            <p:cNvSpPr/>
            <p:nvPr/>
          </p:nvSpPr>
          <p:spPr>
            <a:xfrm flipH="false" flipV="false" rot="0">
              <a:off x="0" y="0"/>
              <a:ext cx="9093200" cy="5588000"/>
            </a:xfrm>
            <a:custGeom>
              <a:avLst/>
              <a:gdLst/>
              <a:ahLst/>
              <a:cxnLst/>
              <a:rect r="r" b="b" t="t" l="l"/>
              <a:pathLst>
                <a:path h="5588000" w="9093200">
                  <a:moveTo>
                    <a:pt x="0" y="0"/>
                  </a:moveTo>
                  <a:lnTo>
                    <a:pt x="9093200" y="0"/>
                  </a:lnTo>
                  <a:lnTo>
                    <a:pt x="9093200" y="5588000"/>
                  </a:lnTo>
                  <a:lnTo>
                    <a:pt x="0" y="5588000"/>
                  </a:lnTo>
                  <a:lnTo>
                    <a:pt x="0" y="0"/>
                  </a:lnTo>
                  <a:close/>
                </a:path>
              </a:pathLst>
            </a:custGeom>
            <a:blipFill>
              <a:blip r:embed="rId5"/>
              <a:stretch>
                <a:fillRect l="0" t="22" r="0" b="22"/>
              </a:stretch>
            </a:blipFill>
          </p:spPr>
        </p:sp>
      </p:grpSp>
      <p:grpSp>
        <p:nvGrpSpPr>
          <p:cNvPr name="Group 18" id="18"/>
          <p:cNvGrpSpPr/>
          <p:nvPr/>
        </p:nvGrpSpPr>
        <p:grpSpPr>
          <a:xfrm rot="0">
            <a:off x="10210800" y="4202435"/>
            <a:ext cx="6858000" cy="4229100"/>
            <a:chOff x="0" y="0"/>
            <a:chExt cx="9144000" cy="5638800"/>
          </a:xfrm>
        </p:grpSpPr>
        <p:sp>
          <p:nvSpPr>
            <p:cNvPr name="Freeform 19" id="19"/>
            <p:cNvSpPr/>
            <p:nvPr/>
          </p:nvSpPr>
          <p:spPr>
            <a:xfrm flipH="false" flipV="false" rot="0">
              <a:off x="0" y="0"/>
              <a:ext cx="9144000" cy="5638800"/>
            </a:xfrm>
            <a:custGeom>
              <a:avLst/>
              <a:gdLst/>
              <a:ahLst/>
              <a:cxnLst/>
              <a:rect r="r" b="b" t="t" l="l"/>
              <a:pathLst>
                <a:path h="5638800" w="9144000">
                  <a:moveTo>
                    <a:pt x="0" y="140335"/>
                  </a:moveTo>
                  <a:cubicBezTo>
                    <a:pt x="0" y="62865"/>
                    <a:pt x="62865" y="0"/>
                    <a:pt x="140335" y="0"/>
                  </a:cubicBezTo>
                  <a:lnTo>
                    <a:pt x="9003665" y="0"/>
                  </a:lnTo>
                  <a:cubicBezTo>
                    <a:pt x="9081135" y="0"/>
                    <a:pt x="9144000" y="62865"/>
                    <a:pt x="9144000" y="140335"/>
                  </a:cubicBezTo>
                  <a:lnTo>
                    <a:pt x="9144000" y="5498465"/>
                  </a:lnTo>
                  <a:cubicBezTo>
                    <a:pt x="9144000" y="5575935"/>
                    <a:pt x="9081135" y="5638800"/>
                    <a:pt x="9003665" y="5638800"/>
                  </a:cubicBezTo>
                  <a:lnTo>
                    <a:pt x="140335" y="5638800"/>
                  </a:lnTo>
                  <a:cubicBezTo>
                    <a:pt x="62865" y="5638800"/>
                    <a:pt x="0" y="5575935"/>
                    <a:pt x="0" y="5498465"/>
                  </a:cubicBezTo>
                  <a:close/>
                </a:path>
              </a:pathLst>
            </a:custGeom>
            <a:blipFill>
              <a:blip r:embed="rId4">
                <a:alphaModFix amt="0"/>
              </a:blip>
              <a:stretch>
                <a:fillRect l="-29120" t="0" r="-29120" b="0"/>
              </a:stretch>
            </a:blipFill>
            <a:ln w="19050" cap="sq">
              <a:solidFill>
                <a:srgbClr val="CFCFCF"/>
              </a:solidFill>
              <a:prstDash val="solid"/>
              <a:miter/>
            </a:ln>
          </p:spPr>
        </p:sp>
      </p:grpSp>
      <p:sp>
        <p:nvSpPr>
          <p:cNvPr name="TextBox 20" id="20"/>
          <p:cNvSpPr txBox="true"/>
          <p:nvPr/>
        </p:nvSpPr>
        <p:spPr>
          <a:xfrm rot="0">
            <a:off x="10210800" y="8469635"/>
            <a:ext cx="7063740" cy="356235"/>
          </a:xfrm>
          <a:prstGeom prst="rect">
            <a:avLst/>
          </a:prstGeom>
        </p:spPr>
        <p:txBody>
          <a:bodyPr anchor="t" rtlCol="false" tIns="0" lIns="0" bIns="0" rIns="0">
            <a:spAutoFit/>
          </a:bodyPr>
          <a:lstStyle/>
          <a:p>
            <a:pPr algn="l">
              <a:lnSpc>
                <a:spcPts val="2940"/>
              </a:lnSpc>
            </a:pPr>
            <a:r>
              <a:rPr lang="en-US" sz="2100">
                <a:solidFill>
                  <a:srgbClr val="333333"/>
                </a:solidFill>
                <a:latin typeface="Open Sans"/>
                <a:ea typeface="Open Sans"/>
                <a:cs typeface="Open Sans"/>
                <a:sym typeface="Open Sans"/>
              </a:rPr>
              <a:t>prop.test interval: 39.8 to 51.0 points</a:t>
            </a:r>
          </a:p>
        </p:txBody>
      </p:sp>
      <p:sp>
        <p:nvSpPr>
          <p:cNvPr name="TextBox 21" id="21"/>
          <p:cNvSpPr txBox="true"/>
          <p:nvPr/>
        </p:nvSpPr>
        <p:spPr>
          <a:xfrm rot="0">
            <a:off x="1219200" y="9328785"/>
            <a:ext cx="11772900" cy="386715"/>
          </a:xfrm>
          <a:prstGeom prst="rect">
            <a:avLst/>
          </a:prstGeom>
        </p:spPr>
        <p:txBody>
          <a:bodyPr anchor="t" rtlCol="false" tIns="0" lIns="0" bIns="0" rIns="0">
            <a:spAutoFit/>
          </a:bodyPr>
          <a:lstStyle/>
          <a:p>
            <a:pPr algn="l">
              <a:lnSpc>
                <a:spcPts val="2520"/>
              </a:lnSpc>
            </a:pPr>
            <a:r>
              <a:rPr lang="en-US" sz="1800">
                <a:solidFill>
                  <a:srgbClr val="4D4D4D"/>
                </a:solidFill>
                <a:latin typeface="Open Sans"/>
                <a:ea typeface="Open Sans"/>
                <a:cs typeface="Open Sans"/>
                <a:sym typeface="Open Sans"/>
              </a:rPr>
              <a:t>DATA 602 · Detecting Heart Disease</a:t>
            </a:r>
          </a:p>
        </p:txBody>
      </p:sp>
      <p:sp>
        <p:nvSpPr>
          <p:cNvPr name="TextBox 22" id="22"/>
          <p:cNvSpPr txBox="true"/>
          <p:nvPr/>
        </p:nvSpPr>
        <p:spPr>
          <a:xfrm rot="0">
            <a:off x="15087600" y="9328785"/>
            <a:ext cx="1981200" cy="386715"/>
          </a:xfrm>
          <a:prstGeom prst="rect">
            <a:avLst/>
          </a:prstGeom>
        </p:spPr>
        <p:txBody>
          <a:bodyPr anchor="t" rtlCol="false" tIns="0" lIns="0" bIns="0" rIns="0">
            <a:spAutoFit/>
          </a:bodyPr>
          <a:lstStyle/>
          <a:p>
            <a:pPr algn="r">
              <a:lnSpc>
                <a:spcPts val="2520"/>
              </a:lnSpc>
            </a:pPr>
            <a:r>
              <a:rPr lang="en-US" sz="1800">
                <a:solidFill>
                  <a:srgbClr val="4D4D4D"/>
                </a:solidFill>
                <a:latin typeface="Open Sans"/>
                <a:ea typeface="Open Sans"/>
                <a:cs typeface="Open Sans"/>
                <a:sym typeface="Open Sans"/>
              </a:rPr>
              <a:t>14</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0F0F0"/>
        </a:solidFill>
      </p:bgPr>
    </p:bg>
    <p:spTree>
      <p:nvGrpSpPr>
        <p:cNvPr id="1" name=""/>
        <p:cNvGrpSpPr/>
        <p:nvPr/>
      </p:nvGrpSpPr>
      <p:grpSpPr>
        <a:xfrm>
          <a:off x="0" y="0"/>
          <a:ext cx="0" cy="0"/>
          <a:chOff x="0" y="0"/>
          <a:chExt cx="0" cy="0"/>
        </a:xfrm>
      </p:grpSpPr>
      <p:sp>
        <p:nvSpPr>
          <p:cNvPr name="TextBox 2" id="2"/>
          <p:cNvSpPr txBox="true"/>
          <p:nvPr/>
        </p:nvSpPr>
        <p:spPr>
          <a:xfrm rot="0">
            <a:off x="1219200" y="1190625"/>
            <a:ext cx="16325088" cy="386715"/>
          </a:xfrm>
          <a:prstGeom prst="rect">
            <a:avLst/>
          </a:prstGeom>
        </p:spPr>
        <p:txBody>
          <a:bodyPr anchor="t" rtlCol="false" tIns="0" lIns="0" bIns="0" rIns="0">
            <a:spAutoFit/>
          </a:bodyPr>
          <a:lstStyle/>
          <a:p>
            <a:pPr algn="l">
              <a:lnSpc>
                <a:spcPts val="2520"/>
              </a:lnSpc>
            </a:pPr>
            <a:r>
              <a:rPr lang="en-US" b="true" sz="1800" spc="149">
                <a:solidFill>
                  <a:srgbClr val="D6001C"/>
                </a:solidFill>
                <a:latin typeface="Open Sans Bold"/>
                <a:ea typeface="Open Sans Bold"/>
                <a:cs typeface="Open Sans Bold"/>
                <a:sym typeface="Open Sans Bold"/>
              </a:rPr>
              <a:t>RESULTS AT A GLANCE</a:t>
            </a:r>
          </a:p>
        </p:txBody>
      </p:sp>
      <p:sp>
        <p:nvSpPr>
          <p:cNvPr name="TextBox 3" id="3"/>
          <p:cNvSpPr txBox="true"/>
          <p:nvPr/>
        </p:nvSpPr>
        <p:spPr>
          <a:xfrm rot="0">
            <a:off x="1219200" y="1663075"/>
            <a:ext cx="16325088" cy="619125"/>
          </a:xfrm>
          <a:prstGeom prst="rect">
            <a:avLst/>
          </a:prstGeom>
        </p:spPr>
        <p:txBody>
          <a:bodyPr anchor="t" rtlCol="false" tIns="0" lIns="0" bIns="0" rIns="0">
            <a:spAutoFit/>
          </a:bodyPr>
          <a:lstStyle/>
          <a:p>
            <a:pPr algn="l">
              <a:lnSpc>
                <a:spcPts val="4950"/>
              </a:lnSpc>
            </a:pPr>
            <a:r>
              <a:rPr lang="en-US" sz="4500" b="true">
                <a:solidFill>
                  <a:srgbClr val="111111"/>
                </a:solidFill>
                <a:latin typeface="Open Sans Bold"/>
                <a:ea typeface="Open Sans Bold"/>
                <a:cs typeface="Open Sans Bold"/>
                <a:sym typeface="Open Sans Bold"/>
              </a:rPr>
              <a:t>All three markers differ significantly</a:t>
            </a:r>
          </a:p>
        </p:txBody>
      </p:sp>
      <p:graphicFrame>
        <p:nvGraphicFramePr>
          <p:cNvPr name="Table 4" id="4"/>
          <p:cNvGraphicFramePr>
            <a:graphicFrameLocks noGrp="true"/>
          </p:cNvGraphicFramePr>
          <p:nvPr/>
        </p:nvGraphicFramePr>
        <p:xfrm>
          <a:off x="1234440" y="2640336"/>
          <a:ext cx="15773400" cy="2298700"/>
        </p:xfrm>
        <a:graphic>
          <a:graphicData uri="http://schemas.openxmlformats.org/drawingml/2006/table">
            <a:tbl>
              <a:tblPr/>
              <a:tblGrid>
                <a:gridCol w="2219527"/>
                <a:gridCol w="2531244"/>
                <a:gridCol w="2842962"/>
                <a:gridCol w="5024987"/>
                <a:gridCol w="3154680"/>
              </a:tblGrid>
              <a:tr h="571482">
                <a:tc>
                  <a:txBody>
                    <a:bodyPr anchor="t" rtlCol="false"/>
                    <a:lstStyle/>
                    <a:p>
                      <a:pPr algn="l">
                        <a:lnSpc>
                          <a:spcPts val="2940"/>
                        </a:lnSpc>
                        <a:defRPr/>
                      </a:pPr>
                      <a:r>
                        <a:rPr lang="en-US" sz="2100" b="true">
                          <a:solidFill>
                            <a:srgbClr val="FFFFFF"/>
                          </a:solidFill>
                          <a:latin typeface="Open Sans Bold"/>
                          <a:ea typeface="Open Sans Bold"/>
                          <a:cs typeface="Open Sans Bold"/>
                          <a:sym typeface="Open Sans Bold"/>
                        </a:rPr>
                        <a:t>Marker</a:t>
                      </a:r>
                      <a:endParaRPr lang="en-US" sz="1100"/>
                    </a:p>
                  </a:txBody>
                  <a:tcPr marL="62230" marR="62230" marT="62230" marB="62230" anchor="t">
                    <a:lnL cmpd="sng" algn="ctr" cap="flat" w="12700">
                      <a:solidFill>
                        <a:srgbClr val="C0C0BF"/>
                      </a:solidFill>
                      <a:prstDash val="solid"/>
                      <a:round/>
                      <a:headEnd type="none" w="med" len="med"/>
                      <a:tailEnd type="none" w="med" len="med"/>
                    </a:lnL>
                    <a:lnR cmpd="sng" algn="ctr" cap="flat" w="12700">
                      <a:solidFill>
                        <a:srgbClr val="AB041A"/>
                      </a:solidFill>
                      <a:prstDash val="solid"/>
                      <a:round/>
                      <a:headEnd type="none" w="med" len="med"/>
                      <a:tailEnd type="none" w="med" len="med"/>
                    </a:lnR>
                    <a:lnT cmpd="sng" algn="ctr" cap="flat" w="12700">
                      <a:solidFill>
                        <a:srgbClr val="C0C0BF"/>
                      </a:solidFill>
                      <a:prstDash val="solid"/>
                      <a:round/>
                      <a:headEnd type="none" w="med" len="med"/>
                      <a:tailEnd type="none" w="med" len="med"/>
                    </a:lnT>
                    <a:lnB cmpd="sng" algn="ctr" cap="flat" w="12700">
                      <a:solidFill>
                        <a:srgbClr val="AB041A"/>
                      </a:solidFill>
                      <a:prstDash val="solid"/>
                      <a:round/>
                      <a:headEnd type="none" w="med" len="med"/>
                      <a:tailEnd type="none" w="med" len="med"/>
                    </a:lnB>
                    <a:solidFill>
                      <a:srgbClr val="D6001C"/>
                    </a:solidFill>
                  </a:tcPr>
                </a:tc>
                <a:tc>
                  <a:txBody>
                    <a:bodyPr anchor="t" rtlCol="false"/>
                    <a:lstStyle/>
                    <a:p>
                      <a:pPr algn="l">
                        <a:lnSpc>
                          <a:spcPts val="2940"/>
                        </a:lnSpc>
                        <a:defRPr/>
                      </a:pPr>
                      <a:r>
                        <a:rPr lang="en-US" sz="2100" b="true">
                          <a:solidFill>
                            <a:srgbClr val="FFFFFF"/>
                          </a:solidFill>
                          <a:latin typeface="Open Sans Bold"/>
                          <a:ea typeface="Open Sans Bold"/>
                          <a:cs typeface="Open Sans Bold"/>
                          <a:sym typeface="Open Sans Bold"/>
                        </a:rPr>
                        <a:t>Diseased</a:t>
                      </a:r>
                      <a:endParaRPr lang="en-US" sz="1100"/>
                    </a:p>
                  </a:txBody>
                  <a:tcPr marL="62230" marR="62230" marT="62230" marB="62230" anchor="t">
                    <a:lnL cmpd="sng" algn="ctr" cap="flat" w="12700">
                      <a:solidFill>
                        <a:srgbClr val="AB041A"/>
                      </a:solidFill>
                      <a:prstDash val="solid"/>
                      <a:round/>
                      <a:headEnd type="none" w="med" len="med"/>
                      <a:tailEnd type="none" w="med" len="med"/>
                    </a:lnL>
                    <a:lnR cmpd="sng" algn="ctr" cap="flat" w="12700">
                      <a:solidFill>
                        <a:srgbClr val="AB041A"/>
                      </a:solidFill>
                      <a:prstDash val="solid"/>
                      <a:round/>
                      <a:headEnd type="none" w="med" len="med"/>
                      <a:tailEnd type="none" w="med" len="med"/>
                    </a:lnR>
                    <a:lnT cmpd="sng" algn="ctr" cap="flat" w="12700">
                      <a:solidFill>
                        <a:srgbClr val="C0C0BF"/>
                      </a:solidFill>
                      <a:prstDash val="solid"/>
                      <a:round/>
                      <a:headEnd type="none" w="med" len="med"/>
                      <a:tailEnd type="none" w="med" len="med"/>
                    </a:lnT>
                    <a:lnB cmpd="sng" algn="ctr" cap="flat" w="12700">
                      <a:solidFill>
                        <a:srgbClr val="AB041A"/>
                      </a:solidFill>
                      <a:prstDash val="solid"/>
                      <a:round/>
                      <a:headEnd type="none" w="med" len="med"/>
                      <a:tailEnd type="none" w="med" len="med"/>
                    </a:lnB>
                    <a:solidFill>
                      <a:srgbClr val="D6001C"/>
                    </a:solidFill>
                  </a:tcPr>
                </a:tc>
                <a:tc>
                  <a:txBody>
                    <a:bodyPr anchor="t" rtlCol="false"/>
                    <a:lstStyle/>
                    <a:p>
                      <a:pPr algn="l">
                        <a:lnSpc>
                          <a:spcPts val="2940"/>
                        </a:lnSpc>
                        <a:defRPr/>
                      </a:pPr>
                      <a:r>
                        <a:rPr lang="en-US" sz="2100" b="true">
                          <a:solidFill>
                            <a:srgbClr val="FFFFFF"/>
                          </a:solidFill>
                          <a:latin typeface="Open Sans Bold"/>
                          <a:ea typeface="Open Sans Bold"/>
                          <a:cs typeface="Open Sans Bold"/>
                          <a:sym typeface="Open Sans Bold"/>
                        </a:rPr>
                        <a:t>Not diseased</a:t>
                      </a:r>
                      <a:endParaRPr lang="en-US" sz="1100"/>
                    </a:p>
                  </a:txBody>
                  <a:tcPr marL="62230" marR="62230" marT="62230" marB="62230" anchor="t">
                    <a:lnL cmpd="sng" algn="ctr" cap="flat" w="12700">
                      <a:solidFill>
                        <a:srgbClr val="AB041A"/>
                      </a:solidFill>
                      <a:prstDash val="solid"/>
                      <a:round/>
                      <a:headEnd type="none" w="med" len="med"/>
                      <a:tailEnd type="none" w="med" len="med"/>
                    </a:lnL>
                    <a:lnR cmpd="sng" algn="ctr" cap="flat" w="12700">
                      <a:solidFill>
                        <a:srgbClr val="AB041A"/>
                      </a:solidFill>
                      <a:prstDash val="solid"/>
                      <a:round/>
                      <a:headEnd type="none" w="med" len="med"/>
                      <a:tailEnd type="none" w="med" len="med"/>
                    </a:lnR>
                    <a:lnT cmpd="sng" algn="ctr" cap="flat" w="12700">
                      <a:solidFill>
                        <a:srgbClr val="C0C0BF"/>
                      </a:solidFill>
                      <a:prstDash val="solid"/>
                      <a:round/>
                      <a:headEnd type="none" w="med" len="med"/>
                      <a:tailEnd type="none" w="med" len="med"/>
                    </a:lnT>
                    <a:lnB cmpd="sng" algn="ctr" cap="flat" w="12700">
                      <a:solidFill>
                        <a:srgbClr val="AB041A"/>
                      </a:solidFill>
                      <a:prstDash val="solid"/>
                      <a:round/>
                      <a:headEnd type="none" w="med" len="med"/>
                      <a:tailEnd type="none" w="med" len="med"/>
                    </a:lnB>
                    <a:solidFill>
                      <a:srgbClr val="D6001C"/>
                    </a:solidFill>
                  </a:tcPr>
                </a:tc>
                <a:tc>
                  <a:txBody>
                    <a:bodyPr anchor="t" rtlCol="false"/>
                    <a:lstStyle/>
                    <a:p>
                      <a:pPr algn="l">
                        <a:lnSpc>
                          <a:spcPts val="2940"/>
                        </a:lnSpc>
                        <a:defRPr/>
                      </a:pPr>
                      <a:r>
                        <a:rPr lang="en-US" sz="2100" b="true">
                          <a:solidFill>
                            <a:srgbClr val="FFFFFF"/>
                          </a:solidFill>
                          <a:latin typeface="Open Sans Bold"/>
                          <a:ea typeface="Open Sans Bold"/>
                          <a:cs typeface="Open Sans Bold"/>
                          <a:sym typeface="Open Sans Bold"/>
                        </a:rPr>
                        <a:t>Difference (95% CI)</a:t>
                      </a:r>
                      <a:endParaRPr lang="en-US" sz="1100"/>
                    </a:p>
                  </a:txBody>
                  <a:tcPr marL="62230" marR="62230" marT="62230" marB="62230" anchor="t">
                    <a:lnL cmpd="sng" algn="ctr" cap="flat" w="12700">
                      <a:solidFill>
                        <a:srgbClr val="AB041A"/>
                      </a:solidFill>
                      <a:prstDash val="solid"/>
                      <a:round/>
                      <a:headEnd type="none" w="med" len="med"/>
                      <a:tailEnd type="none" w="med" len="med"/>
                    </a:lnL>
                    <a:lnR cmpd="sng" algn="ctr" cap="flat" w="12700">
                      <a:solidFill>
                        <a:srgbClr val="AB041A"/>
                      </a:solidFill>
                      <a:prstDash val="solid"/>
                      <a:round/>
                      <a:headEnd type="none" w="med" len="med"/>
                      <a:tailEnd type="none" w="med" len="med"/>
                    </a:lnR>
                    <a:lnT cmpd="sng" algn="ctr" cap="flat" w="12700">
                      <a:solidFill>
                        <a:srgbClr val="C0C0BF"/>
                      </a:solidFill>
                      <a:prstDash val="solid"/>
                      <a:round/>
                      <a:headEnd type="none" w="med" len="med"/>
                      <a:tailEnd type="none" w="med" len="med"/>
                    </a:lnT>
                    <a:lnB cmpd="sng" algn="ctr" cap="flat" w="12700">
                      <a:solidFill>
                        <a:srgbClr val="AB041A"/>
                      </a:solidFill>
                      <a:prstDash val="solid"/>
                      <a:round/>
                      <a:headEnd type="none" w="med" len="med"/>
                      <a:tailEnd type="none" w="med" len="med"/>
                    </a:lnB>
                    <a:solidFill>
                      <a:srgbClr val="D6001C"/>
                    </a:solidFill>
                  </a:tcPr>
                </a:tc>
                <a:tc>
                  <a:txBody>
                    <a:bodyPr anchor="t" rtlCol="false"/>
                    <a:lstStyle/>
                    <a:p>
                      <a:pPr algn="l">
                        <a:lnSpc>
                          <a:spcPts val="2940"/>
                        </a:lnSpc>
                        <a:defRPr/>
                      </a:pPr>
                      <a:r>
                        <a:rPr lang="en-US" sz="2100" b="true">
                          <a:solidFill>
                            <a:srgbClr val="FFFFFF"/>
                          </a:solidFill>
                          <a:latin typeface="Open Sans Bold"/>
                          <a:ea typeface="Open Sans Bold"/>
                          <a:cs typeface="Open Sans Bold"/>
                          <a:sym typeface="Open Sans Bold"/>
                        </a:rPr>
                        <a:t>p-value</a:t>
                      </a:r>
                      <a:endParaRPr lang="en-US" sz="1100"/>
                    </a:p>
                  </a:txBody>
                  <a:tcPr marL="62230" marR="62230" marT="62230" marB="62230" anchor="t">
                    <a:lnL cmpd="sng" algn="ctr" cap="flat" w="12700">
                      <a:solidFill>
                        <a:srgbClr val="AB041A"/>
                      </a:solidFill>
                      <a:prstDash val="solid"/>
                      <a:round/>
                      <a:headEnd type="none" w="med" len="med"/>
                      <a:tailEnd type="none" w="med" len="med"/>
                    </a:lnL>
                    <a:lnR cmpd="sng" algn="ctr" cap="flat" w="12700">
                      <a:solidFill>
                        <a:srgbClr val="AB041A"/>
                      </a:solidFill>
                      <a:prstDash val="solid"/>
                      <a:round/>
                      <a:headEnd type="none" w="med" len="med"/>
                      <a:tailEnd type="none" w="med" len="med"/>
                    </a:lnR>
                    <a:lnT cmpd="sng" algn="ctr" cap="flat" w="12700">
                      <a:solidFill>
                        <a:srgbClr val="C0C0BF"/>
                      </a:solidFill>
                      <a:prstDash val="solid"/>
                      <a:round/>
                      <a:headEnd type="none" w="med" len="med"/>
                      <a:tailEnd type="none" w="med" len="med"/>
                    </a:lnT>
                    <a:lnB cmpd="sng" algn="ctr" cap="flat" w="12700">
                      <a:solidFill>
                        <a:srgbClr val="AB041A"/>
                      </a:solidFill>
                      <a:prstDash val="solid"/>
                      <a:round/>
                      <a:headEnd type="none" w="med" len="med"/>
                      <a:tailEnd type="none" w="med" len="med"/>
                    </a:lnB>
                    <a:solidFill>
                      <a:srgbClr val="D6001C"/>
                    </a:solidFill>
                  </a:tcPr>
                </a:tc>
              </a:tr>
              <a:tr h="571482">
                <a:tc>
                  <a:txBody>
                    <a:bodyPr anchor="t" rtlCol="false"/>
                    <a:lstStyle/>
                    <a:p>
                      <a:pPr algn="l">
                        <a:lnSpc>
                          <a:spcPts val="2940"/>
                        </a:lnSpc>
                        <a:defRPr/>
                      </a:pPr>
                      <a:r>
                        <a:rPr lang="en-US" sz="2100">
                          <a:solidFill>
                            <a:srgbClr val="111111"/>
                          </a:solidFill>
                          <a:latin typeface="Open Sans"/>
                          <a:ea typeface="Open Sans"/>
                          <a:cs typeface="Open Sans"/>
                          <a:sym typeface="Open Sans"/>
                        </a:rPr>
                        <a:t>thalch</a:t>
                      </a:r>
                      <a:endParaRPr lang="en-US" sz="1100"/>
                    </a:p>
                  </a:txBody>
                  <a:tcPr marL="62230" marR="62230" marT="62230" marB="62230" anchor="t">
                    <a:lnL cmpd="sng" algn="ctr" cap="flat" w="12700">
                      <a:solidFill>
                        <a:srgbClr val="C0C0BF"/>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AB041A"/>
                      </a:solidFill>
                      <a:prstDash val="solid"/>
                      <a:round/>
                      <a:headEnd type="none" w="med" len="med"/>
                      <a:tailEnd type="none" w="med" len="med"/>
                    </a:lnT>
                    <a:lnB cmpd="sng" algn="ctr" cap="flat" w="12700">
                      <a:solidFill>
                        <a:srgbClr val="CBCBCB"/>
                      </a:solidFill>
                      <a:prstDash val="solid"/>
                      <a:round/>
                      <a:headEnd type="none" w="med" len="med"/>
                      <a:tailEnd type="none" w="med" len="med"/>
                    </a:lnB>
                    <a:solidFill>
                      <a:srgbClr val="FFFFFF"/>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128.3 bpm</a:t>
                      </a:r>
                      <a:endParaRPr lang="en-US" sz="1100"/>
                    </a:p>
                  </a:txBody>
                  <a:tcPr marL="62230" marR="62230" marT="62230" marB="6223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AB041A"/>
                      </a:solidFill>
                      <a:prstDash val="solid"/>
                      <a:round/>
                      <a:headEnd type="none" w="med" len="med"/>
                      <a:tailEnd type="none" w="med" len="med"/>
                    </a:lnT>
                    <a:lnB cmpd="sng" algn="ctr" cap="flat" w="12700">
                      <a:solidFill>
                        <a:srgbClr val="CBCBCB"/>
                      </a:solidFill>
                      <a:prstDash val="solid"/>
                      <a:round/>
                      <a:headEnd type="none" w="med" len="med"/>
                      <a:tailEnd type="none" w="med" len="med"/>
                    </a:lnB>
                    <a:solidFill>
                      <a:srgbClr val="FFFFFF"/>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148.8 bpm</a:t>
                      </a:r>
                      <a:endParaRPr lang="en-US" sz="1100"/>
                    </a:p>
                  </a:txBody>
                  <a:tcPr marL="62230" marR="62230" marT="62230" marB="6223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AB041A"/>
                      </a:solidFill>
                      <a:prstDash val="solid"/>
                      <a:round/>
                      <a:headEnd type="none" w="med" len="med"/>
                      <a:tailEnd type="none" w="med" len="med"/>
                    </a:lnT>
                    <a:lnB cmpd="sng" algn="ctr" cap="flat" w="12700">
                      <a:solidFill>
                        <a:srgbClr val="CBCBCB"/>
                      </a:solidFill>
                      <a:prstDash val="solid"/>
                      <a:round/>
                      <a:headEnd type="none" w="med" len="med"/>
                      <a:tailEnd type="none" w="med" len="med"/>
                    </a:lnB>
                    <a:solidFill>
                      <a:srgbClr val="FFFFFF"/>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−20.5 (−23.7 to −17.3)</a:t>
                      </a:r>
                      <a:endParaRPr lang="en-US" sz="1100"/>
                    </a:p>
                  </a:txBody>
                  <a:tcPr marL="62230" marR="62230" marT="62230" marB="6223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AB041A"/>
                      </a:solidFill>
                      <a:prstDash val="solid"/>
                      <a:round/>
                      <a:headEnd type="none" w="med" len="med"/>
                      <a:tailEnd type="none" w="med" len="med"/>
                    </a:lnT>
                    <a:lnB cmpd="sng" algn="ctr" cap="flat" w="12700">
                      <a:solidFill>
                        <a:srgbClr val="CBCBCB"/>
                      </a:solidFill>
                      <a:prstDash val="solid"/>
                      <a:round/>
                      <a:headEnd type="none" w="med" len="med"/>
                      <a:tailEnd type="none" w="med" len="med"/>
                    </a:lnB>
                    <a:solidFill>
                      <a:srgbClr val="FFFFFF"/>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&lt; 2.2e-16</a:t>
                      </a:r>
                      <a:endParaRPr lang="en-US" sz="1100"/>
                    </a:p>
                  </a:txBody>
                  <a:tcPr marL="62230" marR="62230" marT="62230" marB="6223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AB041A"/>
                      </a:solidFill>
                      <a:prstDash val="solid"/>
                      <a:round/>
                      <a:headEnd type="none" w="med" len="med"/>
                      <a:tailEnd type="none" w="med" len="med"/>
                    </a:lnT>
                    <a:lnB cmpd="sng" algn="ctr" cap="flat" w="12700">
                      <a:solidFill>
                        <a:srgbClr val="CBCBCB"/>
                      </a:solidFill>
                      <a:prstDash val="solid"/>
                      <a:round/>
                      <a:headEnd type="none" w="med" len="med"/>
                      <a:tailEnd type="none" w="med" len="med"/>
                    </a:lnB>
                    <a:solidFill>
                      <a:srgbClr val="FFFFFF"/>
                    </a:solidFill>
                  </a:tcPr>
                </a:tc>
              </a:tr>
              <a:tr h="571482">
                <a:tc>
                  <a:txBody>
                    <a:bodyPr anchor="t" rtlCol="false"/>
                    <a:lstStyle/>
                    <a:p>
                      <a:pPr algn="l">
                        <a:lnSpc>
                          <a:spcPts val="2940"/>
                        </a:lnSpc>
                        <a:defRPr/>
                      </a:pPr>
                      <a:r>
                        <a:rPr lang="en-US" sz="2100">
                          <a:solidFill>
                            <a:srgbClr val="111111"/>
                          </a:solidFill>
                          <a:latin typeface="Open Sans"/>
                          <a:ea typeface="Open Sans"/>
                          <a:cs typeface="Open Sans"/>
                          <a:sym typeface="Open Sans"/>
                        </a:rPr>
                        <a:t>chol</a:t>
                      </a:r>
                      <a:endParaRPr lang="en-US" sz="1100"/>
                    </a:p>
                  </a:txBody>
                  <a:tcPr marL="62230" marR="62230" marT="62230" marB="62230" anchor="t">
                    <a:lnL cmpd="sng" algn="ctr" cap="flat" w="12700">
                      <a:solidFill>
                        <a:srgbClr val="C0C0BF"/>
                      </a:solidFill>
                      <a:prstDash val="solid"/>
                      <a:round/>
                      <a:headEnd type="none" w="med" len="med"/>
                      <a:tailEnd type="none" w="med" len="med"/>
                    </a:lnL>
                    <a:lnR cmpd="sng" algn="ctr" cap="flat" w="12700">
                      <a:solidFill>
                        <a:srgbClr val="CBC090"/>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090"/>
                      </a:solidFill>
                      <a:prstDash val="solid"/>
                      <a:round/>
                      <a:headEnd type="none" w="med" len="med"/>
                      <a:tailEnd type="none" w="med" len="med"/>
                    </a:lnB>
                    <a:solidFill>
                      <a:srgbClr val="FFF0B3"/>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254.0 mg/dl</a:t>
                      </a:r>
                      <a:endParaRPr lang="en-US" sz="1100"/>
                    </a:p>
                  </a:txBody>
                  <a:tcPr marL="62230" marR="62230" marT="62230" marB="62230" anchor="t">
                    <a:lnL cmpd="sng" algn="ctr" cap="flat" w="12700">
                      <a:solidFill>
                        <a:srgbClr val="CBC090"/>
                      </a:solidFill>
                      <a:prstDash val="solid"/>
                      <a:round/>
                      <a:headEnd type="none" w="med" len="med"/>
                      <a:tailEnd type="none" w="med" len="med"/>
                    </a:lnL>
                    <a:lnR cmpd="sng" algn="ctr" cap="flat" w="12700">
                      <a:solidFill>
                        <a:srgbClr val="CBC090"/>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090"/>
                      </a:solidFill>
                      <a:prstDash val="solid"/>
                      <a:round/>
                      <a:headEnd type="none" w="med" len="med"/>
                      <a:tailEnd type="none" w="med" len="med"/>
                    </a:lnB>
                    <a:solidFill>
                      <a:srgbClr val="FFF0B3"/>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240.2 mg/dl</a:t>
                      </a:r>
                      <a:endParaRPr lang="en-US" sz="1100"/>
                    </a:p>
                  </a:txBody>
                  <a:tcPr marL="62230" marR="62230" marT="62230" marB="62230" anchor="t">
                    <a:lnL cmpd="sng" algn="ctr" cap="flat" w="12700">
                      <a:solidFill>
                        <a:srgbClr val="CBC090"/>
                      </a:solidFill>
                      <a:prstDash val="solid"/>
                      <a:round/>
                      <a:headEnd type="none" w="med" len="med"/>
                      <a:tailEnd type="none" w="med" len="med"/>
                    </a:lnL>
                    <a:lnR cmpd="sng" algn="ctr" cap="flat" w="12700">
                      <a:solidFill>
                        <a:srgbClr val="CBC090"/>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090"/>
                      </a:solidFill>
                      <a:prstDash val="solid"/>
                      <a:round/>
                      <a:headEnd type="none" w="med" len="med"/>
                      <a:tailEnd type="none" w="med" len="med"/>
                    </a:lnB>
                    <a:solidFill>
                      <a:srgbClr val="FFF0B3"/>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+13.9 (5.3 to 22.4)</a:t>
                      </a:r>
                      <a:endParaRPr lang="en-US" sz="1100"/>
                    </a:p>
                  </a:txBody>
                  <a:tcPr marL="62230" marR="62230" marT="62230" marB="62230" anchor="t">
                    <a:lnL cmpd="sng" algn="ctr" cap="flat" w="12700">
                      <a:solidFill>
                        <a:srgbClr val="CBC090"/>
                      </a:solidFill>
                      <a:prstDash val="solid"/>
                      <a:round/>
                      <a:headEnd type="none" w="med" len="med"/>
                      <a:tailEnd type="none" w="med" len="med"/>
                    </a:lnL>
                    <a:lnR cmpd="sng" algn="ctr" cap="flat" w="12700">
                      <a:solidFill>
                        <a:srgbClr val="CBC090"/>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090"/>
                      </a:solidFill>
                      <a:prstDash val="solid"/>
                      <a:round/>
                      <a:headEnd type="none" w="med" len="med"/>
                      <a:tailEnd type="none" w="med" len="med"/>
                    </a:lnB>
                    <a:solidFill>
                      <a:srgbClr val="FFF0B3"/>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0.0015</a:t>
                      </a:r>
                      <a:endParaRPr lang="en-US" sz="1100"/>
                    </a:p>
                  </a:txBody>
                  <a:tcPr marL="62230" marR="62230" marT="62230" marB="62230" anchor="t">
                    <a:lnL cmpd="sng" algn="ctr" cap="flat" w="12700">
                      <a:solidFill>
                        <a:srgbClr val="CBC090"/>
                      </a:solidFill>
                      <a:prstDash val="solid"/>
                      <a:round/>
                      <a:headEnd type="none" w="med" len="med"/>
                      <a:tailEnd type="none" w="med" len="med"/>
                    </a:lnL>
                    <a:lnR cmpd="sng" algn="ctr" cap="flat" w="12700">
                      <a:solidFill>
                        <a:srgbClr val="CBC090"/>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090"/>
                      </a:solidFill>
                      <a:prstDash val="solid"/>
                      <a:round/>
                      <a:headEnd type="none" w="med" len="med"/>
                      <a:tailEnd type="none" w="med" len="med"/>
                    </a:lnB>
                    <a:solidFill>
                      <a:srgbClr val="FFF0B3"/>
                    </a:solidFill>
                  </a:tcPr>
                </a:tc>
              </a:tr>
              <a:tr h="584253">
                <a:tc>
                  <a:txBody>
                    <a:bodyPr anchor="t" rtlCol="false"/>
                    <a:lstStyle/>
                    <a:p>
                      <a:pPr algn="l">
                        <a:lnSpc>
                          <a:spcPts val="2940"/>
                        </a:lnSpc>
                        <a:defRPr/>
                      </a:pPr>
                      <a:r>
                        <a:rPr lang="en-US" sz="2100">
                          <a:solidFill>
                            <a:srgbClr val="111111"/>
                          </a:solidFill>
                          <a:latin typeface="Open Sans"/>
                          <a:ea typeface="Open Sans"/>
                          <a:cs typeface="Open Sans"/>
                          <a:sym typeface="Open Sans"/>
                        </a:rPr>
                        <a:t>exang</a:t>
                      </a:r>
                      <a:endParaRPr lang="en-US" sz="1100"/>
                    </a:p>
                  </a:txBody>
                  <a:tcPr marL="62230" marR="62230" marT="62230" marB="62230" anchor="t">
                    <a:lnL cmpd="sng" algn="ctr" cap="flat" w="12700">
                      <a:solidFill>
                        <a:srgbClr val="C0C0BF"/>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090"/>
                      </a:solidFill>
                      <a:prstDash val="solid"/>
                      <a:round/>
                      <a:headEnd type="none" w="med" len="med"/>
                      <a:tailEnd type="none" w="med" len="med"/>
                    </a:lnT>
                    <a:lnB cmpd="sng" algn="ctr" cap="flat" w="12700">
                      <a:solidFill>
                        <a:srgbClr val="CBCBCB"/>
                      </a:solidFill>
                      <a:prstDash val="solid"/>
                      <a:round/>
                      <a:headEnd type="none" w="med" len="med"/>
                      <a:tailEnd type="none" w="med" len="med"/>
                    </a:lnB>
                    <a:solidFill>
                      <a:srgbClr val="FFFFFF"/>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59.5%</a:t>
                      </a:r>
                      <a:endParaRPr lang="en-US" sz="1100"/>
                    </a:p>
                  </a:txBody>
                  <a:tcPr marL="62230" marR="62230" marT="62230" marB="6223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090"/>
                      </a:solidFill>
                      <a:prstDash val="solid"/>
                      <a:round/>
                      <a:headEnd type="none" w="med" len="med"/>
                      <a:tailEnd type="none" w="med" len="med"/>
                    </a:lnT>
                    <a:lnB cmpd="sng" algn="ctr" cap="flat" w="12700">
                      <a:solidFill>
                        <a:srgbClr val="CBCBCB"/>
                      </a:solidFill>
                      <a:prstDash val="solid"/>
                      <a:round/>
                      <a:headEnd type="none" w="med" len="med"/>
                      <a:tailEnd type="none" w="med" len="med"/>
                    </a:lnB>
                    <a:solidFill>
                      <a:srgbClr val="FFFFFF"/>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14.1%</a:t>
                      </a:r>
                      <a:endParaRPr lang="en-US" sz="1100"/>
                    </a:p>
                  </a:txBody>
                  <a:tcPr marL="62230" marR="62230" marT="62230" marB="6223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090"/>
                      </a:solidFill>
                      <a:prstDash val="solid"/>
                      <a:round/>
                      <a:headEnd type="none" w="med" len="med"/>
                      <a:tailEnd type="none" w="med" len="med"/>
                    </a:lnT>
                    <a:lnB cmpd="sng" algn="ctr" cap="flat" w="12700">
                      <a:solidFill>
                        <a:srgbClr val="CBCBCB"/>
                      </a:solidFill>
                      <a:prstDash val="solid"/>
                      <a:round/>
                      <a:headEnd type="none" w="med" len="med"/>
                      <a:tailEnd type="none" w="med" len="med"/>
                    </a:lnB>
                    <a:solidFill>
                      <a:srgbClr val="FFFFFF"/>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+45.4 points (39.8 to 51.0)</a:t>
                      </a:r>
                      <a:endParaRPr lang="en-US" sz="1100"/>
                    </a:p>
                  </a:txBody>
                  <a:tcPr marL="62230" marR="62230" marT="62230" marB="6223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090"/>
                      </a:solidFill>
                      <a:prstDash val="solid"/>
                      <a:round/>
                      <a:headEnd type="none" w="med" len="med"/>
                      <a:tailEnd type="none" w="med" len="med"/>
                    </a:lnT>
                    <a:lnB cmpd="sng" algn="ctr" cap="flat" w="12700">
                      <a:solidFill>
                        <a:srgbClr val="CBCBCB"/>
                      </a:solidFill>
                      <a:prstDash val="solid"/>
                      <a:round/>
                      <a:headEnd type="none" w="med" len="med"/>
                      <a:tailEnd type="none" w="med" len="med"/>
                    </a:lnB>
                    <a:solidFill>
                      <a:srgbClr val="FFFFFF"/>
                    </a:solidFill>
                  </a:tcPr>
                </a:tc>
                <a:tc>
                  <a:txBody>
                    <a:bodyPr anchor="t" rtlCol="false"/>
                    <a:lstStyle/>
                    <a:p>
                      <a:pPr algn="l">
                        <a:lnSpc>
                          <a:spcPts val="2940"/>
                        </a:lnSpc>
                        <a:defRPr/>
                      </a:pPr>
                      <a:r>
                        <a:rPr lang="en-US" sz="2100">
                          <a:solidFill>
                            <a:srgbClr val="111111"/>
                          </a:solidFill>
                          <a:latin typeface="Open Sans"/>
                          <a:ea typeface="Open Sans"/>
                          <a:cs typeface="Open Sans"/>
                          <a:sym typeface="Open Sans"/>
                        </a:rPr>
                        <a:t>&lt;0.001</a:t>
                      </a:r>
                      <a:endParaRPr lang="en-US" sz="1100"/>
                    </a:p>
                  </a:txBody>
                  <a:tcPr marL="62230" marR="62230" marT="62230" marB="6223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090"/>
                      </a:solidFill>
                      <a:prstDash val="solid"/>
                      <a:round/>
                      <a:headEnd type="none" w="med" len="med"/>
                      <a:tailEnd type="none" w="med" len="med"/>
                    </a:lnT>
                    <a:lnB cmpd="sng" algn="ctr" cap="flat" w="12700">
                      <a:solidFill>
                        <a:srgbClr val="CBCBCB"/>
                      </a:solidFill>
                      <a:prstDash val="solid"/>
                      <a:round/>
                      <a:headEnd type="none" w="med" len="med"/>
                      <a:tailEnd type="none" w="med" len="med"/>
                    </a:lnB>
                    <a:solidFill>
                      <a:srgbClr val="FFFFFF"/>
                    </a:solidFill>
                  </a:tcPr>
                </a:tc>
              </a:tr>
            </a:tbl>
          </a:graphicData>
        </a:graphic>
      </p:graphicFrame>
      <p:sp>
        <p:nvSpPr>
          <p:cNvPr name="TextBox 5" id="5"/>
          <p:cNvSpPr txBox="true"/>
          <p:nvPr/>
        </p:nvSpPr>
        <p:spPr>
          <a:xfrm rot="0">
            <a:off x="1219200" y="5322570"/>
            <a:ext cx="15788640" cy="990600"/>
          </a:xfrm>
          <a:prstGeom prst="rect">
            <a:avLst/>
          </a:prstGeom>
        </p:spPr>
        <p:txBody>
          <a:bodyPr anchor="t" rtlCol="false" tIns="0" lIns="0" bIns="0" rIns="0">
            <a:spAutoFit/>
          </a:bodyPr>
          <a:lstStyle/>
          <a:p>
            <a:pPr algn="l">
              <a:lnSpc>
                <a:spcPts val="3960"/>
              </a:lnSpc>
            </a:pPr>
            <a:r>
              <a:rPr lang="en-US" sz="3300">
                <a:solidFill>
                  <a:srgbClr val="111111"/>
                </a:solidFill>
                <a:latin typeface="Open Sans"/>
                <a:ea typeface="Open Sans"/>
                <a:cs typeface="Open Sans"/>
                <a:sym typeface="Open Sans"/>
              </a:rPr>
              <a:t>M</a:t>
            </a:r>
            <a:r>
              <a:rPr lang="en-US" sz="3300">
                <a:solidFill>
                  <a:srgbClr val="111111"/>
                </a:solidFill>
                <a:latin typeface="Open Sans"/>
                <a:ea typeface="Open Sans"/>
                <a:cs typeface="Open Sans"/>
                <a:sym typeface="Open Sans"/>
              </a:rPr>
              <a:t>easured in standard deviations, the heart rate gap (0.86 SD) is over three times the cholesterol gap (0.24 SD).</a:t>
            </a:r>
          </a:p>
        </p:txBody>
      </p:sp>
      <p:sp>
        <p:nvSpPr>
          <p:cNvPr name="TextBox 6" id="6"/>
          <p:cNvSpPr txBox="true"/>
          <p:nvPr/>
        </p:nvSpPr>
        <p:spPr>
          <a:xfrm rot="0">
            <a:off x="1219200" y="6389370"/>
            <a:ext cx="16325088" cy="50292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Bootstrap intervals matched the conventional intervals for all three markers.</a:t>
            </a:r>
          </a:p>
        </p:txBody>
      </p:sp>
      <p:sp>
        <p:nvSpPr>
          <p:cNvPr name="TextBox 7" id="7"/>
          <p:cNvSpPr txBox="true"/>
          <p:nvPr/>
        </p:nvSpPr>
        <p:spPr>
          <a:xfrm rot="0">
            <a:off x="1219200" y="9328785"/>
            <a:ext cx="11772900" cy="386715"/>
          </a:xfrm>
          <a:prstGeom prst="rect">
            <a:avLst/>
          </a:prstGeom>
        </p:spPr>
        <p:txBody>
          <a:bodyPr anchor="t" rtlCol="false" tIns="0" lIns="0" bIns="0" rIns="0">
            <a:spAutoFit/>
          </a:bodyPr>
          <a:lstStyle/>
          <a:p>
            <a:pPr algn="l">
              <a:lnSpc>
                <a:spcPts val="2520"/>
              </a:lnSpc>
            </a:pPr>
            <a:r>
              <a:rPr lang="en-US" sz="1800">
                <a:solidFill>
                  <a:srgbClr val="4D4D4D"/>
                </a:solidFill>
                <a:latin typeface="Open Sans"/>
                <a:ea typeface="Open Sans"/>
                <a:cs typeface="Open Sans"/>
                <a:sym typeface="Open Sans"/>
              </a:rPr>
              <a:t>DATA 602 · Detecting Heart Disease</a:t>
            </a:r>
          </a:p>
        </p:txBody>
      </p:sp>
      <p:sp>
        <p:nvSpPr>
          <p:cNvPr name="TextBox 8" id="8"/>
          <p:cNvSpPr txBox="true"/>
          <p:nvPr/>
        </p:nvSpPr>
        <p:spPr>
          <a:xfrm rot="0">
            <a:off x="15087600" y="9328785"/>
            <a:ext cx="1981200" cy="386715"/>
          </a:xfrm>
          <a:prstGeom prst="rect">
            <a:avLst/>
          </a:prstGeom>
        </p:spPr>
        <p:txBody>
          <a:bodyPr anchor="t" rtlCol="false" tIns="0" lIns="0" bIns="0" rIns="0">
            <a:spAutoFit/>
          </a:bodyPr>
          <a:lstStyle/>
          <a:p>
            <a:pPr algn="r">
              <a:lnSpc>
                <a:spcPts val="2520"/>
              </a:lnSpc>
            </a:pPr>
            <a:r>
              <a:rPr lang="en-US" sz="1800">
                <a:solidFill>
                  <a:srgbClr val="4D4D4D"/>
                </a:solidFill>
                <a:latin typeface="Open Sans"/>
                <a:ea typeface="Open Sans"/>
                <a:cs typeface="Open Sans"/>
                <a:sym typeface="Open Sans"/>
              </a:rPr>
              <a:t>15</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19200" y="1190625"/>
            <a:ext cx="16325088" cy="386715"/>
          </a:xfrm>
          <a:prstGeom prst="rect">
            <a:avLst/>
          </a:prstGeom>
        </p:spPr>
        <p:txBody>
          <a:bodyPr anchor="t" rtlCol="false" tIns="0" lIns="0" bIns="0" rIns="0">
            <a:spAutoFit/>
          </a:bodyPr>
          <a:lstStyle/>
          <a:p>
            <a:pPr algn="l">
              <a:lnSpc>
                <a:spcPts val="2520"/>
              </a:lnSpc>
            </a:pPr>
            <a:r>
              <a:rPr lang="en-US" b="true" sz="1800" spc="149">
                <a:solidFill>
                  <a:srgbClr val="D6001C"/>
                </a:solidFill>
                <a:latin typeface="Open Sans Bold"/>
                <a:ea typeface="Open Sans Bold"/>
                <a:cs typeface="Open Sans Bold"/>
                <a:sym typeface="Open Sans Bold"/>
              </a:rPr>
              <a:t>LIMITATIONS</a:t>
            </a:r>
          </a:p>
        </p:txBody>
      </p:sp>
      <p:sp>
        <p:nvSpPr>
          <p:cNvPr name="TextBox 3" id="3"/>
          <p:cNvSpPr txBox="true"/>
          <p:nvPr/>
        </p:nvSpPr>
        <p:spPr>
          <a:xfrm rot="0">
            <a:off x="1219200" y="1663075"/>
            <a:ext cx="16325088" cy="619125"/>
          </a:xfrm>
          <a:prstGeom prst="rect">
            <a:avLst/>
          </a:prstGeom>
        </p:spPr>
        <p:txBody>
          <a:bodyPr anchor="t" rtlCol="false" tIns="0" lIns="0" bIns="0" rIns="0">
            <a:spAutoFit/>
          </a:bodyPr>
          <a:lstStyle/>
          <a:p>
            <a:pPr algn="l">
              <a:lnSpc>
                <a:spcPts val="4950"/>
              </a:lnSpc>
            </a:pPr>
            <a:r>
              <a:rPr lang="en-US" sz="4500" b="true">
                <a:solidFill>
                  <a:srgbClr val="111111"/>
                </a:solidFill>
                <a:latin typeface="Open Sans Bold"/>
                <a:ea typeface="Open Sans Bold"/>
                <a:cs typeface="Open Sans Bold"/>
                <a:sym typeface="Open Sans Bold"/>
              </a:rPr>
              <a:t>What these results cannot tell us</a:t>
            </a:r>
          </a:p>
        </p:txBody>
      </p:sp>
      <p:sp>
        <p:nvSpPr>
          <p:cNvPr name="AutoShape 4" id="4"/>
          <p:cNvSpPr/>
          <p:nvPr/>
        </p:nvSpPr>
        <p:spPr>
          <a:xfrm rot="4140">
            <a:off x="1209665" y="2629852"/>
            <a:ext cx="15868660" cy="0"/>
          </a:xfrm>
          <a:prstGeom prst="line">
            <a:avLst/>
          </a:prstGeom>
          <a:ln cap="rnd" w="9525">
            <a:solidFill>
              <a:srgbClr val="CFCFCF"/>
            </a:solidFill>
            <a:prstDash val="solid"/>
            <a:headEnd type="none" len="sm" w="sm"/>
            <a:tailEnd type="none" len="sm" w="sm"/>
          </a:ln>
        </p:spPr>
      </p:sp>
      <p:sp>
        <p:nvSpPr>
          <p:cNvPr name="TextBox 5" id="5"/>
          <p:cNvSpPr txBox="true"/>
          <p:nvPr/>
        </p:nvSpPr>
        <p:spPr>
          <a:xfrm rot="0">
            <a:off x="1219200" y="2792740"/>
            <a:ext cx="4120515" cy="929640"/>
          </a:xfrm>
          <a:prstGeom prst="rect">
            <a:avLst/>
          </a:prstGeom>
        </p:spPr>
        <p:txBody>
          <a:bodyPr anchor="t" rtlCol="false" tIns="0" lIns="0" bIns="0" rIns="0">
            <a:spAutoFit/>
          </a:bodyPr>
          <a:lstStyle/>
          <a:p>
            <a:pPr algn="l">
              <a:lnSpc>
                <a:spcPts val="3359"/>
              </a:lnSpc>
            </a:pPr>
            <a:r>
              <a:rPr lang="en-US" sz="2400" b="true">
                <a:solidFill>
                  <a:srgbClr val="D6001C"/>
                </a:solidFill>
                <a:latin typeface="Open Sans Bold"/>
                <a:ea typeface="Open Sans Bold"/>
                <a:cs typeface="Open Sans Bold"/>
                <a:sym typeface="Open Sans Bold"/>
              </a:rPr>
              <a:t>Association only</a:t>
            </a:r>
          </a:p>
        </p:txBody>
      </p:sp>
      <p:sp>
        <p:nvSpPr>
          <p:cNvPr name="TextBox 6" id="6"/>
          <p:cNvSpPr txBox="true"/>
          <p:nvPr/>
        </p:nvSpPr>
        <p:spPr>
          <a:xfrm rot="0">
            <a:off x="5600700" y="2792740"/>
            <a:ext cx="11812143" cy="81534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Observational data show associations, not causation. Age, sex, and inter variable relationship is not accounted for.</a:t>
            </a:r>
          </a:p>
        </p:txBody>
      </p:sp>
      <p:sp>
        <p:nvSpPr>
          <p:cNvPr name="AutoShape 7" id="7"/>
          <p:cNvSpPr/>
          <p:nvPr/>
        </p:nvSpPr>
        <p:spPr>
          <a:xfrm>
            <a:off x="1209671" y="3708092"/>
            <a:ext cx="15868648" cy="19110"/>
          </a:xfrm>
          <a:prstGeom prst="line">
            <a:avLst/>
          </a:prstGeom>
          <a:ln cap="rnd" w="9525">
            <a:solidFill>
              <a:srgbClr val="CFCFCF"/>
            </a:solidFill>
            <a:prstDash val="solid"/>
            <a:headEnd type="none" len="sm" w="sm"/>
            <a:tailEnd type="none" len="sm" w="sm"/>
          </a:ln>
        </p:spPr>
      </p:sp>
      <p:sp>
        <p:nvSpPr>
          <p:cNvPr name="TextBox 8" id="8"/>
          <p:cNvSpPr txBox="true"/>
          <p:nvPr/>
        </p:nvSpPr>
        <p:spPr>
          <a:xfrm rot="0">
            <a:off x="1219200" y="3875753"/>
            <a:ext cx="4120515" cy="929640"/>
          </a:xfrm>
          <a:prstGeom prst="rect">
            <a:avLst/>
          </a:prstGeom>
        </p:spPr>
        <p:txBody>
          <a:bodyPr anchor="t" rtlCol="false" tIns="0" lIns="0" bIns="0" rIns="0">
            <a:spAutoFit/>
          </a:bodyPr>
          <a:lstStyle/>
          <a:p>
            <a:pPr algn="l">
              <a:lnSpc>
                <a:spcPts val="3359"/>
              </a:lnSpc>
            </a:pPr>
            <a:r>
              <a:rPr lang="en-US" sz="2400" b="true">
                <a:solidFill>
                  <a:srgbClr val="D6001C"/>
                </a:solidFill>
                <a:latin typeface="Open Sans Bold"/>
                <a:ea typeface="Open Sans Bold"/>
                <a:cs typeface="Open Sans Bold"/>
                <a:sym typeface="Open Sans Bold"/>
              </a:rPr>
              <a:t>Old, local sample</a:t>
            </a:r>
          </a:p>
        </p:txBody>
      </p:sp>
      <p:sp>
        <p:nvSpPr>
          <p:cNvPr name="TextBox 9" id="9"/>
          <p:cNvSpPr txBox="true"/>
          <p:nvPr/>
        </p:nvSpPr>
        <p:spPr>
          <a:xfrm rot="0">
            <a:off x="5600700" y="3875753"/>
            <a:ext cx="11812143" cy="92964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A convenience sample from four hospitals in the early 1980s. Independence cannot be confirmed, and results may not apply today.</a:t>
            </a:r>
          </a:p>
        </p:txBody>
      </p:sp>
      <p:sp>
        <p:nvSpPr>
          <p:cNvPr name="AutoShape 10" id="10"/>
          <p:cNvSpPr/>
          <p:nvPr/>
        </p:nvSpPr>
        <p:spPr>
          <a:xfrm>
            <a:off x="1209671" y="4794002"/>
            <a:ext cx="15868648" cy="19110"/>
          </a:xfrm>
          <a:prstGeom prst="line">
            <a:avLst/>
          </a:prstGeom>
          <a:ln cap="rnd" w="9525">
            <a:solidFill>
              <a:srgbClr val="CFCFCF"/>
            </a:solidFill>
            <a:prstDash val="solid"/>
            <a:headEnd type="none" len="sm" w="sm"/>
            <a:tailEnd type="none" len="sm" w="sm"/>
          </a:ln>
        </p:spPr>
      </p:sp>
      <p:sp>
        <p:nvSpPr>
          <p:cNvPr name="TextBox 11" id="11"/>
          <p:cNvSpPr txBox="true"/>
          <p:nvPr/>
        </p:nvSpPr>
        <p:spPr>
          <a:xfrm rot="0">
            <a:off x="1219200" y="4961672"/>
            <a:ext cx="4120515" cy="929640"/>
          </a:xfrm>
          <a:prstGeom prst="rect">
            <a:avLst/>
          </a:prstGeom>
        </p:spPr>
        <p:txBody>
          <a:bodyPr anchor="t" rtlCol="false" tIns="0" lIns="0" bIns="0" rIns="0">
            <a:spAutoFit/>
          </a:bodyPr>
          <a:lstStyle/>
          <a:p>
            <a:pPr algn="l">
              <a:lnSpc>
                <a:spcPts val="3359"/>
              </a:lnSpc>
            </a:pPr>
            <a:r>
              <a:rPr lang="en-US" sz="2400" b="true">
                <a:solidFill>
                  <a:srgbClr val="D6001C"/>
                </a:solidFill>
                <a:latin typeface="Open Sans Bold"/>
                <a:ea typeface="Open Sans Bold"/>
                <a:cs typeface="Open Sans Bold"/>
                <a:sym typeface="Open Sans Bold"/>
              </a:rPr>
              <a:t>Severity combined</a:t>
            </a:r>
          </a:p>
        </p:txBody>
      </p:sp>
      <p:sp>
        <p:nvSpPr>
          <p:cNvPr name="TextBox 12" id="12"/>
          <p:cNvSpPr txBox="true"/>
          <p:nvPr/>
        </p:nvSpPr>
        <p:spPr>
          <a:xfrm rot="0">
            <a:off x="5600700" y="4961672"/>
            <a:ext cx="11812143" cy="92964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Disease levels 1 to 4 were merged into one group, which hides differences between mild and severe cases.</a:t>
            </a:r>
          </a:p>
        </p:txBody>
      </p:sp>
      <p:sp>
        <p:nvSpPr>
          <p:cNvPr name="AutoShape 13" id="13"/>
          <p:cNvSpPr/>
          <p:nvPr/>
        </p:nvSpPr>
        <p:spPr>
          <a:xfrm>
            <a:off x="1209671" y="5896075"/>
            <a:ext cx="15868648" cy="19110"/>
          </a:xfrm>
          <a:prstGeom prst="line">
            <a:avLst/>
          </a:prstGeom>
          <a:ln cap="rnd" w="9525">
            <a:solidFill>
              <a:srgbClr val="CFCFCF"/>
            </a:solidFill>
            <a:prstDash val="solid"/>
            <a:headEnd type="none" len="sm" w="sm"/>
            <a:tailEnd type="none" len="sm" w="sm"/>
          </a:ln>
        </p:spPr>
      </p:sp>
      <p:sp>
        <p:nvSpPr>
          <p:cNvPr name="AutoShape 14" id="14"/>
          <p:cNvSpPr/>
          <p:nvPr/>
        </p:nvSpPr>
        <p:spPr>
          <a:xfrm>
            <a:off x="1190621" y="7078062"/>
            <a:ext cx="15868648" cy="19110"/>
          </a:xfrm>
          <a:prstGeom prst="line">
            <a:avLst/>
          </a:prstGeom>
          <a:ln cap="rnd" w="9525">
            <a:solidFill>
              <a:srgbClr val="CFCFCF"/>
            </a:solidFill>
            <a:prstDash val="solid"/>
            <a:headEnd type="none" len="sm" w="sm"/>
            <a:tailEnd type="none" len="sm" w="sm"/>
          </a:ln>
        </p:spPr>
      </p:sp>
      <p:sp>
        <p:nvSpPr>
          <p:cNvPr name="TextBox 15" id="15"/>
          <p:cNvSpPr txBox="true"/>
          <p:nvPr/>
        </p:nvSpPr>
        <p:spPr>
          <a:xfrm rot="0">
            <a:off x="1219200" y="6063745"/>
            <a:ext cx="4120515" cy="929640"/>
          </a:xfrm>
          <a:prstGeom prst="rect">
            <a:avLst/>
          </a:prstGeom>
        </p:spPr>
        <p:txBody>
          <a:bodyPr anchor="t" rtlCol="false" tIns="0" lIns="0" bIns="0" rIns="0">
            <a:spAutoFit/>
          </a:bodyPr>
          <a:lstStyle/>
          <a:p>
            <a:pPr algn="l">
              <a:lnSpc>
                <a:spcPts val="3359"/>
              </a:lnSpc>
            </a:pPr>
            <a:r>
              <a:rPr lang="en-US" sz="2400" b="true">
                <a:solidFill>
                  <a:srgbClr val="D6001C"/>
                </a:solidFill>
                <a:latin typeface="Open Sans Bold"/>
                <a:ea typeface="Open Sans Bold"/>
                <a:cs typeface="Open Sans Bold"/>
                <a:sym typeface="Open Sans Bold"/>
              </a:rPr>
              <a:t>Missing data</a:t>
            </a:r>
          </a:p>
        </p:txBody>
      </p:sp>
      <p:sp>
        <p:nvSpPr>
          <p:cNvPr name="TextBox 16" id="16"/>
          <p:cNvSpPr txBox="true"/>
          <p:nvPr/>
        </p:nvSpPr>
        <p:spPr>
          <a:xfrm rot="0">
            <a:off x="5600700" y="6063745"/>
            <a:ext cx="11812143" cy="815340"/>
          </a:xfrm>
          <a:prstGeom prst="rect">
            <a:avLst/>
          </a:prstGeom>
        </p:spPr>
        <p:txBody>
          <a:bodyPr anchor="t" rtlCol="false" tIns="0" lIns="0" bIns="0" rIns="0">
            <a:spAutoFit/>
          </a:bodyPr>
          <a:lstStyle/>
          <a:p>
            <a:pPr algn="l">
              <a:lnSpc>
                <a:spcPts val="3359"/>
              </a:lnSpc>
            </a:pPr>
            <a:r>
              <a:rPr lang="en-US" sz="2400">
                <a:solidFill>
                  <a:srgbClr val="333333"/>
                </a:solidFill>
                <a:latin typeface="Open Sans"/>
                <a:ea typeface="Open Sans"/>
                <a:cs typeface="Open Sans"/>
                <a:sym typeface="Open Sans"/>
              </a:rPr>
              <a:t>Zeros and missing values were excluded. This could bias results if they were not missing at random.</a:t>
            </a:r>
          </a:p>
        </p:txBody>
      </p:sp>
      <p:sp>
        <p:nvSpPr>
          <p:cNvPr name="TextBox 17" id="17"/>
          <p:cNvSpPr txBox="true"/>
          <p:nvPr/>
        </p:nvSpPr>
        <p:spPr>
          <a:xfrm rot="0">
            <a:off x="1219200" y="9328785"/>
            <a:ext cx="11772900" cy="386715"/>
          </a:xfrm>
          <a:prstGeom prst="rect">
            <a:avLst/>
          </a:prstGeom>
        </p:spPr>
        <p:txBody>
          <a:bodyPr anchor="t" rtlCol="false" tIns="0" lIns="0" bIns="0" rIns="0">
            <a:spAutoFit/>
          </a:bodyPr>
          <a:lstStyle/>
          <a:p>
            <a:pPr algn="l">
              <a:lnSpc>
                <a:spcPts val="2520"/>
              </a:lnSpc>
            </a:pPr>
            <a:r>
              <a:rPr lang="en-US" sz="1800">
                <a:solidFill>
                  <a:srgbClr val="4D4D4D"/>
                </a:solidFill>
                <a:latin typeface="Open Sans"/>
                <a:ea typeface="Open Sans"/>
                <a:cs typeface="Open Sans"/>
                <a:sym typeface="Open Sans"/>
              </a:rPr>
              <a:t>DATA 602 · Detecting Heart Disease</a:t>
            </a:r>
          </a:p>
        </p:txBody>
      </p:sp>
      <p:sp>
        <p:nvSpPr>
          <p:cNvPr name="TextBox 18" id="18"/>
          <p:cNvSpPr txBox="true"/>
          <p:nvPr/>
        </p:nvSpPr>
        <p:spPr>
          <a:xfrm rot="0">
            <a:off x="15087600" y="9328785"/>
            <a:ext cx="1981200" cy="386715"/>
          </a:xfrm>
          <a:prstGeom prst="rect">
            <a:avLst/>
          </a:prstGeom>
        </p:spPr>
        <p:txBody>
          <a:bodyPr anchor="t" rtlCol="false" tIns="0" lIns="0" bIns="0" rIns="0">
            <a:spAutoFit/>
          </a:bodyPr>
          <a:lstStyle/>
          <a:p>
            <a:pPr algn="r">
              <a:lnSpc>
                <a:spcPts val="2520"/>
              </a:lnSpc>
            </a:pPr>
            <a:r>
              <a:rPr lang="en-US" sz="1800">
                <a:solidFill>
                  <a:srgbClr val="4D4D4D"/>
                </a:solidFill>
                <a:latin typeface="Open Sans"/>
                <a:ea typeface="Open Sans"/>
                <a:cs typeface="Open Sans"/>
                <a:sym typeface="Open Sa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19200" y="2573299"/>
            <a:ext cx="7312312" cy="6403484"/>
          </a:xfrm>
          <a:custGeom>
            <a:avLst/>
            <a:gdLst/>
            <a:ahLst/>
            <a:cxnLst/>
            <a:rect r="r" b="b" t="t" l="l"/>
            <a:pathLst>
              <a:path h="6403484" w="7312312">
                <a:moveTo>
                  <a:pt x="0" y="0"/>
                </a:moveTo>
                <a:lnTo>
                  <a:pt x="7312312" y="0"/>
                </a:lnTo>
                <a:lnTo>
                  <a:pt x="7312312" y="6403484"/>
                </a:lnTo>
                <a:lnTo>
                  <a:pt x="0" y="6403484"/>
                </a:lnTo>
                <a:lnTo>
                  <a:pt x="0" y="0"/>
                </a:lnTo>
                <a:close/>
              </a:path>
            </a:pathLst>
          </a:custGeom>
          <a:blipFill>
            <a:blip r:embed="rId3"/>
            <a:stretch>
              <a:fillRect l="0" t="0" r="0" b="0"/>
            </a:stretch>
          </a:blipFill>
        </p:spPr>
      </p:sp>
      <p:sp>
        <p:nvSpPr>
          <p:cNvPr name="TextBox 3" id="3"/>
          <p:cNvSpPr txBox="true"/>
          <p:nvPr/>
        </p:nvSpPr>
        <p:spPr>
          <a:xfrm rot="0">
            <a:off x="1219200" y="9328785"/>
            <a:ext cx="11772900" cy="386715"/>
          </a:xfrm>
          <a:prstGeom prst="rect">
            <a:avLst/>
          </a:prstGeom>
        </p:spPr>
        <p:txBody>
          <a:bodyPr anchor="t" rtlCol="false" tIns="0" lIns="0" bIns="0" rIns="0">
            <a:spAutoFit/>
          </a:bodyPr>
          <a:lstStyle/>
          <a:p>
            <a:pPr algn="l">
              <a:lnSpc>
                <a:spcPts val="2520"/>
              </a:lnSpc>
            </a:pPr>
            <a:r>
              <a:rPr lang="en-US" sz="1800">
                <a:solidFill>
                  <a:srgbClr val="4D4D4D"/>
                </a:solidFill>
                <a:latin typeface="Open Sans"/>
                <a:ea typeface="Open Sans"/>
                <a:cs typeface="Open Sans"/>
                <a:sym typeface="Open Sans"/>
              </a:rPr>
              <a:t>DATA 602 · Detecting Heart Disease</a:t>
            </a:r>
          </a:p>
        </p:txBody>
      </p:sp>
      <p:sp>
        <p:nvSpPr>
          <p:cNvPr name="TextBox 4" id="4"/>
          <p:cNvSpPr txBox="true"/>
          <p:nvPr/>
        </p:nvSpPr>
        <p:spPr>
          <a:xfrm rot="0">
            <a:off x="1219200" y="9024620"/>
            <a:ext cx="11772900" cy="233680"/>
          </a:xfrm>
          <a:prstGeom prst="rect">
            <a:avLst/>
          </a:prstGeom>
        </p:spPr>
        <p:txBody>
          <a:bodyPr anchor="t" rtlCol="false" tIns="0" lIns="0" bIns="0" rIns="0">
            <a:spAutoFit/>
          </a:bodyPr>
          <a:lstStyle/>
          <a:p>
            <a:pPr algn="l">
              <a:lnSpc>
                <a:spcPts val="1820"/>
              </a:lnSpc>
            </a:pPr>
            <a:r>
              <a:rPr lang="en-US" sz="1300">
                <a:solidFill>
                  <a:srgbClr val="4D4D4D"/>
                </a:solidFill>
                <a:latin typeface="Open Sans"/>
                <a:ea typeface="Open Sans"/>
                <a:cs typeface="Open Sans"/>
                <a:sym typeface="Open Sans"/>
              </a:rPr>
              <a:t>*The correlation table was generated for DATA 601</a:t>
            </a:r>
          </a:p>
        </p:txBody>
      </p:sp>
      <p:sp>
        <p:nvSpPr>
          <p:cNvPr name="TextBox 5" id="5"/>
          <p:cNvSpPr txBox="true"/>
          <p:nvPr/>
        </p:nvSpPr>
        <p:spPr>
          <a:xfrm rot="0">
            <a:off x="15087600" y="9328785"/>
            <a:ext cx="1981200" cy="297180"/>
          </a:xfrm>
          <a:prstGeom prst="rect">
            <a:avLst/>
          </a:prstGeom>
        </p:spPr>
        <p:txBody>
          <a:bodyPr anchor="t" rtlCol="false" tIns="0" lIns="0" bIns="0" rIns="0">
            <a:spAutoFit/>
          </a:bodyPr>
          <a:lstStyle/>
          <a:p>
            <a:pPr algn="r">
              <a:lnSpc>
                <a:spcPts val="2520"/>
              </a:lnSpc>
            </a:pPr>
            <a:r>
              <a:rPr lang="en-US" sz="1800">
                <a:solidFill>
                  <a:srgbClr val="4D4D4D"/>
                </a:solidFill>
                <a:latin typeface="Open Sans"/>
                <a:ea typeface="Open Sans"/>
                <a:cs typeface="Open Sans"/>
                <a:sym typeface="Open Sans"/>
              </a:rPr>
              <a:t>17</a:t>
            </a:r>
          </a:p>
        </p:txBody>
      </p:sp>
      <p:sp>
        <p:nvSpPr>
          <p:cNvPr name="TextBox 6" id="6"/>
          <p:cNvSpPr txBox="true"/>
          <p:nvPr/>
        </p:nvSpPr>
        <p:spPr>
          <a:xfrm rot="0">
            <a:off x="1219200" y="1663075"/>
            <a:ext cx="5487353" cy="638175"/>
          </a:xfrm>
          <a:prstGeom prst="rect">
            <a:avLst/>
          </a:prstGeom>
        </p:spPr>
        <p:txBody>
          <a:bodyPr anchor="t" rtlCol="false" tIns="0" lIns="0" bIns="0" rIns="0">
            <a:spAutoFit/>
          </a:bodyPr>
          <a:lstStyle/>
          <a:p>
            <a:pPr algn="l">
              <a:lnSpc>
                <a:spcPts val="4950"/>
              </a:lnSpc>
            </a:pPr>
            <a:r>
              <a:rPr lang="en-US" sz="4500" b="true">
                <a:solidFill>
                  <a:srgbClr val="111111"/>
                </a:solidFill>
                <a:latin typeface="Open Sans Bold"/>
                <a:ea typeface="Open Sans Bold"/>
                <a:cs typeface="Open Sans Bold"/>
                <a:sym typeface="Open Sans Bold"/>
              </a:rPr>
              <a:t>A Correlation Table</a:t>
            </a:r>
          </a:p>
        </p:txBody>
      </p:sp>
      <p:sp>
        <p:nvSpPr>
          <p:cNvPr name="TextBox 7" id="7"/>
          <p:cNvSpPr txBox="true"/>
          <p:nvPr/>
        </p:nvSpPr>
        <p:spPr>
          <a:xfrm rot="0">
            <a:off x="9144000" y="3878580"/>
            <a:ext cx="8343827" cy="249174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333333"/>
                </a:solidFill>
                <a:latin typeface="Open Sans"/>
                <a:ea typeface="Open Sans"/>
                <a:cs typeface="Open Sans"/>
                <a:sym typeface="Open Sans"/>
              </a:rPr>
              <a:t>Clinical mark</a:t>
            </a:r>
            <a:r>
              <a:rPr lang="en-US" sz="2400">
                <a:solidFill>
                  <a:srgbClr val="333333"/>
                </a:solidFill>
                <a:latin typeface="Open Sans"/>
                <a:ea typeface="Open Sans"/>
                <a:cs typeface="Open Sans"/>
                <a:sym typeface="Open Sans"/>
              </a:rPr>
              <a:t>ers rarely act alone: age, heart rate, and exercise symptoms overlap, so one can partly explain another.</a:t>
            </a:r>
          </a:p>
          <a:p>
            <a:pPr algn="l" marL="518160" indent="-259080" lvl="1">
              <a:lnSpc>
                <a:spcPts val="3359"/>
              </a:lnSpc>
              <a:buFont typeface="Arial"/>
              <a:buChar char="•"/>
            </a:pPr>
            <a:r>
              <a:rPr lang="en-US" sz="2400">
                <a:solidFill>
                  <a:srgbClr val="333333"/>
                </a:solidFill>
                <a:latin typeface="Open Sans"/>
                <a:ea typeface="Open Sans"/>
                <a:cs typeface="Open Sans"/>
                <a:sym typeface="Open Sans"/>
              </a:rPr>
              <a:t>A marker can look strong because it travels with another factor, so each result is one piece of a connected picture, not independent proof.</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FFCD00"/>
        </a:solidFill>
      </p:bgPr>
    </p:bg>
    <p:spTree>
      <p:nvGrpSpPr>
        <p:cNvPr id="1" name=""/>
        <p:cNvGrpSpPr/>
        <p:nvPr/>
      </p:nvGrpSpPr>
      <p:grpSpPr>
        <a:xfrm>
          <a:off x="0" y="0"/>
          <a:ext cx="0" cy="0"/>
          <a:chOff x="0" y="0"/>
          <a:chExt cx="0" cy="0"/>
        </a:xfrm>
      </p:grpSpPr>
      <p:sp>
        <p:nvSpPr>
          <p:cNvPr name="TextBox 2" id="2"/>
          <p:cNvSpPr txBox="true"/>
          <p:nvPr/>
        </p:nvSpPr>
        <p:spPr>
          <a:xfrm rot="0">
            <a:off x="1219200" y="1181100"/>
            <a:ext cx="16325088" cy="502920"/>
          </a:xfrm>
          <a:prstGeom prst="rect">
            <a:avLst/>
          </a:prstGeom>
        </p:spPr>
        <p:txBody>
          <a:bodyPr anchor="t" rtlCol="false" tIns="0" lIns="0" bIns="0" rIns="0">
            <a:spAutoFit/>
          </a:bodyPr>
          <a:lstStyle/>
          <a:p>
            <a:pPr algn="l">
              <a:lnSpc>
                <a:spcPts val="3359"/>
              </a:lnSpc>
            </a:pPr>
            <a:r>
              <a:rPr lang="en-US" b="true" sz="2400" spc="150">
                <a:solidFill>
                  <a:srgbClr val="111111"/>
                </a:solidFill>
                <a:latin typeface="Open Sans Bold"/>
                <a:ea typeface="Open Sans Bold"/>
                <a:cs typeface="Open Sans Bold"/>
                <a:sym typeface="Open Sans Bold"/>
              </a:rPr>
              <a:t>CONCLUSION</a:t>
            </a:r>
          </a:p>
        </p:txBody>
      </p:sp>
      <p:sp>
        <p:nvSpPr>
          <p:cNvPr name="TextBox 3" id="3"/>
          <p:cNvSpPr txBox="true"/>
          <p:nvPr/>
        </p:nvSpPr>
        <p:spPr>
          <a:xfrm rot="0">
            <a:off x="1219200" y="1845955"/>
            <a:ext cx="16325088" cy="1247775"/>
          </a:xfrm>
          <a:prstGeom prst="rect">
            <a:avLst/>
          </a:prstGeom>
        </p:spPr>
        <p:txBody>
          <a:bodyPr anchor="t" rtlCol="false" tIns="0" lIns="0" bIns="0" rIns="0">
            <a:spAutoFit/>
          </a:bodyPr>
          <a:lstStyle/>
          <a:p>
            <a:pPr algn="l">
              <a:lnSpc>
                <a:spcPts val="4950"/>
              </a:lnSpc>
            </a:pPr>
            <a:r>
              <a:rPr lang="en-US" sz="4500" b="true">
                <a:solidFill>
                  <a:srgbClr val="111111"/>
                </a:solidFill>
                <a:latin typeface="Open Sans Bold"/>
                <a:ea typeface="Open Sans Bold"/>
                <a:cs typeface="Open Sans Bold"/>
                <a:sym typeface="Open Sans Bold"/>
              </a:rPr>
              <a:t>Exercise stress responses separate the groups more than cholesterol</a:t>
            </a:r>
          </a:p>
        </p:txBody>
      </p:sp>
      <p:sp>
        <p:nvSpPr>
          <p:cNvPr name="AutoShape 4" id="4"/>
          <p:cNvSpPr/>
          <p:nvPr/>
        </p:nvSpPr>
        <p:spPr>
          <a:xfrm rot="26100">
            <a:off x="1200074" y="4081110"/>
            <a:ext cx="5016608" cy="0"/>
          </a:xfrm>
          <a:prstGeom prst="line">
            <a:avLst/>
          </a:prstGeom>
          <a:ln cap="rnd" w="19050">
            <a:solidFill>
              <a:srgbClr val="111111"/>
            </a:solidFill>
            <a:prstDash val="solid"/>
            <a:headEnd type="none" len="sm" w="sm"/>
            <a:tailEnd type="none" len="sm" w="sm"/>
          </a:ln>
        </p:spPr>
      </p:sp>
      <p:sp>
        <p:nvSpPr>
          <p:cNvPr name="TextBox 5" id="5"/>
          <p:cNvSpPr txBox="true"/>
          <p:nvPr/>
        </p:nvSpPr>
        <p:spPr>
          <a:xfrm rot="0">
            <a:off x="1219200" y="4385910"/>
            <a:ext cx="5127708" cy="744855"/>
          </a:xfrm>
          <a:prstGeom prst="rect">
            <a:avLst/>
          </a:prstGeom>
        </p:spPr>
        <p:txBody>
          <a:bodyPr anchor="t" rtlCol="false" tIns="0" lIns="0" bIns="0" rIns="0">
            <a:spAutoFit/>
          </a:bodyPr>
          <a:lstStyle/>
          <a:p>
            <a:pPr algn="l">
              <a:lnSpc>
                <a:spcPts val="5940"/>
              </a:lnSpc>
            </a:pPr>
            <a:r>
              <a:rPr lang="en-US" sz="5400" b="true">
                <a:solidFill>
                  <a:srgbClr val="111111"/>
                </a:solidFill>
                <a:latin typeface="Open Sans Bold"/>
                <a:ea typeface="Open Sans Bold"/>
                <a:cs typeface="Open Sans Bold"/>
                <a:sym typeface="Open Sans Bold"/>
              </a:rPr>
              <a:t>−20.5 bpm</a:t>
            </a:r>
          </a:p>
        </p:txBody>
      </p:sp>
      <p:sp>
        <p:nvSpPr>
          <p:cNvPr name="TextBox 6" id="6"/>
          <p:cNvSpPr txBox="true"/>
          <p:nvPr/>
        </p:nvSpPr>
        <p:spPr>
          <a:xfrm rot="0">
            <a:off x="1219200" y="5130756"/>
            <a:ext cx="5127708" cy="929640"/>
          </a:xfrm>
          <a:prstGeom prst="rect">
            <a:avLst/>
          </a:prstGeom>
        </p:spPr>
        <p:txBody>
          <a:bodyPr anchor="t" rtlCol="false" tIns="0" lIns="0" bIns="0" rIns="0">
            <a:spAutoFit/>
          </a:bodyPr>
          <a:lstStyle/>
          <a:p>
            <a:pPr algn="l">
              <a:lnSpc>
                <a:spcPts val="3359"/>
              </a:lnSpc>
            </a:pPr>
            <a:r>
              <a:rPr lang="en-US" sz="2400">
                <a:solidFill>
                  <a:srgbClr val="111111"/>
                </a:solidFill>
                <a:latin typeface="Open Sans"/>
                <a:ea typeface="Open Sans"/>
                <a:cs typeface="Open Sans"/>
                <a:sym typeface="Open Sans"/>
              </a:rPr>
              <a:t>Lower average peak heart rate with heart disease</a:t>
            </a:r>
          </a:p>
        </p:txBody>
      </p:sp>
      <p:sp>
        <p:nvSpPr>
          <p:cNvPr name="AutoShape 7" id="7"/>
          <p:cNvSpPr/>
          <p:nvPr/>
        </p:nvSpPr>
        <p:spPr>
          <a:xfrm rot="26100">
            <a:off x="6635639" y="4081110"/>
            <a:ext cx="5016722" cy="0"/>
          </a:xfrm>
          <a:prstGeom prst="line">
            <a:avLst/>
          </a:prstGeom>
          <a:ln cap="rnd" w="19050">
            <a:solidFill>
              <a:srgbClr val="111111"/>
            </a:solidFill>
            <a:prstDash val="solid"/>
            <a:headEnd type="none" len="sm" w="sm"/>
            <a:tailEnd type="none" len="sm" w="sm"/>
          </a:ln>
        </p:spPr>
      </p:sp>
      <p:sp>
        <p:nvSpPr>
          <p:cNvPr name="TextBox 8" id="8"/>
          <p:cNvSpPr txBox="true"/>
          <p:nvPr/>
        </p:nvSpPr>
        <p:spPr>
          <a:xfrm rot="0">
            <a:off x="6654765" y="4385910"/>
            <a:ext cx="5127831" cy="744855"/>
          </a:xfrm>
          <a:prstGeom prst="rect">
            <a:avLst/>
          </a:prstGeom>
        </p:spPr>
        <p:txBody>
          <a:bodyPr anchor="t" rtlCol="false" tIns="0" lIns="0" bIns="0" rIns="0">
            <a:spAutoFit/>
          </a:bodyPr>
          <a:lstStyle/>
          <a:p>
            <a:pPr algn="l">
              <a:lnSpc>
                <a:spcPts val="5940"/>
              </a:lnSpc>
            </a:pPr>
            <a:r>
              <a:rPr lang="en-US" sz="5400" b="true">
                <a:solidFill>
                  <a:srgbClr val="111111"/>
                </a:solidFill>
                <a:latin typeface="Open Sans Bold"/>
                <a:ea typeface="Open Sans Bold"/>
                <a:cs typeface="Open Sans Bold"/>
                <a:sym typeface="Open Sans Bold"/>
              </a:rPr>
              <a:t>4.2×</a:t>
            </a:r>
          </a:p>
        </p:txBody>
      </p:sp>
      <p:sp>
        <p:nvSpPr>
          <p:cNvPr name="TextBox 9" id="9"/>
          <p:cNvSpPr txBox="true"/>
          <p:nvPr/>
        </p:nvSpPr>
        <p:spPr>
          <a:xfrm rot="0">
            <a:off x="6654765" y="5130756"/>
            <a:ext cx="5127831" cy="502920"/>
          </a:xfrm>
          <a:prstGeom prst="rect">
            <a:avLst/>
          </a:prstGeom>
        </p:spPr>
        <p:txBody>
          <a:bodyPr anchor="t" rtlCol="false" tIns="0" lIns="0" bIns="0" rIns="0">
            <a:spAutoFit/>
          </a:bodyPr>
          <a:lstStyle/>
          <a:p>
            <a:pPr algn="l">
              <a:lnSpc>
                <a:spcPts val="3359"/>
              </a:lnSpc>
            </a:pPr>
            <a:r>
              <a:rPr lang="en-US" sz="2400">
                <a:solidFill>
                  <a:srgbClr val="111111"/>
                </a:solidFill>
                <a:latin typeface="Open Sans"/>
                <a:ea typeface="Open Sans"/>
                <a:cs typeface="Open Sans"/>
                <a:sym typeface="Open Sans"/>
              </a:rPr>
              <a:t>Angina rate: 59.5% versus 14.1%</a:t>
            </a:r>
          </a:p>
        </p:txBody>
      </p:sp>
      <p:sp>
        <p:nvSpPr>
          <p:cNvPr name="AutoShape 10" id="10"/>
          <p:cNvSpPr/>
          <p:nvPr/>
        </p:nvSpPr>
        <p:spPr>
          <a:xfrm rot="26100">
            <a:off x="12071318" y="4081110"/>
            <a:ext cx="5016608" cy="0"/>
          </a:xfrm>
          <a:prstGeom prst="line">
            <a:avLst/>
          </a:prstGeom>
          <a:ln cap="rnd" w="19050">
            <a:solidFill>
              <a:srgbClr val="111111"/>
            </a:solidFill>
            <a:prstDash val="solid"/>
            <a:headEnd type="none" len="sm" w="sm"/>
            <a:tailEnd type="none" len="sm" w="sm"/>
          </a:ln>
        </p:spPr>
      </p:sp>
      <p:sp>
        <p:nvSpPr>
          <p:cNvPr name="TextBox 11" id="11"/>
          <p:cNvSpPr txBox="true"/>
          <p:nvPr/>
        </p:nvSpPr>
        <p:spPr>
          <a:xfrm rot="0">
            <a:off x="12090435" y="4385910"/>
            <a:ext cx="5127708" cy="744855"/>
          </a:xfrm>
          <a:prstGeom prst="rect">
            <a:avLst/>
          </a:prstGeom>
        </p:spPr>
        <p:txBody>
          <a:bodyPr anchor="t" rtlCol="false" tIns="0" lIns="0" bIns="0" rIns="0">
            <a:spAutoFit/>
          </a:bodyPr>
          <a:lstStyle/>
          <a:p>
            <a:pPr algn="l">
              <a:lnSpc>
                <a:spcPts val="5940"/>
              </a:lnSpc>
            </a:pPr>
            <a:r>
              <a:rPr lang="en-US" sz="5400" b="true">
                <a:solidFill>
                  <a:srgbClr val="111111"/>
                </a:solidFill>
                <a:latin typeface="Open Sans Bold"/>
                <a:ea typeface="Open Sans Bold"/>
                <a:cs typeface="Open Sans Bold"/>
                <a:sym typeface="Open Sans Bold"/>
              </a:rPr>
              <a:t>+13.9 mg/dl</a:t>
            </a:r>
          </a:p>
        </p:txBody>
      </p:sp>
      <p:sp>
        <p:nvSpPr>
          <p:cNvPr name="TextBox 12" id="12"/>
          <p:cNvSpPr txBox="true"/>
          <p:nvPr/>
        </p:nvSpPr>
        <p:spPr>
          <a:xfrm rot="0">
            <a:off x="12090435" y="5130756"/>
            <a:ext cx="5127708" cy="929640"/>
          </a:xfrm>
          <a:prstGeom prst="rect">
            <a:avLst/>
          </a:prstGeom>
        </p:spPr>
        <p:txBody>
          <a:bodyPr anchor="t" rtlCol="false" tIns="0" lIns="0" bIns="0" rIns="0">
            <a:spAutoFit/>
          </a:bodyPr>
          <a:lstStyle/>
          <a:p>
            <a:pPr algn="l">
              <a:lnSpc>
                <a:spcPts val="3359"/>
              </a:lnSpc>
            </a:pPr>
            <a:r>
              <a:rPr lang="en-US" sz="2400">
                <a:solidFill>
                  <a:srgbClr val="111111"/>
                </a:solidFill>
                <a:latin typeface="Open Sans"/>
                <a:ea typeface="Open Sans"/>
                <a:cs typeface="Open Sans"/>
                <a:sym typeface="Open Sans"/>
              </a:rPr>
              <a:t>Cholesterol difference, with heavy overlap</a:t>
            </a:r>
          </a:p>
        </p:txBody>
      </p:sp>
      <p:sp>
        <p:nvSpPr>
          <p:cNvPr name="TextBox 13" id="13"/>
          <p:cNvSpPr txBox="true"/>
          <p:nvPr/>
        </p:nvSpPr>
        <p:spPr>
          <a:xfrm rot="0">
            <a:off x="1219200" y="7000275"/>
            <a:ext cx="16325088" cy="502920"/>
          </a:xfrm>
          <a:prstGeom prst="rect">
            <a:avLst/>
          </a:prstGeom>
        </p:spPr>
        <p:txBody>
          <a:bodyPr anchor="t" rtlCol="false" tIns="0" lIns="0" bIns="0" rIns="0">
            <a:spAutoFit/>
          </a:bodyPr>
          <a:lstStyle/>
          <a:p>
            <a:pPr algn="l">
              <a:lnSpc>
                <a:spcPts val="3359"/>
              </a:lnSpc>
            </a:pPr>
            <a:r>
              <a:rPr lang="en-US" sz="2400">
                <a:solidFill>
                  <a:srgbClr val="111111"/>
                </a:solidFill>
                <a:latin typeface="Open Sans"/>
                <a:ea typeface="Open Sans"/>
                <a:cs typeface="Open Sans"/>
                <a:sym typeface="Open Sans"/>
              </a:rPr>
              <a:t>In practice, exercise stress tests give immediate, high-contrast indicators for triaging cardiovascular care.</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FFCD00"/>
        </a:solidFill>
      </p:bgPr>
    </p:bg>
    <p:spTree>
      <p:nvGrpSpPr>
        <p:cNvPr id="1" name=""/>
        <p:cNvGrpSpPr/>
        <p:nvPr/>
      </p:nvGrpSpPr>
      <p:grpSpPr>
        <a:xfrm>
          <a:off x="0" y="0"/>
          <a:ext cx="0" cy="0"/>
          <a:chOff x="0" y="0"/>
          <a:chExt cx="0" cy="0"/>
        </a:xfrm>
      </p:grpSpPr>
      <p:sp>
        <p:nvSpPr>
          <p:cNvPr name="TextBox 2" id="2"/>
          <p:cNvSpPr txBox="true"/>
          <p:nvPr/>
        </p:nvSpPr>
        <p:spPr>
          <a:xfrm rot="0">
            <a:off x="981456" y="3056891"/>
            <a:ext cx="16325088" cy="4249419"/>
          </a:xfrm>
          <a:prstGeom prst="rect">
            <a:avLst/>
          </a:prstGeom>
        </p:spPr>
        <p:txBody>
          <a:bodyPr anchor="t" rtlCol="false" tIns="0" lIns="0" bIns="0" rIns="0">
            <a:spAutoFit/>
          </a:bodyPr>
          <a:lstStyle/>
          <a:p>
            <a:pPr algn="ctr">
              <a:lnSpc>
                <a:spcPts val="8359"/>
              </a:lnSpc>
            </a:pPr>
            <a:r>
              <a:rPr lang="en-US" sz="7599" b="true">
                <a:solidFill>
                  <a:srgbClr val="111111"/>
                </a:solidFill>
                <a:latin typeface="Open Sans Bold"/>
                <a:ea typeface="Open Sans Bold"/>
                <a:cs typeface="Open Sans Bold"/>
                <a:sym typeface="Open Sans Bold"/>
              </a:rPr>
              <a:t>Thank you!</a:t>
            </a:r>
          </a:p>
          <a:p>
            <a:pPr algn="ctr">
              <a:lnSpc>
                <a:spcPts val="8359"/>
              </a:lnSpc>
            </a:pPr>
          </a:p>
          <a:p>
            <a:pPr algn="ctr">
              <a:lnSpc>
                <a:spcPts val="8359"/>
              </a:lnSpc>
            </a:pPr>
            <a:r>
              <a:rPr lang="en-US" sz="7599" b="true">
                <a:solidFill>
                  <a:srgbClr val="111111"/>
                </a:solidFill>
                <a:latin typeface="Open Sans Bold"/>
                <a:ea typeface="Open Sans Bold"/>
                <a:cs typeface="Open Sans Bold"/>
                <a:sym typeface="Open Sans Bold"/>
              </a:rPr>
              <a:t>Questions?</a:t>
            </a:r>
          </a:p>
          <a:p>
            <a:pPr algn="l">
              <a:lnSpc>
                <a:spcPts val="835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DAHXEssjbpo</dc:identifier>
  <dcterms:modified xsi:type="dcterms:W3CDTF">2011-08-01T06:04:30Z</dcterms:modified>
  <cp:revision>1</cp:revision>
  <dc:title>Data 602-Detecting Heart Disease</dc:title>
</cp:coreProperties>
</file>